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0400f118b74743" /><Relationship Type="http://schemas.openxmlformats.org/officeDocument/2006/relationships/extended-properties" Target="/docProps/app.xml" Id="Rb3c358f636834ba3" /><Relationship Type="http://schemas.openxmlformats.org/officeDocument/2006/relationships/officeDocument" Target="/ppt/presentation.xml" Id="Ra59ede4cc1724f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cd74067bd34b8a"/>
  </p:sldMasterIdLst>
  <p:notesMasterIdLst>
    <p:notesMasterId xmlns:r="http://schemas.openxmlformats.org/officeDocument/2006/relationships" r:id="Rd9ad8d604d5d4397"/>
  </p:notesMasterIdLst>
  <p:sldIdLst>
    <p:sldId xmlns:r="http://schemas.openxmlformats.org/officeDocument/2006/relationships" id="256" r:id="R1437d461e1194e4d"/>
    <p:sldId xmlns:r="http://schemas.openxmlformats.org/officeDocument/2006/relationships" id="257" r:id="R4fae73effd8d45e6"/>
    <p:sldId xmlns:r="http://schemas.openxmlformats.org/officeDocument/2006/relationships" id="258" r:id="R784b64752e2044f5"/>
    <p:sldId xmlns:r="http://schemas.openxmlformats.org/officeDocument/2006/relationships" id="259" r:id="R62bfa4a7539545b4"/>
    <p:sldId xmlns:r="http://schemas.openxmlformats.org/officeDocument/2006/relationships" id="260" r:id="R82983d6b93ad4ae0"/>
    <p:sldId xmlns:r="http://schemas.openxmlformats.org/officeDocument/2006/relationships" id="261" r:id="R6a27bab0e1d84192"/>
    <p:sldId xmlns:r="http://schemas.openxmlformats.org/officeDocument/2006/relationships" id="262" r:id="Rb9bea0734cde4c78"/>
    <p:sldId xmlns:r="http://schemas.openxmlformats.org/officeDocument/2006/relationships" id="263" r:id="Ra1d8f38bc3974f83"/>
    <p:sldId xmlns:r="http://schemas.openxmlformats.org/officeDocument/2006/relationships" id="264" r:id="R4f5880c3b55e4ec3"/>
    <p:sldId xmlns:r="http://schemas.openxmlformats.org/officeDocument/2006/relationships" id="265" r:id="Ra1cd729ffbaa42b0"/>
    <p:sldId xmlns:r="http://schemas.openxmlformats.org/officeDocument/2006/relationships" id="266" r:id="Rd18627a5a4b74556"/>
    <p:sldId xmlns:r="http://schemas.openxmlformats.org/officeDocument/2006/relationships" id="267" r:id="R640d6541a39d4cef"/>
    <p:sldId xmlns:r="http://schemas.openxmlformats.org/officeDocument/2006/relationships" id="268" r:id="R4fdeeac22fce49e6"/>
    <p:sldId xmlns:r="http://schemas.openxmlformats.org/officeDocument/2006/relationships" id="269" r:id="Rc0f84e18c6c84878"/>
    <p:sldId xmlns:r="http://schemas.openxmlformats.org/officeDocument/2006/relationships" id="270" r:id="R1982a3358dc043ce"/>
    <p:sldId xmlns:r="http://schemas.openxmlformats.org/officeDocument/2006/relationships" id="271" r:id="R61bb5f7b1c1441ab"/>
    <p:sldId xmlns:r="http://schemas.openxmlformats.org/officeDocument/2006/relationships" id="272" r:id="Rbd2c78666f6645cf"/>
    <p:sldId xmlns:r="http://schemas.openxmlformats.org/officeDocument/2006/relationships" id="273" r:id="Ra44d72d410054d15"/>
    <p:sldId xmlns:r="http://schemas.openxmlformats.org/officeDocument/2006/relationships" id="274" r:id="Re656c79693f845b7"/>
    <p:sldId xmlns:r="http://schemas.openxmlformats.org/officeDocument/2006/relationships" id="275" r:id="Rc9628a4e63444b2b"/>
    <p:sldId xmlns:r="http://schemas.openxmlformats.org/officeDocument/2006/relationships" id="276" r:id="R5feed368828449d5"/>
    <p:sldId xmlns:r="http://schemas.openxmlformats.org/officeDocument/2006/relationships" id="277" r:id="R686faabbfc554feb"/>
    <p:sldId xmlns:r="http://schemas.openxmlformats.org/officeDocument/2006/relationships" id="278" r:id="Rf887f2f043594423"/>
    <p:sldId xmlns:r="http://schemas.openxmlformats.org/officeDocument/2006/relationships" id="279" r:id="R991e718dc83f4127"/>
    <p:sldId xmlns:r="http://schemas.openxmlformats.org/officeDocument/2006/relationships" id="280" r:id="Rafc6a21541464723"/>
    <p:sldId xmlns:r="http://schemas.openxmlformats.org/officeDocument/2006/relationships" id="281" r:id="R5b80d5d7b543480d"/>
    <p:sldId xmlns:r="http://schemas.openxmlformats.org/officeDocument/2006/relationships" id="282" r:id="R8dcf929d34f64d2b"/>
    <p:sldId xmlns:r="http://schemas.openxmlformats.org/officeDocument/2006/relationships" id="283" r:id="Rc3d20d28b46d475b"/>
    <p:sldId xmlns:r="http://schemas.openxmlformats.org/officeDocument/2006/relationships" id="284" r:id="R744ffe583ca34312"/>
    <p:sldId xmlns:r="http://schemas.openxmlformats.org/officeDocument/2006/relationships" id="285" r:id="R104247ffa8534bbf"/>
    <p:sldId xmlns:r="http://schemas.openxmlformats.org/officeDocument/2006/relationships" id="286" r:id="R04ef00c679694e27"/>
    <p:sldId xmlns:r="http://schemas.openxmlformats.org/officeDocument/2006/relationships" id="287" r:id="R671cf70baf864e6d"/>
    <p:sldId xmlns:r="http://schemas.openxmlformats.org/officeDocument/2006/relationships" id="288" r:id="R9000144174294895"/>
    <p:sldId xmlns:r="http://schemas.openxmlformats.org/officeDocument/2006/relationships" id="289" r:id="Rf837e78d90764d6a"/>
    <p:sldId xmlns:r="http://schemas.openxmlformats.org/officeDocument/2006/relationships" id="290" r:id="R3500db6119074177"/>
    <p:sldId xmlns:r="http://schemas.openxmlformats.org/officeDocument/2006/relationships" id="291" r:id="Rc4b7aa7ba89c45be"/>
    <p:sldId xmlns:r="http://schemas.openxmlformats.org/officeDocument/2006/relationships" id="292" r:id="Rac77216998e14661"/>
    <p:sldId xmlns:r="http://schemas.openxmlformats.org/officeDocument/2006/relationships" id="293" r:id="R66c3069080b644b2"/>
    <p:sldId xmlns:r="http://schemas.openxmlformats.org/officeDocument/2006/relationships" id="294" r:id="Rdf1bbf2940e647b1"/>
    <p:sldId xmlns:r="http://schemas.openxmlformats.org/officeDocument/2006/relationships" id="295" r:id="R3f90af17ef8a4cb2"/>
    <p:sldId xmlns:r="http://schemas.openxmlformats.org/officeDocument/2006/relationships" id="296" r:id="R2ad6026887c94b4a"/>
    <p:sldId xmlns:r="http://schemas.openxmlformats.org/officeDocument/2006/relationships" id="297" r:id="R35b9dd2197d6474f"/>
    <p:sldId xmlns:r="http://schemas.openxmlformats.org/officeDocument/2006/relationships" id="298" r:id="R19d440aae7704845"/>
    <p:sldId xmlns:r="http://schemas.openxmlformats.org/officeDocument/2006/relationships" id="299" r:id="R9a2f58a52fef4abf"/>
    <p:sldId xmlns:r="http://schemas.openxmlformats.org/officeDocument/2006/relationships" id="300" r:id="Rb847e859a9e54053"/>
    <p:sldId xmlns:r="http://schemas.openxmlformats.org/officeDocument/2006/relationships" id="301" r:id="R2d21fa6527b84d34"/>
    <p:sldId xmlns:r="http://schemas.openxmlformats.org/officeDocument/2006/relationships" id="302" r:id="Raac02929ca9740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0f0404b73b4eeb" /><Relationship Type="http://schemas.openxmlformats.org/officeDocument/2006/relationships/slideMaster" Target="/ppt/slideMasters/slideMaster1.xml" Id="R41cd74067bd34b8a" /><Relationship Type="http://schemas.openxmlformats.org/officeDocument/2006/relationships/notesMaster" Target="/ppt/notesMasters/notesMaster1.xml" Id="Rd9ad8d604d5d4397" /><Relationship Type="http://schemas.openxmlformats.org/officeDocument/2006/relationships/presProps" Target="/ppt/presProps.xml" Id="R79365c3654ce425f" /><Relationship Type="http://schemas.openxmlformats.org/officeDocument/2006/relationships/tableStyles" Target="/ppt/tableStyles.xml" Id="Rab54eabaa526491c" /><Relationship Type="http://schemas.openxmlformats.org/officeDocument/2006/relationships/slide" Target="/ppt/slides/slide1.xml" Id="R1437d461e1194e4d" /><Relationship Type="http://schemas.openxmlformats.org/officeDocument/2006/relationships/slide" Target="/ppt/slides/slide2.xml" Id="R4fae73effd8d45e6" /><Relationship Type="http://schemas.openxmlformats.org/officeDocument/2006/relationships/slide" Target="/ppt/slides/slide3.xml" Id="R784b64752e2044f5" /><Relationship Type="http://schemas.openxmlformats.org/officeDocument/2006/relationships/slide" Target="/ppt/slides/slide4.xml" Id="R62bfa4a7539545b4" /><Relationship Type="http://schemas.openxmlformats.org/officeDocument/2006/relationships/slide" Target="/ppt/slides/slide5.xml" Id="R82983d6b93ad4ae0" /><Relationship Type="http://schemas.openxmlformats.org/officeDocument/2006/relationships/slide" Target="/ppt/slides/slide6.xml" Id="R6a27bab0e1d84192" /><Relationship Type="http://schemas.openxmlformats.org/officeDocument/2006/relationships/slide" Target="/ppt/slides/slide7.xml" Id="Rb9bea0734cde4c78" /><Relationship Type="http://schemas.openxmlformats.org/officeDocument/2006/relationships/slide" Target="/ppt/slides/slide8.xml" Id="Ra1d8f38bc3974f83" /><Relationship Type="http://schemas.openxmlformats.org/officeDocument/2006/relationships/slide" Target="/ppt/slides/slide9.xml" Id="R4f5880c3b55e4ec3" /><Relationship Type="http://schemas.openxmlformats.org/officeDocument/2006/relationships/slide" Target="/ppt/slides/slide10.xml" Id="Ra1cd729ffbaa42b0" /><Relationship Type="http://schemas.openxmlformats.org/officeDocument/2006/relationships/slide" Target="/ppt/slides/slide11.xml" Id="Rd18627a5a4b74556" /><Relationship Type="http://schemas.openxmlformats.org/officeDocument/2006/relationships/slide" Target="/ppt/slides/slide12.xml" Id="R640d6541a39d4cef" /><Relationship Type="http://schemas.openxmlformats.org/officeDocument/2006/relationships/slide" Target="/ppt/slides/slide13.xml" Id="R4fdeeac22fce49e6" /><Relationship Type="http://schemas.openxmlformats.org/officeDocument/2006/relationships/slide" Target="/ppt/slides/slide14.xml" Id="Rc0f84e18c6c84878" /><Relationship Type="http://schemas.openxmlformats.org/officeDocument/2006/relationships/slide" Target="/ppt/slides/slide15.xml" Id="R1982a3358dc043ce" /><Relationship Type="http://schemas.openxmlformats.org/officeDocument/2006/relationships/slide" Target="/ppt/slides/slide16.xml" Id="R61bb5f7b1c1441ab" /><Relationship Type="http://schemas.openxmlformats.org/officeDocument/2006/relationships/slide" Target="/ppt/slides/slide17.xml" Id="Rbd2c78666f6645cf" /><Relationship Type="http://schemas.openxmlformats.org/officeDocument/2006/relationships/slide" Target="/ppt/slides/slide18.xml" Id="Ra44d72d410054d15" /><Relationship Type="http://schemas.openxmlformats.org/officeDocument/2006/relationships/slide" Target="/ppt/slides/slide19.xml" Id="Re656c79693f845b7" /><Relationship Type="http://schemas.openxmlformats.org/officeDocument/2006/relationships/slide" Target="/ppt/slides/slide20.xml" Id="Rc9628a4e63444b2b" /><Relationship Type="http://schemas.openxmlformats.org/officeDocument/2006/relationships/slide" Target="/ppt/slides/slide21.xml" Id="R5feed368828449d5" /><Relationship Type="http://schemas.openxmlformats.org/officeDocument/2006/relationships/slide" Target="/ppt/slides/slide22.xml" Id="R686faabbfc554feb" /><Relationship Type="http://schemas.openxmlformats.org/officeDocument/2006/relationships/slide" Target="/ppt/slides/slide23.xml" Id="Rf887f2f043594423" /><Relationship Type="http://schemas.openxmlformats.org/officeDocument/2006/relationships/slide" Target="/ppt/slides/slide24.xml" Id="R991e718dc83f4127" /><Relationship Type="http://schemas.openxmlformats.org/officeDocument/2006/relationships/slide" Target="/ppt/slides/slide25.xml" Id="Rafc6a21541464723" /><Relationship Type="http://schemas.openxmlformats.org/officeDocument/2006/relationships/slide" Target="/ppt/slides/slide26.xml" Id="R5b80d5d7b543480d" /><Relationship Type="http://schemas.openxmlformats.org/officeDocument/2006/relationships/slide" Target="/ppt/slides/slide27.xml" Id="R8dcf929d34f64d2b" /><Relationship Type="http://schemas.openxmlformats.org/officeDocument/2006/relationships/slide" Target="/ppt/slides/slide28.xml" Id="Rc3d20d28b46d475b" /><Relationship Type="http://schemas.openxmlformats.org/officeDocument/2006/relationships/slide" Target="/ppt/slides/slide29.xml" Id="R744ffe583ca34312" /><Relationship Type="http://schemas.openxmlformats.org/officeDocument/2006/relationships/slide" Target="/ppt/slides/slide30.xml" Id="R104247ffa8534bbf" /><Relationship Type="http://schemas.openxmlformats.org/officeDocument/2006/relationships/slide" Target="/ppt/slides/slide31.xml" Id="R04ef00c679694e27" /><Relationship Type="http://schemas.openxmlformats.org/officeDocument/2006/relationships/slide" Target="/ppt/slides/slide32.xml" Id="R671cf70baf864e6d" /><Relationship Type="http://schemas.openxmlformats.org/officeDocument/2006/relationships/slide" Target="/ppt/slides/slide33.xml" Id="R9000144174294895" /><Relationship Type="http://schemas.openxmlformats.org/officeDocument/2006/relationships/slide" Target="/ppt/slides/slide34.xml" Id="Rf837e78d90764d6a" /><Relationship Type="http://schemas.openxmlformats.org/officeDocument/2006/relationships/slide" Target="/ppt/slides/slide35.xml" Id="R3500db6119074177" /><Relationship Type="http://schemas.openxmlformats.org/officeDocument/2006/relationships/slide" Target="/ppt/slides/slide36.xml" Id="Rc4b7aa7ba89c45be" /><Relationship Type="http://schemas.openxmlformats.org/officeDocument/2006/relationships/slide" Target="/ppt/slides/slide37.xml" Id="Rac77216998e14661" /><Relationship Type="http://schemas.openxmlformats.org/officeDocument/2006/relationships/slide" Target="/ppt/slides/slide38.xml" Id="R66c3069080b644b2" /><Relationship Type="http://schemas.openxmlformats.org/officeDocument/2006/relationships/slide" Target="/ppt/slides/slide39.xml" Id="Rdf1bbf2940e647b1" /><Relationship Type="http://schemas.openxmlformats.org/officeDocument/2006/relationships/slide" Target="/ppt/slides/slide40.xml" Id="R3f90af17ef8a4cb2" /><Relationship Type="http://schemas.openxmlformats.org/officeDocument/2006/relationships/slide" Target="/ppt/slides/slide41.xml" Id="R2ad6026887c94b4a" /><Relationship Type="http://schemas.openxmlformats.org/officeDocument/2006/relationships/slide" Target="/ppt/slides/slide42.xml" Id="R35b9dd2197d6474f" /><Relationship Type="http://schemas.openxmlformats.org/officeDocument/2006/relationships/slide" Target="/ppt/slides/slide43.xml" Id="R19d440aae7704845" /><Relationship Type="http://schemas.openxmlformats.org/officeDocument/2006/relationships/slide" Target="/ppt/slides/slide44.xml" Id="R9a2f58a52fef4abf" /><Relationship Type="http://schemas.openxmlformats.org/officeDocument/2006/relationships/slide" Target="/ppt/slides/slide45.xml" Id="Rb847e859a9e54053" /><Relationship Type="http://schemas.openxmlformats.org/officeDocument/2006/relationships/slide" Target="/ppt/slides/slide46.xml" Id="R2d21fa6527b84d34" /><Relationship Type="http://schemas.openxmlformats.org/officeDocument/2006/relationships/slide" Target="/ppt/slides/slide47.xml" Id="Raac02929ca9740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79528dd21f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5e599b921b4243" /><Relationship Type="http://schemas.openxmlformats.org/officeDocument/2006/relationships/notesMaster" Target="/ppt/notesMasters/notesMaster1.xml" Id="R5852f7421a40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cfb02288824a3b" /><Relationship Type="http://schemas.openxmlformats.org/officeDocument/2006/relationships/notesMaster" Target="/ppt/notesMasters/notesMaster1.xml" Id="R4af752b044e64e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e631fec7274751" /><Relationship Type="http://schemas.openxmlformats.org/officeDocument/2006/relationships/notesMaster" Target="/ppt/notesMasters/notesMaster1.xml" Id="Rea40f63f5ee949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f966cc589d4a5d" /><Relationship Type="http://schemas.openxmlformats.org/officeDocument/2006/relationships/notesMaster" Target="/ppt/notesMasters/notesMaster1.xml" Id="R30b7674b437d42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117b075c44fb7" /><Relationship Type="http://schemas.openxmlformats.org/officeDocument/2006/relationships/notesMaster" Target="/ppt/notesMasters/notesMaster1.xml" Id="Re3768277ed4a4c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35dec658f4b43" /><Relationship Type="http://schemas.openxmlformats.org/officeDocument/2006/relationships/notesMaster" Target="/ppt/notesMasters/notesMaster1.xml" Id="R636f020198dc40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12f76ce7254d86" /><Relationship Type="http://schemas.openxmlformats.org/officeDocument/2006/relationships/notesMaster" Target="/ppt/notesMasters/notesMaster1.xml" Id="R1f0ae41cfa5e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3aaa8fffc2426f" /><Relationship Type="http://schemas.openxmlformats.org/officeDocument/2006/relationships/notesMaster" Target="/ppt/notesMasters/notesMaster1.xml" Id="Rf12e6984eff04d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023863cb7b74fca" /><Relationship Type="http://schemas.openxmlformats.org/officeDocument/2006/relationships/notesMaster" Target="/ppt/notesMasters/notesMaster1.xml" Id="Rf664f80702b747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e5c109071b4324" /><Relationship Type="http://schemas.openxmlformats.org/officeDocument/2006/relationships/notesMaster" Target="/ppt/notesMasters/notesMaster1.xml" Id="R11347d24dfdf40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6c701a6548448e" /><Relationship Type="http://schemas.openxmlformats.org/officeDocument/2006/relationships/notesMaster" Target="/ppt/notesMasters/notesMaster1.xml" Id="Rd5df8e71cd454b6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1828fc7d3f41ad" /><Relationship Type="http://schemas.openxmlformats.org/officeDocument/2006/relationships/notesMaster" Target="/ppt/notesMasters/notesMaster1.xml" Id="R5b33cbe1ed1f4d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764c1f3ff046cc" /><Relationship Type="http://schemas.openxmlformats.org/officeDocument/2006/relationships/notesMaster" Target="/ppt/notesMasters/notesMaster1.xml" Id="R797a780e16cd455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7aa52efac84103" /><Relationship Type="http://schemas.openxmlformats.org/officeDocument/2006/relationships/notesMaster" Target="/ppt/notesMasters/notesMaster1.xml" Id="R1437920cd29b47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17249d328248c7" /><Relationship Type="http://schemas.openxmlformats.org/officeDocument/2006/relationships/notesMaster" Target="/ppt/notesMasters/notesMaster1.xml" Id="Raa716459dff041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452d8e76714e27" /><Relationship Type="http://schemas.openxmlformats.org/officeDocument/2006/relationships/notesMaster" Target="/ppt/notesMasters/notesMaster1.xml" Id="R2bbc87ee17134e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574a47e60d48a0" /><Relationship Type="http://schemas.openxmlformats.org/officeDocument/2006/relationships/notesMaster" Target="/ppt/notesMasters/notesMaster1.xml" Id="Rcf37176061b940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5e4f5b39a94c13" /><Relationship Type="http://schemas.openxmlformats.org/officeDocument/2006/relationships/notesMaster" Target="/ppt/notesMasters/notesMaster1.xml" Id="Rf0867be4872c416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a181f645adf4592" /><Relationship Type="http://schemas.openxmlformats.org/officeDocument/2006/relationships/notesMaster" Target="/ppt/notesMasters/notesMaster1.xml" Id="R012d4949bae24c1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70f4fb7ffe4cb7" /><Relationship Type="http://schemas.openxmlformats.org/officeDocument/2006/relationships/notesMaster" Target="/ppt/notesMasters/notesMaster1.xml" Id="R28bdf54998bd4c6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e245f226354b56" /><Relationship Type="http://schemas.openxmlformats.org/officeDocument/2006/relationships/notesMaster" Target="/ppt/notesMasters/notesMaster1.xml" Id="Ree8b57f96b6044e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fd19a3cc7b44d4d" /><Relationship Type="http://schemas.openxmlformats.org/officeDocument/2006/relationships/notesMaster" Target="/ppt/notesMasters/notesMaster1.xml" Id="R20e76a4b566843b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72aed5b7f5a407a" /><Relationship Type="http://schemas.openxmlformats.org/officeDocument/2006/relationships/notesMaster" Target="/ppt/notesMasters/notesMaster1.xml" Id="Rbdce0d51ac3b45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c86539d0c384e56" /><Relationship Type="http://schemas.openxmlformats.org/officeDocument/2006/relationships/notesMaster" Target="/ppt/notesMasters/notesMaster1.xml" Id="R9781de619c86438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57cf3a7e5f749c2" /><Relationship Type="http://schemas.openxmlformats.org/officeDocument/2006/relationships/notesMaster" Target="/ppt/notesMasters/notesMaster1.xml" Id="R84ff9c1634f544a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b2360b8e4b4b57" /><Relationship Type="http://schemas.openxmlformats.org/officeDocument/2006/relationships/notesMaster" Target="/ppt/notesMasters/notesMaster1.xml" Id="R0ccd33487b11486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c0fa46c11d407f" /><Relationship Type="http://schemas.openxmlformats.org/officeDocument/2006/relationships/notesMaster" Target="/ppt/notesMasters/notesMaster1.xml" Id="R170344bd957e45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13accd2b6b244a4" /><Relationship Type="http://schemas.openxmlformats.org/officeDocument/2006/relationships/notesMaster" Target="/ppt/notesMasters/notesMaster1.xml" Id="R88a97d3c05f7423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6ea4f95f4f34fb5" /><Relationship Type="http://schemas.openxmlformats.org/officeDocument/2006/relationships/notesMaster" Target="/ppt/notesMasters/notesMaster1.xml" Id="Rc1966388fff3469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ca93c2c15c44625" /><Relationship Type="http://schemas.openxmlformats.org/officeDocument/2006/relationships/notesMaster" Target="/ppt/notesMasters/notesMaster1.xml" Id="R1b3cd4b3430440a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8cb3204f0554b74" /><Relationship Type="http://schemas.openxmlformats.org/officeDocument/2006/relationships/notesMaster" Target="/ppt/notesMasters/notesMaster1.xml" Id="R42dbf8d19e614e6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db4b0a590dc43cc" /><Relationship Type="http://schemas.openxmlformats.org/officeDocument/2006/relationships/notesMaster" Target="/ppt/notesMasters/notesMaster1.xml" Id="R79cb34b74c4947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08b06d2bf54401" /><Relationship Type="http://schemas.openxmlformats.org/officeDocument/2006/relationships/notesMaster" Target="/ppt/notesMasters/notesMaster1.xml" Id="R6828eea721894a5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b03f5644ca44c87" /><Relationship Type="http://schemas.openxmlformats.org/officeDocument/2006/relationships/notesMaster" Target="/ppt/notesMasters/notesMaster1.xml" Id="Ra2c7c1465a07428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e8893263d524323" /><Relationship Type="http://schemas.openxmlformats.org/officeDocument/2006/relationships/notesMaster" Target="/ppt/notesMasters/notesMaster1.xml" Id="Rde0637f262144b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d23dbf6c4b04ef4" /><Relationship Type="http://schemas.openxmlformats.org/officeDocument/2006/relationships/notesMaster" Target="/ppt/notesMasters/notesMaster1.xml" Id="Read005d43fb7450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e3b08f1295e48bd" /><Relationship Type="http://schemas.openxmlformats.org/officeDocument/2006/relationships/notesMaster" Target="/ppt/notesMasters/notesMaster1.xml" Id="R49be2c1050554f9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f02fe4a55464ec2" /><Relationship Type="http://schemas.openxmlformats.org/officeDocument/2006/relationships/notesMaster" Target="/ppt/notesMasters/notesMaster1.xml" Id="R81b48614a1be464b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6d6db28897d4e0a" /><Relationship Type="http://schemas.openxmlformats.org/officeDocument/2006/relationships/notesMaster" Target="/ppt/notesMasters/notesMaster1.xml" Id="R427e1b19caa54de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bf4f6c1bd404c8f" /><Relationship Type="http://schemas.openxmlformats.org/officeDocument/2006/relationships/notesMaster" Target="/ppt/notesMasters/notesMaster1.xml" Id="R88cded902ee3499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9632c56773f4882" /><Relationship Type="http://schemas.openxmlformats.org/officeDocument/2006/relationships/notesMaster" Target="/ppt/notesMasters/notesMaster1.xml" Id="R46b8acfc40b54f1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49f772c8ff34d38" /><Relationship Type="http://schemas.openxmlformats.org/officeDocument/2006/relationships/notesMaster" Target="/ppt/notesMasters/notesMaster1.xml" Id="Re780953566ac4d9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ec7cbd8f4ba45e2" /><Relationship Type="http://schemas.openxmlformats.org/officeDocument/2006/relationships/notesMaster" Target="/ppt/notesMasters/notesMaster1.xml" Id="Red5d03ad25ba4f4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d83513e606e4aba" /><Relationship Type="http://schemas.openxmlformats.org/officeDocument/2006/relationships/notesMaster" Target="/ppt/notesMasters/notesMaster1.xml" Id="R415765664f2c47f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2ed5a939106a4215" /><Relationship Type="http://schemas.openxmlformats.org/officeDocument/2006/relationships/notesMaster" Target="/ppt/notesMasters/notesMaster1.xml" Id="R9a3fd2f2cc6d40a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138f98c540b4793" /><Relationship Type="http://schemas.openxmlformats.org/officeDocument/2006/relationships/notesMaster" Target="/ppt/notesMasters/notesMaster1.xml" Id="R1fdae570a16844d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49bbe899d324b19" /><Relationship Type="http://schemas.openxmlformats.org/officeDocument/2006/relationships/notesMaster" Target="/ppt/notesMasters/notesMaster1.xml" Id="R7e95a44c196048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 面向多种 Agent 提供用户侧授权入口。当前已验证 Codex 与 MYA CLI，其他 Agent 需实现适配并接入受控资源接口。真实调查 Agent 属于规划。封面为概念插图。讲解首先展示绑定和远程授权，再解释独立决策分支及业务价值。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远程表示无需与执行端同处一地，当前公网 HTTPS Demo 已实测。可信表示满足已实现的签名、绑定与授权检查，不代表网页代码经过可信执行证明或用户真实生物识别。基础密码学已实现。多轮调查伙伴仍是规划。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先通过已知可信路径核验见证指纹。本次部署通过 SSH 核验。二维码用于加入邀请，不能独立证明真实组织身份。演示邀请来自 Oracle 服务，截图完成后已撤销临时关系，当前真实用户绑定不受影响。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此页展示同一次隔离配对的两端实图。SAS 由同一 RelationshipCredential 内容哈希得到，不是短信验证码，也不是首次加入所用的八位配对码。双端人类核对降低错误配对风险。它不等于真实身份认证或对恶意端点的安全证明。截图内绑定已撤销。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RelationshipCredential 由手机用户密钥签署，Agent 另签 PairConfirmation。见证服务验证关系和确认后签署 BindingWitnessCredential。初始核验见证公钥十分关键。见证证明材料一致，不证明法定身份、企业雇佣关系或 Agent 代码可信。图为临时测试关系，已撤销。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消息使用 JWS 签名与 JWE 加密。已实现 P-256、ES256、ECDH-ES+A256KW 和 A256GCM，不能因采用标准算法就宣称协议已获独立安全认证。TLS 与应用消息加密的信任边界不同。当前同一 Oracle 服务仍能更新手机网页代码，因此 E2EE 不能抵抗恶意前端更新。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仓库状态文档的Oracle与真实Codex未验证条目早于本次部署，不能直接当当前状态。本次会话已经完成Oracle HTTPS部署、Codex Skill安装、真实手机配对和修改审批。自动规则在浏览器自动测试中验证，不能说用户已经亲自启用。多绑定数据结构和列表界面存在，但没有在本次用同一真人手机验证多个Agent并发治理。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见证、转发和资源服务同部署在Oracle，角色逻辑分离不等于运营信任域已经分离。手机私钥在浏览器，服务端仍能更新网页代码。未来企业集成可以让资源端由企业持有，审批侧由用户或授权组织控制。关系、授权、执行证据需要分别验证，任何一种都不能替代另外两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真人测试先有一份成本报告被用户直接批准，因此执行了含合成成本的报告。这说明系统确实服从有效用户决定，而不是按预设演示剧情拦截。第二次请求5fdd1ce3收到changes_requested，新请求bd4ba443关联原请求，获得批准后执行，执行编号1f2e3e8b-32d5-48d5-b092-a1300a717bac，独立查询结果为delivered_to_demo_inbox。右图为同部署下临时身份自动测试截图，并非用户手机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只允许受限结构化进度模板自动批准，不能对任意自由文本依赖模型判断后放行。批准次数与实际执行次数分别记录。规则修改采用暂停旧规则后新建委托，授权范围不能静默扩大。用户清除浏览器数据会失去身份和历史，恢复能力尚未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可旁路是系统边界属性，需要最小权限、凭据隔离、统一执行入口及审计覆盖，不能由Skill文字约定实现。当前Codex有其他工具和SSH能力，MYA仅控制演示资源API。NIST指出带外身份验证不天然具备抗钓鱼能力，这里用来提醒概念边界，不把本Demo等同于其认证合规方案。手机批准真实但仍可能批准错误对象，因此必须把精确内容清楚呈现给用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用户观点最有潜力的产品化方向。主会话需要保留执行所需上下文，不必承载所有私人顾虑、调查过程和长篇讨论。不能承诺完全不影响主上下文，因为用户约束和授权结果必须回传。应把request_id、supersedes_request_id、证据引用、反建议和最终选择组织成小型决策空间。聊天同意不应自动当成签署，草案也不能被当成正式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Agent可能共享模型偏差、同一错误数据源，也可能同时遭受提示注入。审批侧应默认只读取必要数据，高风险结论引用权威或经核验的独立来源，不从可疑消息里的链接或电话号码自行证明其真实性。反建议可以提升决策质量和效率，但必须通过对照试验评估误批、漏报与用户耗时，不能先假定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人绑定多个Agent并不等于多个人共同审批。后者还需要审批路由、角色解析、代理与分权、顺序及并行规则。用户侧可承载个人关系和组织角色，但应显示当前以哪个身份决策。需要防止供应商Agent冒充企业内部Agent，以及一个旧关系被错误继承到新设备或人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C验证可证明凭证来源和完整性，不能自动证明所有声明真实，也不意味着法律身份已核验。可信度取决于签发方资格、验证者的信任策略、撤销状态和持有者绑定。部署可以先对接现有企业SSO及角色目录，无需把DID设为所有客户的前置条件。恢复、最小披露与跨场景可关联性也需要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Automate等系统已经有顺序审批能力。MYA可提供Agent动作规范化、用户侧决策伙伴和授权证据，不必重做每一种审批引擎。真正难点是批准条件与资源权限一致、审批版本更改后重新签署、跨系统取消与撤销、失败后查结果以及审计留存政策。审批API可用并不代表业务执行端可以接受新的授权凭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批伙伴关注当前生产状态和变更风险，与执行Agent的实现目标不同。它可以查监控和变更平台，但不应拿到任意生产写权限。试点适合从报告外发、发布审批和有限变更开始，避免一开始纳入所有shell命令。关键验证指标包括越界执行拦截、回滚可验证性和审批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场景是产品假设，不构成银行合规结论。审批Agent只能在授权数据范围内查账和查制度，不应让模型决定法定或机构规定的最终审批权。银行运营与被服务企业客户的授权属于不同责任主体，应分别保留身份与审计记录。先在非资金执行的工单复核场景试点更易观察价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级审批伙伴应服务于各自的授权主体。服务提供方、银行和企业客户的利益未必一致，不能把提供服务的Agent当成客户的独立审阅者。敏感合同与内部预算应最小披露，跨组织只共享必要证明和结论。流程需要区分同意商业事项、企业付款授权以及银行支付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反诈辅助设计，不是经过验证的拦诈产品。模型无法凭不充分信息判定全部真伪。需要独立官方渠道、可靠风险数据、可解释证据、清晰的取消与求助入口，并避免向未获授权的家人或第三方泄露信息。普通购买和敏感信息分享可以先试，转账拦截需要金融机构或支付方接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IST生成式AI风险资料讨论了自动化偏见和过度依赖的风险。这意味着第二Agent不能作为自动安全证明。应保留人工决定权，禁止建议组件直接提升授权范围，单次决定不能静默训练成自动规则。企业部署还需要明确审阅日志的法律责任与访问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远程可信审批和密码学绑定适合放在产品开场，但无法支持其他方案均不具备或市场唯一的结论。流程中间件的默认能力与可扩展平台能力要分开。直接相邻产品已经出现，用户侧决策伙伴的差异化仍要通过真实实现及试点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LangChain 的 checkpoint 和 resume 已解决人工介入的状态延续，MYA 应达到同等体验。n8n 能使用外部远程渠道，所以不能声称其只支持主会话内批准。Power Automate 可以使用平台身份安全措施，本文没有对整个 Microsoft 身份栈作缺失判断。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Guardian.swift 固定提交5e073dce的RSAAuthentication.resolve把challenge、设备标识、audience、时效和accepted状态装入签名JWT。这是明确的签名确认反例。不能据此声称它直接对任意报告字节做手机签名。CIBA本身的认证设备通道由提供方选择，未定义通用的Agent与用户审批聊天E2EE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OneSpan材料为MAS5.5.0产品说明，2025-11-25更新。FIDO FAQ明确CTAP2.2 hybrid使用BLE验证接近性，并使用额外密码学保护数据。SPC是2026-07-02 Candidate Recommendation Draft，不能作为最终Recommendation介绍。AP2官方发布说明区分用户在场和预先委托的签署授权。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AgentPair SPEC为1.0-draft，代码和规范可读但本次未运行其实现。不能说配对加密的持续关系从未出现。AgentPass页面自称生产可用，同时标注App Store即将提供。本文仅把它视为公开定位及能力声明证据，不重复其全球首创或专利范围主张。所查页面不足以确认它有用户与Agent双向E2EE审批分支，也不足以否认其能够实现。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差异化是假设，不是已被穷尽证明的市场独占。端点可信、受控执行、身份治理及独立证据决定组合能否成立。真正可积累的是用户关系、业务字段与校验知识、可复用连接器和可靠决策记录。多一个模型或采用DID本身不足以形成持续优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排序依据接入可控性和验证成本，是规划假设。用户价值与商业客户未必相同：研发场景付款方可能是平台或企业安全团队，企业审批可能由流程平台或金融服务方采购，2C可能需要机构分发而非独立App获客。不要用宽泛AI市场规模代替MYA可服务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测试暴露了智能体提前结束轮询、要求用户再次回复已批准的问题。技术上单次20秒等待不等于流程终止。产品应维护持久状态，支持限时轮询、重连和回调，批准后恢复执行，超时或失联时显式暂停。不要无限忙轮询，也不能把用户沉默当作批准。等待应有业务截止时间、用户取消和后台恢复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顺序是产品建议，不代表排期承诺。优先把这次暴露的等待体验做成系统能力，而不是仅靠Skill提示。真实决策Agent可以先只读接入合同或监控信息，保留人工签署。银行和2C反诈应待受控场景的质量与可靠性得到证据后再扩大。恢复机制需防止换机或身份变更产生旧授权继续有效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这个标题便于跨业务理解，但并不自动表达审批侧Agent的调查能力。建议副标题说明远程可信审批、密码学关系绑定与行动授权。Any Agent是兼容性愿景，不表示无需接入即可拦截任何工具。AgentPass已采用类似类别名称，不能把该短语当作MYA独有概念。本次没有进行商标或专利法律检索。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mya_demo，实现与部署验收（提交 9471309）。2026-09-15 本次部署与隔离测试。</a:t>
            </a:r>
          </a:p>
          <a:p xmlns:a="http://schemas.openxmlformats.org/drawingml/2006/main">
            <a:r>
              <a:t>https://github.com/seanzhang9999/mya_demo/tree/9471309c0572711d92c033ce119e12db4fc76755</a:t>
            </a:r>
          </a:p>
          <a:p xmlns:a="http://schemas.openxmlformats.org/drawingml/2006/main">
            <a:r>
              <a:t>用于第 1、2、3、4、5、6、7、8、9、10、11、12、14、15、16、17、18、19、20、23、27、28、29、30、31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LangChain，Human-in-the-loop。动态文档，2026-09-15 查阅。</a:t>
            </a:r>
          </a:p>
          <a:p xmlns:a="http://schemas.openxmlformats.org/drawingml/2006/main">
            <a:r>
              <a:t>https://docs.langchain.com/oss/javascript/langchain/human-in-the-loop</a:t>
            </a:r>
          </a:p>
          <a:p xmlns:a="http://schemas.openxmlformats.org/drawingml/2006/main">
            <a:r>
              <a:t>用于第 22、23、29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n8n，Production AI Playbook: Human Oversight。动态页面，2026-09-15 查阅。</a:t>
            </a:r>
          </a:p>
          <a:p xmlns:a="http://schemas.openxmlformats.org/drawingml/2006/main">
            <a:r>
              <a:t>https://blog.n8n.io/production-ai-playbook-human-oversight/</a:t>
            </a:r>
          </a:p>
          <a:p xmlns:a="http://schemas.openxmlformats.org/drawingml/2006/main">
            <a:r>
              <a:t>用于第 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Auth0，Configure Rich Authorization Requests (RAR)。动态文档，2026-09-15 查阅。</a:t>
            </a:r>
          </a:p>
          <a:p xmlns:a="http://schemas.openxmlformats.org/drawingml/2006/main">
            <a:r>
              <a:t>https://auth0.com/docs/get-started/apis/configure-rich-authorization-requests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Microsoft，Set up sequential approvals。动态文档，2026-09-15 查阅。</a:t>
            </a:r>
          </a:p>
          <a:p xmlns:a="http://schemas.openxmlformats.org/drawingml/2006/main">
            <a:r>
              <a:t>https://learn.microsoft.com/en-us/power-automate/set-up-sequential-approvals</a:t>
            </a:r>
          </a:p>
          <a:p xmlns:a="http://schemas.openxmlformats.org/drawingml/2006/main">
            <a:r>
              <a:t>用于第 16、23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W3C，Verifiable Credentials Data Model v2.0。Recommendation，2025-05-15。</a:t>
            </a:r>
          </a:p>
          <a:p xmlns:a="http://schemas.openxmlformats.org/drawingml/2006/main">
            <a:r>
              <a:t>https://www.w3.org/TR/vc-data-model-2.0/</a:t>
            </a:r>
          </a:p>
          <a:p xmlns:a="http://schemas.openxmlformats.org/drawingml/2006/main">
            <a:r>
              <a:t>用于第 15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NIST，SP 800-63B-4: Authentication and Authenticator Management。2025 年版，2026-09-15 查阅。</a:t>
            </a:r>
          </a:p>
          <a:p xmlns:a="http://schemas.openxmlformats.org/drawingml/2006/main">
            <a:r>
              <a:t>https://pages.nist.gov/800-63-4/sp800-63b/authenticators/</a:t>
            </a:r>
          </a:p>
          <a:p xmlns:a="http://schemas.openxmlformats.org/drawingml/2006/main">
            <a:r>
              <a:t>用于第 11、21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Google Cloud，Powering AI commerce with the new Agent Payments Protocol (AP2)。2025-09-16。</a:t>
            </a:r>
          </a:p>
          <a:p xmlns:a="http://schemas.openxmlformats.org/drawingml/2006/main">
            <a:r>
              <a:t>https://cloud.google.com/blog/products/ai-machine-learning/announcing-agents-to-payments-ap2-protocol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NIST，AI Risk Management Framework: Generative AI Profile。2024-07。</a:t>
            </a:r>
          </a:p>
          <a:p xmlns:a="http://schemas.openxmlformats.org/drawingml/2006/main">
            <a:r>
              <a:t>https://nvlpubs.nist.gov/nistpubs/ai/NIST.AI.600-1.pdf</a:t>
            </a:r>
          </a:p>
          <a:p xmlns:a="http://schemas.openxmlformats.org/drawingml/2006/main">
            <a:r>
              <a:t>用于第 13、21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Auth0，Client-Initiated Backchannel Authentication Flow。动态文档，2026-09-15 查阅。</a:t>
            </a:r>
          </a:p>
          <a:p xmlns:a="http://schemas.openxmlformats.org/drawingml/2006/main">
            <a:r>
              <a:t>https://auth0.com/docs/get-started/authentication-and-authorization-flow/client-initiated-backchannel-authentication-flow</a:t>
            </a:r>
          </a:p>
          <a:p xmlns:a="http://schemas.openxmlformats.org/drawingml/2006/main">
            <a:r>
              <a:t>用于第 22、24、27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OpenID Foundation，CIBA Core 1.0。Final，2021-09-01。</a:t>
            </a:r>
          </a:p>
          <a:p xmlns:a="http://schemas.openxmlformats.org/drawingml/2006/main">
            <a:r>
              <a:t>https://openid.net/specs/openid-client-initiated-backchannel-authentication-core-1_0.html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Auth0，Guardian.swift README。SDK 文档，2026-09-15 查阅。</a:t>
            </a:r>
          </a:p>
          <a:p xmlns:a="http://schemas.openxmlformats.org/drawingml/2006/main">
            <a:r>
              <a:t>https://github.com/auth0/Guardian.swift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Auth0，Guardian/Authentication/Authentication.swift。固定提交 5e073dce，2026-09-15 核验。</a:t>
            </a:r>
          </a:p>
          <a:p xmlns:a="http://schemas.openxmlformats.org/drawingml/2006/main">
            <a:r>
              <a:t>https://github.com/auth0/Guardian.swift/blob/5e073dce247f46581942b5f1d6e0c045baff9e9d/Guardian/Authentication/Authentication.swift</a:t>
            </a:r>
          </a:p>
          <a:p xmlns:a="http://schemas.openxmlformats.org/drawingml/2006/main">
            <a:r>
              <a:t>用于第 24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OneSpan，Scan and Sign via Secure Channel。MAS 5.5.0，更新于 2025-11-25。</a:t>
            </a:r>
          </a:p>
          <a:p xmlns:a="http://schemas.openxmlformats.org/drawingml/2006/main">
            <a:r>
              <a:t>https://docs.onespan.com/mobile/docs/mas-5-pg-scan-and-sign-via-secure-channel-5-5-0</a:t>
            </a:r>
          </a:p>
          <a:p xmlns:a="http://schemas.openxmlformats.org/drawingml/2006/main">
            <a:r>
              <a:t>用于第 22、25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FIDO Alliance，Passkeys FAQ。CTAP 2.2 跨设备说明，2026-09-15 查阅。</a:t>
            </a:r>
          </a:p>
          <a:p xmlns:a="http://schemas.openxmlformats.org/drawingml/2006/main">
            <a:r>
              <a:t>https://fidoalliance.org/passkeys/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W3C，Secure Payment Confirmation。Candidate Recommendation Draft，2026-07-02。</a:t>
            </a:r>
          </a:p>
          <a:p xmlns:a="http://schemas.openxmlformats.org/drawingml/2006/main">
            <a:r>
              <a:t>https://www.w3.org/TR/2026/CRD-secure-payment-confirmation-20260702/</a:t>
            </a:r>
          </a:p>
          <a:p xmlns:a="http://schemas.openxmlformats.org/drawingml/2006/main">
            <a:r>
              <a:t>用于第 25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rfxlamia，AgentPair SPEC.md。Version 1.0-draft，2026-09-15 查阅。</a:t>
            </a:r>
          </a:p>
          <a:p xmlns:a="http://schemas.openxmlformats.org/drawingml/2006/main">
            <a:r>
              <a:t>https://github.com/rfxlamia/agent-pair-protocol/blob/main/SPEC.md</a:t>
            </a:r>
          </a:p>
          <a:p xmlns:a="http://schemas.openxmlformats.org/drawingml/2006/main">
            <a:r>
              <a:t>用于第 26、27 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CyberSecAI，AgentPass Authenticator。供应商公开声明，2026-09-15 查阅。</a:t>
            </a:r>
          </a:p>
          <a:p xmlns:a="http://schemas.openxmlformats.org/drawingml/2006/main">
            <a:r>
              <a:t>https://agentpass.co.uk/authenticator.html</a:t>
            </a:r>
          </a:p>
          <a:p xmlns:a="http://schemas.openxmlformats.org/drawingml/2006/main">
            <a:r>
              <a:t>用于第 22、26、27、31 页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 34 页保留此前的产品、绑定演示与竞品调查；本补充记录钱包升级后真实手机流程和本轮Hook试验。Hook当前进程热插入失败，后续原生拦截和批准放行尚待验收。完整操作脚本见仓库 docs/DEMO_WALKTHROUGH.md 与 docs/CODEX_HOOK.md。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已核对 PC 配置与 Oracle 公钥，公开 mobile/app.js 内容摘要与部署文件一致。手机浏览器私钥存于该来源和浏览器的 IndexedDB；没有证据将其缺失归因于某次清理或特定浏览器故障。当前主任务由 ChatGPT.app 内置 Codex 运行，独立 CLI 为旧版。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第一轮新邀请因未加入而过期；第二轮真人绑定 4d0d828c-39d7-41a2-8148-39805e48dcc1 完成。旧关系没有删除。真实手机与 PC 的短码为 1DG1 JHD7；历史邀请和代码已消费，不用于现场重新扫码。PC代确认是用户明确指令的例外，不能声称用户亲自点击了两端。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真人原请求 5fdd1ce3-3d41-4de0-a8c4-5d71a245eded，修订 bd4ba443-b85b-44e3-bf83-19e1057b1a7e，执行 1f2e3e8b-32d5-48d5-b092-a1300a717bac。输入示例 fixtures/request-cost.json 和 fixtures/request-safe.json。审批分析当前为模拟，不应声称模型已独立调查合同或成本。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真实请求 5a0ad59f-2c45-4130-b343-c65bf977e1b8。批准与执行发生在手机授权消息被Agent轮询收到之后，聊天消息不是授权来源。安装的 mya-approval Skill 要求持续轮询；等待过程中有进度汇报，不要求重复确认。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分步模式：mya challenge --request ID --out challenge.json；mya present --request ID --challenge challenge.json。present本身不执行。挑战不超过120秒，holder proof不超过30秒。当前只支持预配置MYA服务器及固定验证端点，不是通用OpenID4VP互操作。凭证虽可明文给被授权验证方读取，仍须限制隐私披露。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当时检查时间为2026-09-15 15:46:09中国时间，13项全通过。挑战出示另有9类检查：关系见证、holder签名、交易nonce、验证者端点、凭证摘要、请求行动、批准签名范围、当前时效、关系规则状态。本轮脚本读取旧请求得到grant_time失败，正确拒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verification_id为8db2e11c-44a2-4525-996d-3ff2189c8370；grant_id为1cec6c0c-6586-4d01-a812-b9c8886a0cce。已验证请求、授权、挑战、执行及签名回执关联。PPT只记录元数据，不包含私钥或原始授权JWS。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规则及例外由隔离浏览器与协议自动测试验证。组织多级审批、银行运营和2C反诈仍是应用场景假设，不属于真实业务上线。未来审批侧调查Agent需独立数据来源、权限隔离和可追溯证据。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脚本 scripts/codex-approval-hook.mjs 只匹配严格 mya execute --request UUID --presentation（可带mya绝对路径）。复杂shell、node直接调用、curl和已有exec会话输入不在此窄适配器范围内。当前钱包与hook脚本同本机用户权限，尚无独立安全域。企业应隔离业务凭证与配置权限，并优先结构化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实际运行引擎是ChatGPT.app内置codex-cli 0.154.0-alpha.6.2。写配置后首次canary执行；通过原生CLI审阅该唯一Hook为Trusted后，当前会话再次执行canary仍写文件。结论是本会话当前工具路径未验证到热加载，不能扩大断言为所有Codex版本不支持Hook。直接处理函数调用标签manual-handler-test-not-native；grant_time拒绝旧真人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完整标准见 docs/CODEX_HOOK.md。已有旧标记文件需先记录时间或归档，不能仅凭存在就误判新一次执行。脚本拒绝码完整为MYA_HOOK_CANARY_BLOCKED与MYA_APPROVAL_REQUIRED。下一轮须在目标会话重新加载后实测，不保证重启一定解决。批准后原生放行目前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稿与命令：https://github.com/seanzhang9999/mya_demo/blob/main/docs/DEMO_WALKTHROUGH.md；Hook方案：https://github.com/seanzhang9999/mya_demo/blob/main/docs/CODEX_HOOK.md。演示现场必须新建邀请和请求；历史截图与授权不可重用。当前未完成原生hook放行，真实用户单独启用自动规则也未在本轮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资料口径：2026-09-15。场景对话与试点建议为设计假设。</a:t>
            </a:r>
          </a:p>
          <a:p xmlns:a="http://schemas.openxmlformats.org/drawingml/2006/main">
            <a:r>
              <a:t>MYA 服务 0240f65 与 2026-09-15 会话实测。真人、自动测试与未通过项分别标注。</a:t>
            </a:r>
          </a:p>
          <a:p xmlns:a="http://schemas.openxmlformats.org/drawingml/2006/main">
            <a:r>
              <a:t>https://github.com/seanzhang9999/mya_demo/tree/0240f65</a:t>
            </a:r>
          </a:p>
          <a:p xmlns:a="http://schemas.openxmlformats.org/drawingml/2006/main">
            <a:r>
              <a:t>OpenAI，Codex Hooks。2026-09-15 核验。</a:t>
            </a:r>
          </a:p>
          <a:p xmlns:a="http://schemas.openxmlformats.org/drawingml/2006/main">
            <a:r>
              <a:t>https://learn.chatgpt.com/docs/hooks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49a57aff44e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ad9d2cbce34dbb" /><Relationship Type="http://schemas.openxmlformats.org/officeDocument/2006/relationships/slideLayout" Target="/ppt/slideLayouts/slideLayout1.xml" Id="Ra36b7b3e8779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b7b3e8779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21d74e71aa4b20" /><Relationship Type="http://schemas.openxmlformats.org/officeDocument/2006/relationships/image" Target="/ppt/media/image.png" Id="R15cdde7ad57b4550" /><Relationship Type="http://schemas.openxmlformats.org/officeDocument/2006/relationships/hyperlink" Target="https://github.com/seanzhang9999/mya_demo/tree/9471309c0572711d92c033ce119e12db4fc76755" TargetMode="External" Id="Rffc1cd3251d34013" /><Relationship Type="http://schemas.openxmlformats.org/officeDocument/2006/relationships/notesSlide" Target="/ppt/notesSlides/notesSlide1.xml" Id="Rec7ee86cca0941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7152c454945c8" /><Relationship Type="http://schemas.openxmlformats.org/officeDocument/2006/relationships/hyperlink" Target="https://github.com/seanzhang9999/mya_demo/tree/9471309c0572711d92c033ce119e12db4fc76755" TargetMode="External" Id="Ra04b9f5a8cea4863" /><Relationship Type="http://schemas.openxmlformats.org/officeDocument/2006/relationships/notesSlide" Target="/ppt/notesSlides/notesSlide2.xml" Id="Ra2ba24f72a8144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1992d4fd044ee" /><Relationship Type="http://schemas.openxmlformats.org/officeDocument/2006/relationships/image" Target="/ppt/media/image2.png" Id="Ra1773d614b84466a" /><Relationship Type="http://schemas.openxmlformats.org/officeDocument/2006/relationships/hyperlink" Target="https://github.com/seanzhang9999/mya_demo/tree/9471309c0572711d92c033ce119e12db4fc76755" TargetMode="External" Id="Re1285333e2e446f7" /><Relationship Type="http://schemas.openxmlformats.org/officeDocument/2006/relationships/notesSlide" Target="/ppt/notesSlides/notesSlide3.xml" Id="R61a3d3e633bc4f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1ab1e230b546a7" /><Relationship Type="http://schemas.openxmlformats.org/officeDocument/2006/relationships/image" Target="/ppt/media/image3.png" Id="Rcae747eb56c64559" /><Relationship Type="http://schemas.openxmlformats.org/officeDocument/2006/relationships/image" Target="/ppt/media/image4.png" Id="Rdc9341979f1e48c0" /><Relationship Type="http://schemas.openxmlformats.org/officeDocument/2006/relationships/hyperlink" Target="https://github.com/seanzhang9999/mya_demo/tree/9471309c0572711d92c033ce119e12db4fc76755" TargetMode="External" Id="R183bdd25f79541f7" /><Relationship Type="http://schemas.openxmlformats.org/officeDocument/2006/relationships/notesSlide" Target="/ppt/notesSlides/notesSlide4.xml" Id="R18184e707c5d46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48eec90244722" /><Relationship Type="http://schemas.openxmlformats.org/officeDocument/2006/relationships/image" Target="/ppt/media/image5.png" Id="R9fa40b9353d1441e" /><Relationship Type="http://schemas.openxmlformats.org/officeDocument/2006/relationships/hyperlink" Target="https://github.com/seanzhang9999/mya_demo/tree/9471309c0572711d92c033ce119e12db4fc76755" TargetMode="External" Id="R016ca8829e5642c6" /><Relationship Type="http://schemas.openxmlformats.org/officeDocument/2006/relationships/notesSlide" Target="/ppt/notesSlides/notesSlide5.xml" Id="R9bc4126737324f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8ce8d74374937" /><Relationship Type="http://schemas.openxmlformats.org/officeDocument/2006/relationships/hyperlink" Target="https://github.com/seanzhang9999/mya_demo/tree/9471309c0572711d92c033ce119e12db4fc76755" TargetMode="External" Id="R5db886427cea49c7" /><Relationship Type="http://schemas.openxmlformats.org/officeDocument/2006/relationships/notesSlide" Target="/ppt/notesSlides/notesSlide6.xml" Id="Redbe33f0ba7949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906b214014dff" /><Relationship Type="http://schemas.openxmlformats.org/officeDocument/2006/relationships/hyperlink" Target="https://github.com/seanzhang9999/mya_demo/tree/9471309c0572711d92c033ce119e12db4fc76755" TargetMode="External" Id="R0ccb7c6f23294c4e" /><Relationship Type="http://schemas.openxmlformats.org/officeDocument/2006/relationships/notesSlide" Target="/ppt/notesSlides/notesSlide7.xml" Id="R3fce1c49413c4b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3373708f14ca0" /><Relationship Type="http://schemas.openxmlformats.org/officeDocument/2006/relationships/hyperlink" Target="https://github.com/seanzhang9999/mya_demo/tree/9471309c0572711d92c033ce119e12db4fc76755" TargetMode="External" Id="Rb5b26793d2b34525" /><Relationship Type="http://schemas.openxmlformats.org/officeDocument/2006/relationships/notesSlide" Target="/ppt/notesSlides/notesSlide8.xml" Id="Rc89813e3e22246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1bbef9b343b3" /><Relationship Type="http://schemas.openxmlformats.org/officeDocument/2006/relationships/image" Target="/ppt/media/image6.png" Id="Rfc5598f3edca4eb8" /><Relationship Type="http://schemas.openxmlformats.org/officeDocument/2006/relationships/hyperlink" Target="https://github.com/seanzhang9999/mya_demo/tree/9471309c0572711d92c033ce119e12db4fc76755" TargetMode="External" Id="Rc6e3ca76cfb241bf" /><Relationship Type="http://schemas.openxmlformats.org/officeDocument/2006/relationships/notesSlide" Target="/ppt/notesSlides/notesSlide9.xml" Id="R4f0952ae5add44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2cdf44c6d42f6" /><Relationship Type="http://schemas.openxmlformats.org/officeDocument/2006/relationships/image" Target="/ppt/media/image7.png" Id="Rafca4503196341de" /><Relationship Type="http://schemas.openxmlformats.org/officeDocument/2006/relationships/hyperlink" Target="https://github.com/seanzhang9999/mya_demo/tree/9471309c0572711d92c033ce119e12db4fc76755" TargetMode="External" Id="Ree5fc86efba64cac" /><Relationship Type="http://schemas.openxmlformats.org/officeDocument/2006/relationships/notesSlide" Target="/ppt/notesSlides/notesSlide10.xml" Id="R4673a852ca1f4e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ddc33682741a2" /><Relationship Type="http://schemas.openxmlformats.org/officeDocument/2006/relationships/hyperlink" Target="https://github.com/seanzhang9999/mya_demo/tree/9471309c0572711d92c033ce119e12db4fc76755" TargetMode="External" Id="R475ed7e989384727" /><Relationship Type="http://schemas.openxmlformats.org/officeDocument/2006/relationships/hyperlink" Target="https://pages.nist.gov/800-63-4/sp800-63b/authenticators/" TargetMode="External" Id="Re28c57745d7d4916" /><Relationship Type="http://schemas.openxmlformats.org/officeDocument/2006/relationships/notesSlide" Target="/ppt/notesSlides/notesSlide11.xml" Id="Rde89b5783c5648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ef3b9f2f42ac" /><Relationship Type="http://schemas.openxmlformats.org/officeDocument/2006/relationships/hyperlink" Target="https://github.com/seanzhang9999/mya_demo/tree/9471309c0572711d92c033ce119e12db4fc76755" TargetMode="External" Id="R85ccaf63b3984f53" /><Relationship Type="http://schemas.openxmlformats.org/officeDocument/2006/relationships/notesSlide" Target="/ppt/notesSlides/notesSlide12.xml" Id="Rc2dbe11d32284f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ec38bfcd24aca" /><Relationship Type="http://schemas.openxmlformats.org/officeDocument/2006/relationships/hyperlink" Target="https://nvlpubs.nist.gov/nistpubs/ai/NIST.AI.600-1.pdf" TargetMode="External" Id="R4d87cfa4c0e74fe1" /><Relationship Type="http://schemas.openxmlformats.org/officeDocument/2006/relationships/notesSlide" Target="/ppt/notesSlides/notesSlide13.xml" Id="R98e81f802c924f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47bdaeeb947dc" /><Relationship Type="http://schemas.openxmlformats.org/officeDocument/2006/relationships/hyperlink" Target="https://github.com/seanzhang9999/mya_demo/tree/9471309c0572711d92c033ce119e12db4fc76755" TargetMode="External" Id="R4e2c91934c75421a" /><Relationship Type="http://schemas.openxmlformats.org/officeDocument/2006/relationships/notesSlide" Target="/ppt/notesSlides/notesSlide14.xml" Id="R5b4e64da1a8f48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558c285b9453b" /><Relationship Type="http://schemas.openxmlformats.org/officeDocument/2006/relationships/hyperlink" Target="https://github.com/seanzhang9999/mya_demo/tree/9471309c0572711d92c033ce119e12db4fc76755" TargetMode="External" Id="R3c4ad01990bc4361" /><Relationship Type="http://schemas.openxmlformats.org/officeDocument/2006/relationships/hyperlink" Target="https://www.w3.org/TR/vc-data-model-2.0/" TargetMode="External" Id="Re288bb2a6dd14d52" /><Relationship Type="http://schemas.openxmlformats.org/officeDocument/2006/relationships/notesSlide" Target="/ppt/notesSlides/notesSlide15.xml" Id="R344cb7ee48ab4e7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a4a4057214b31" /><Relationship Type="http://schemas.openxmlformats.org/officeDocument/2006/relationships/hyperlink" Target="https://learn.microsoft.com/en-us/power-automate/set-up-sequential-approvals" TargetMode="External" Id="R8ed6095877064724" /><Relationship Type="http://schemas.openxmlformats.org/officeDocument/2006/relationships/hyperlink" Target="https://github.com/seanzhang9999/mya_demo/tree/9471309c0572711d92c033ce119e12db4fc76755" TargetMode="External" Id="Rf48ce11209dd4b2f" /><Relationship Type="http://schemas.openxmlformats.org/officeDocument/2006/relationships/notesSlide" Target="/ppt/notesSlides/notesSlide16.xml" Id="R1ab90a435ee84d6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a361d371b4ef1" /><Relationship Type="http://schemas.openxmlformats.org/officeDocument/2006/relationships/hyperlink" Target="https://github.com/seanzhang9999/mya_demo/tree/9471309c0572711d92c033ce119e12db4fc76755" TargetMode="External" Id="Rfa4faf2dcd2a4adf" /><Relationship Type="http://schemas.openxmlformats.org/officeDocument/2006/relationships/notesSlide" Target="/ppt/notesSlides/notesSlide17.xml" Id="R9016cc3f2cbe42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0f66f72be47e7" /><Relationship Type="http://schemas.openxmlformats.org/officeDocument/2006/relationships/hyperlink" Target="https://github.com/seanzhang9999/mya_demo/tree/9471309c0572711d92c033ce119e12db4fc76755" TargetMode="External" Id="Rbe415f4d09d546a6" /><Relationship Type="http://schemas.openxmlformats.org/officeDocument/2006/relationships/notesSlide" Target="/ppt/notesSlides/notesSlide18.xml" Id="R7e24a68d1e7c45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07098983348d1" /><Relationship Type="http://schemas.openxmlformats.org/officeDocument/2006/relationships/hyperlink" Target="https://github.com/seanzhang9999/mya_demo/tree/9471309c0572711d92c033ce119e12db4fc76755" TargetMode="External" Id="R47fd715e201248ce" /><Relationship Type="http://schemas.openxmlformats.org/officeDocument/2006/relationships/notesSlide" Target="/ppt/notesSlides/notesSlide19.xml" Id="Raeb9b972ccff4c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4dd589588447a" /><Relationship Type="http://schemas.openxmlformats.org/officeDocument/2006/relationships/hyperlink" Target="https://github.com/seanzhang9999/mya_demo/tree/9471309c0572711d92c033ce119e12db4fc76755" TargetMode="External" Id="Rfdd3fd2d6259433a" /><Relationship Type="http://schemas.openxmlformats.org/officeDocument/2006/relationships/notesSlide" Target="/ppt/notesSlides/notesSlide20.xml" Id="R1b1f7b5a8f9f4d4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b696077d84e29" /><Relationship Type="http://schemas.openxmlformats.org/officeDocument/2006/relationships/hyperlink" Target="https://nvlpubs.nist.gov/nistpubs/ai/NIST.AI.600-1.pdf" TargetMode="External" Id="Rbd9b27d5eec24be0" /><Relationship Type="http://schemas.openxmlformats.org/officeDocument/2006/relationships/hyperlink" Target="https://pages.nist.gov/800-63-4/sp800-63b/authenticators/" TargetMode="External" Id="R6122812374264ef4" /><Relationship Type="http://schemas.openxmlformats.org/officeDocument/2006/relationships/notesSlide" Target="/ppt/notesSlides/notesSlide21.xml" Id="R9364b02ce91745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7d00933644008" /><Relationship Type="http://schemas.openxmlformats.org/officeDocument/2006/relationships/hyperlink" Target="https://auth0.com/docs/get-started/authentication-and-authorization-flow/client-initiated-backchannel-authentication-flow" TargetMode="External" Id="R6c76b084ba0e4fab" /><Relationship Type="http://schemas.openxmlformats.org/officeDocument/2006/relationships/hyperlink" Target="https://docs.onespan.com/mobile/docs/mas-5-pg-scan-and-sign-via-secure-channel-5-5-0" TargetMode="External" Id="Rea5dc4fb6f234c8d" /><Relationship Type="http://schemas.openxmlformats.org/officeDocument/2006/relationships/hyperlink" Target="https://agentpass.co.uk/authenticator.html" TargetMode="External" Id="R508060dae45c4efe" /><Relationship Type="http://schemas.openxmlformats.org/officeDocument/2006/relationships/hyperlink" Target="https://docs.langchain.com/oss/javascript/langchain/human-in-the-loop" TargetMode="External" Id="Ra3de241765c747ee" /><Relationship Type="http://schemas.openxmlformats.org/officeDocument/2006/relationships/notesSlide" Target="/ppt/notesSlides/notesSlide22.xml" Id="R46e81bedb27f4e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749146d59c4ef0" /><Relationship Type="http://schemas.openxmlformats.org/officeDocument/2006/relationships/hyperlink" Target="https://docs.langchain.com/oss/javascript/langchain/human-in-the-loop" TargetMode="External" Id="Rabff94549f7e4932" /><Relationship Type="http://schemas.openxmlformats.org/officeDocument/2006/relationships/hyperlink" Target="https://blog.n8n.io/production-ai-playbook-human-oversight/" TargetMode="External" Id="Rf4d91417bf2f4a69" /><Relationship Type="http://schemas.openxmlformats.org/officeDocument/2006/relationships/hyperlink" Target="https://learn.microsoft.com/en-us/power-automate/set-up-sequential-approvals" TargetMode="External" Id="R5f2e509324f5404b" /><Relationship Type="http://schemas.openxmlformats.org/officeDocument/2006/relationships/hyperlink" Target="https://github.com/seanzhang9999/mya_demo/tree/9471309c0572711d92c033ce119e12db4fc76755" TargetMode="External" Id="R10b3f0355e5b4072" /><Relationship Type="http://schemas.openxmlformats.org/officeDocument/2006/relationships/notesSlide" Target="/ppt/notesSlides/notesSlide23.xml" Id="R617ccffb34fd4ea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9ed08ce4d4590" /><Relationship Type="http://schemas.openxmlformats.org/officeDocument/2006/relationships/hyperlink" Target="https://auth0.com/docs/get-started/authentication-and-authorization-flow/client-initiated-backchannel-authentication-flow" TargetMode="External" Id="R4227e819d1e94a23" /><Relationship Type="http://schemas.openxmlformats.org/officeDocument/2006/relationships/hyperlink" Target="https://github.com/auth0/Guardian.swift" TargetMode="External" Id="R6909bc067ff8427c" /><Relationship Type="http://schemas.openxmlformats.org/officeDocument/2006/relationships/hyperlink" Target="https://github.com/auth0/Guardian.swift/blob/5e073dce247f46581942b5f1d6e0c045baff9e9d/Guardian/Authentication/Authentication.swift" TargetMode="External" Id="Rc405481659854c6a" /><Relationship Type="http://schemas.openxmlformats.org/officeDocument/2006/relationships/hyperlink" Target="https://auth0.com/docs/get-started/apis/configure-rich-authorization-requests" TargetMode="External" Id="R8bf57639f7264de8" /><Relationship Type="http://schemas.openxmlformats.org/officeDocument/2006/relationships/hyperlink" Target="https://openid.net/specs/openid-client-initiated-backchannel-authentication-core-1_0.html" TargetMode="External" Id="R89ee7827b0c14082" /><Relationship Type="http://schemas.openxmlformats.org/officeDocument/2006/relationships/notesSlide" Target="/ppt/notesSlides/notesSlide24.xml" Id="R40e3b434cfc3422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66465c66748bb" /><Relationship Type="http://schemas.openxmlformats.org/officeDocument/2006/relationships/hyperlink" Target="https://docs.onespan.com/mobile/docs/mas-5-pg-scan-and-sign-via-secure-channel-5-5-0" TargetMode="External" Id="R0d139a4f26e94a09" /><Relationship Type="http://schemas.openxmlformats.org/officeDocument/2006/relationships/hyperlink" Target="https://fidoalliance.org/passkeys/" TargetMode="External" Id="Re288c6b7c7da44a4" /><Relationship Type="http://schemas.openxmlformats.org/officeDocument/2006/relationships/hyperlink" Target="https://www.w3.org/TR/2026/CRD-secure-payment-confirmation-20260702/" TargetMode="External" Id="R4baec6dd95f84f87" /><Relationship Type="http://schemas.openxmlformats.org/officeDocument/2006/relationships/hyperlink" Target="https://cloud.google.com/blog/products/ai-machine-learning/announcing-agents-to-payments-ap2-protocol" TargetMode="External" Id="R9b5ec102aa494789" /><Relationship Type="http://schemas.openxmlformats.org/officeDocument/2006/relationships/notesSlide" Target="/ppt/notesSlides/notesSlide25.xml" Id="R0517953907494ee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ddd3be20b46a5" /><Relationship Type="http://schemas.openxmlformats.org/officeDocument/2006/relationships/hyperlink" Target="https://github.com/rfxlamia/agent-pair-protocol/blob/main/SPEC.md" TargetMode="External" Id="R35c87b3fccb94b59" /><Relationship Type="http://schemas.openxmlformats.org/officeDocument/2006/relationships/hyperlink" Target="https://agentpass.co.uk/authenticator.html" TargetMode="External" Id="Rc8a1d14ab8804568" /><Relationship Type="http://schemas.openxmlformats.org/officeDocument/2006/relationships/notesSlide" Target="/ppt/notesSlides/notesSlide26.xml" Id="R5cddc2d2627345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d2ca4939f490e" /><Relationship Type="http://schemas.openxmlformats.org/officeDocument/2006/relationships/hyperlink" Target="https://github.com/seanzhang9999/mya_demo/tree/9471309c0572711d92c033ce119e12db4fc76755" TargetMode="External" Id="Ra8da7c0513a04ca6" /><Relationship Type="http://schemas.openxmlformats.org/officeDocument/2006/relationships/hyperlink" Target="https://auth0.com/docs/get-started/authentication-and-authorization-flow/client-initiated-backchannel-authentication-flow" TargetMode="External" Id="Ref546c860f5b4c44" /><Relationship Type="http://schemas.openxmlformats.org/officeDocument/2006/relationships/hyperlink" Target="https://github.com/rfxlamia/agent-pair-protocol/blob/main/SPEC.md" TargetMode="External" Id="R8125396de121466b" /><Relationship Type="http://schemas.openxmlformats.org/officeDocument/2006/relationships/hyperlink" Target="https://agentpass.co.uk/authenticator.html" TargetMode="External" Id="R5ef61a7cf5884175" /><Relationship Type="http://schemas.openxmlformats.org/officeDocument/2006/relationships/notesSlide" Target="/ppt/notesSlides/notesSlide27.xml" Id="R9184a3a89e164b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03b9f3d484251" /><Relationship Type="http://schemas.openxmlformats.org/officeDocument/2006/relationships/hyperlink" Target="https://github.com/seanzhang9999/mya_demo/tree/9471309c0572711d92c033ce119e12db4fc76755" TargetMode="External" Id="Re96cf37c5e624395" /><Relationship Type="http://schemas.openxmlformats.org/officeDocument/2006/relationships/notesSlide" Target="/ppt/notesSlides/notesSlide28.xml" Id="Re14e682f39d340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a20f0ca0c14f9f" /><Relationship Type="http://schemas.openxmlformats.org/officeDocument/2006/relationships/hyperlink" Target="https://github.com/seanzhang9999/mya_demo/tree/9471309c0572711d92c033ce119e12db4fc76755" TargetMode="External" Id="R15befb3b67ca48d5" /><Relationship Type="http://schemas.openxmlformats.org/officeDocument/2006/relationships/hyperlink" Target="https://docs.langchain.com/oss/javascript/langchain/human-in-the-loop" TargetMode="External" Id="R3ba17cd3406f4eab" /><Relationship Type="http://schemas.openxmlformats.org/officeDocument/2006/relationships/notesSlide" Target="/ppt/notesSlides/notesSlide29.xml" Id="Rdc36d576d313466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b9ac6e1b548d2" /><Relationship Type="http://schemas.openxmlformats.org/officeDocument/2006/relationships/hyperlink" Target="https://github.com/seanzhang9999/mya_demo/tree/9471309c0572711d92c033ce119e12db4fc76755" TargetMode="External" Id="Re2c8f0a387d64793" /><Relationship Type="http://schemas.openxmlformats.org/officeDocument/2006/relationships/notesSlide" Target="/ppt/notesSlides/notesSlide30.xml" Id="Rf5a2f9e1c78d454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bf5a459249ba" /><Relationship Type="http://schemas.openxmlformats.org/officeDocument/2006/relationships/hyperlink" Target="https://github.com/seanzhang9999/mya_demo/tree/9471309c0572711d92c033ce119e12db4fc76755" TargetMode="External" Id="Rbb3036198ef740b5" /><Relationship Type="http://schemas.openxmlformats.org/officeDocument/2006/relationships/hyperlink" Target="https://agentpass.co.uk/authenticator.html" TargetMode="External" Id="Rb23a64b4825c478a" /><Relationship Type="http://schemas.openxmlformats.org/officeDocument/2006/relationships/notesSlide" Target="/ppt/notesSlides/notesSlide31.xml" Id="R660ce5d71c8f4b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564125848448b" /><Relationship Type="http://schemas.openxmlformats.org/officeDocument/2006/relationships/hyperlink" Target="https://github.com/seanzhang9999/mya_demo/tree/9471309c0572711d92c033ce119e12db4fc76755" TargetMode="External" Id="R27c9892e57594c00" /><Relationship Type="http://schemas.openxmlformats.org/officeDocument/2006/relationships/hyperlink" Target="https://docs.langchain.com/oss/javascript/langchain/human-in-the-loop" TargetMode="External" Id="R14e3d26afa674a3b" /><Relationship Type="http://schemas.openxmlformats.org/officeDocument/2006/relationships/hyperlink" Target="https://blog.n8n.io/production-ai-playbook-human-oversight/" TargetMode="External" Id="Rcdf9566b88a04dbc" /><Relationship Type="http://schemas.openxmlformats.org/officeDocument/2006/relationships/hyperlink" Target="https://auth0.com/docs/get-started/apis/configure-rich-authorization-requests" TargetMode="External" Id="R4b25cc454d564dac" /><Relationship Type="http://schemas.openxmlformats.org/officeDocument/2006/relationships/hyperlink" Target="https://learn.microsoft.com/en-us/power-automate/set-up-sequential-approvals" TargetMode="External" Id="Rfbf41c792974402b" /><Relationship Type="http://schemas.openxmlformats.org/officeDocument/2006/relationships/hyperlink" Target="https://www.w3.org/TR/vc-data-model-2.0/" TargetMode="External" Id="R224b4c75d16146bc" /><Relationship Type="http://schemas.openxmlformats.org/officeDocument/2006/relationships/hyperlink" Target="https://pages.nist.gov/800-63-4/sp800-63b/authenticators/" TargetMode="External" Id="R01eaba032cff420a" /><Relationship Type="http://schemas.openxmlformats.org/officeDocument/2006/relationships/notesSlide" Target="/ppt/notesSlides/notesSlide32.xml" Id="R5cb939c0a65c477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bb0faff44ce4" /><Relationship Type="http://schemas.openxmlformats.org/officeDocument/2006/relationships/hyperlink" Target="https://cloud.google.com/blog/products/ai-machine-learning/announcing-agents-to-payments-ap2-protocol" TargetMode="External" Id="R708f9c8a03fe4e64" /><Relationship Type="http://schemas.openxmlformats.org/officeDocument/2006/relationships/hyperlink" Target="https://nvlpubs.nist.gov/nistpubs/ai/NIST.AI.600-1.pdf" TargetMode="External" Id="Rc489c739bebf4b04" /><Relationship Type="http://schemas.openxmlformats.org/officeDocument/2006/relationships/hyperlink" Target="https://auth0.com/docs/get-started/authentication-and-authorization-flow/client-initiated-backchannel-authentication-flow" TargetMode="External" Id="R45fa3c2a70c44da7" /><Relationship Type="http://schemas.openxmlformats.org/officeDocument/2006/relationships/hyperlink" Target="https://openid.net/specs/openid-client-initiated-backchannel-authentication-core-1_0.html" TargetMode="External" Id="Rb1e74e7201ca4216" /><Relationship Type="http://schemas.openxmlformats.org/officeDocument/2006/relationships/hyperlink" Target="https://github.com/auth0/Guardian.swift" TargetMode="External" Id="R39351d3f75214ce6" /><Relationship Type="http://schemas.openxmlformats.org/officeDocument/2006/relationships/hyperlink" Target="https://github.com/auth0/Guardian.swift/blob/5e073dce247f46581942b5f1d6e0c045baff9e9d/Guardian/Authentication/Authentication.swift" TargetMode="External" Id="R906d23d9045045cc" /><Relationship Type="http://schemas.openxmlformats.org/officeDocument/2006/relationships/hyperlink" Target="https://docs.onespan.com/mobile/docs/mas-5-pg-scan-and-sign-via-secure-channel-5-5-0" TargetMode="External" Id="R9fc82b27697c4928" /><Relationship Type="http://schemas.openxmlformats.org/officeDocument/2006/relationships/notesSlide" Target="/ppt/notesSlides/notesSlide33.xml" Id="Re1402edf3674407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d5ae1546742ad" /><Relationship Type="http://schemas.openxmlformats.org/officeDocument/2006/relationships/hyperlink" Target="https://fidoalliance.org/passkeys/" TargetMode="External" Id="Red201a0eae784bcd" /><Relationship Type="http://schemas.openxmlformats.org/officeDocument/2006/relationships/hyperlink" Target="https://www.w3.org/TR/2026/CRD-secure-payment-confirmation-20260702/" TargetMode="External" Id="R48c7ad25488f43d8" /><Relationship Type="http://schemas.openxmlformats.org/officeDocument/2006/relationships/hyperlink" Target="https://github.com/rfxlamia/agent-pair-protocol/blob/main/SPEC.md" TargetMode="External" Id="R73ca68ca284c4af7" /><Relationship Type="http://schemas.openxmlformats.org/officeDocument/2006/relationships/hyperlink" Target="https://agentpass.co.uk/authenticator.html" TargetMode="External" Id="Refd2dd6234a3487a" /><Relationship Type="http://schemas.openxmlformats.org/officeDocument/2006/relationships/notesSlide" Target="/ppt/notesSlides/notesSlide34.xml" Id="R649386729a19437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4d1a9e82f64930" /><Relationship Type="http://schemas.openxmlformats.org/officeDocument/2006/relationships/hyperlink" Target="https://github.com/seanzhang9999/mya_demo/tree/0240f65" TargetMode="External" Id="Rb20a999a7dda4d7f" /><Relationship Type="http://schemas.openxmlformats.org/officeDocument/2006/relationships/hyperlink" Target="https://learn.chatgpt.com/docs/hooks" TargetMode="External" Id="R5a95ca2b7e404159" /><Relationship Type="http://schemas.openxmlformats.org/officeDocument/2006/relationships/notesSlide" Target="/ppt/notesSlides/notesSlide35.xml" Id="Rfd9e5e1f265740b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3ae33e2f84abe" /><Relationship Type="http://schemas.openxmlformats.org/officeDocument/2006/relationships/hyperlink" Target="https://github.com/seanzhang9999/mya_demo/tree/0240f65" TargetMode="External" Id="R392671b7e46a474d" /><Relationship Type="http://schemas.openxmlformats.org/officeDocument/2006/relationships/notesSlide" Target="/ppt/notesSlides/notesSlide36.xml" Id="R305e1a16383949b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4b2bec634fdb" /><Relationship Type="http://schemas.openxmlformats.org/officeDocument/2006/relationships/hyperlink" Target="https://github.com/seanzhang9999/mya_demo/tree/0240f65" TargetMode="External" Id="R4a6fac3ea9dc4cc7" /><Relationship Type="http://schemas.openxmlformats.org/officeDocument/2006/relationships/notesSlide" Target="/ppt/notesSlides/notesSlide37.xml" Id="R9d24c9e3c00b45d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e8ea5430f4bf2" /><Relationship Type="http://schemas.openxmlformats.org/officeDocument/2006/relationships/hyperlink" Target="https://github.com/seanzhang9999/mya_demo/tree/0240f65" TargetMode="External" Id="R34d69d7a04b4466e" /><Relationship Type="http://schemas.openxmlformats.org/officeDocument/2006/relationships/notesSlide" Target="/ppt/notesSlides/notesSlide38.xml" Id="Re0f0216bbd04455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93641d98545c8" /><Relationship Type="http://schemas.openxmlformats.org/officeDocument/2006/relationships/hyperlink" Target="https://github.com/seanzhang9999/mya_demo/tree/0240f65" TargetMode="External" Id="Rbb21787af3104890" /><Relationship Type="http://schemas.openxmlformats.org/officeDocument/2006/relationships/notesSlide" Target="/ppt/notesSlides/notesSlide39.xml" Id="Ra83f4d146e904951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1eba20f9f04769" /><Relationship Type="http://schemas.openxmlformats.org/officeDocument/2006/relationships/hyperlink" Target="https://github.com/seanzhang9999/mya_demo/tree/0240f65" TargetMode="External" Id="R0ef091b7f9374d71" /><Relationship Type="http://schemas.openxmlformats.org/officeDocument/2006/relationships/notesSlide" Target="/ppt/notesSlides/notesSlide40.xml" Id="Rb977d1724c714959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e70c97c13b4480" /><Relationship Type="http://schemas.openxmlformats.org/officeDocument/2006/relationships/hyperlink" Target="https://github.com/seanzhang9999/mya_demo/tree/0240f65" TargetMode="External" Id="Rd2e9cdbc8b0841c3" /><Relationship Type="http://schemas.openxmlformats.org/officeDocument/2006/relationships/notesSlide" Target="/ppt/notesSlides/notesSlide41.xml" Id="Rb60a60e6a1114f9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3bcbe5c3c4b82" /><Relationship Type="http://schemas.openxmlformats.org/officeDocument/2006/relationships/hyperlink" Target="https://github.com/seanzhang9999/mya_demo/tree/0240f65" TargetMode="External" Id="Rf063ec232e6a4f82" /><Relationship Type="http://schemas.openxmlformats.org/officeDocument/2006/relationships/notesSlide" Target="/ppt/notesSlides/notesSlide42.xml" Id="R36fab20677ea4d4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746c5dd704f1f" /><Relationship Type="http://schemas.openxmlformats.org/officeDocument/2006/relationships/hyperlink" Target="https://github.com/seanzhang9999/mya_demo/tree/0240f65" TargetMode="External" Id="R0227e37980e84376" /><Relationship Type="http://schemas.openxmlformats.org/officeDocument/2006/relationships/notesSlide" Target="/ppt/notesSlides/notesSlide43.xml" Id="Rcbee2c367fdd4ec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2aaa15efb40d7" /><Relationship Type="http://schemas.openxmlformats.org/officeDocument/2006/relationships/hyperlink" Target="https://github.com/seanzhang9999/mya_demo/tree/0240f65" TargetMode="External" Id="Raa17cdb050b84ae2" /><Relationship Type="http://schemas.openxmlformats.org/officeDocument/2006/relationships/hyperlink" Target="https://learn.chatgpt.com/docs/hooks" TargetMode="External" Id="Ra2acfcdb9641428d" /><Relationship Type="http://schemas.openxmlformats.org/officeDocument/2006/relationships/notesSlide" Target="/ppt/notesSlides/notesSlide44.xml" Id="R0b320c34f8cf4ff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fa02240f34387" /><Relationship Type="http://schemas.openxmlformats.org/officeDocument/2006/relationships/hyperlink" Target="https://learn.chatgpt.com/docs/hooks" TargetMode="External" Id="R4171c16dc4544065" /><Relationship Type="http://schemas.openxmlformats.org/officeDocument/2006/relationships/hyperlink" Target="https://github.com/seanzhang9999/mya_demo/tree/0240f65" TargetMode="External" Id="R2d02ae995d894215" /><Relationship Type="http://schemas.openxmlformats.org/officeDocument/2006/relationships/notesSlide" Target="/ppt/notesSlides/notesSlide45.xml" Id="Rab8d64150a264ca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02ba9e1a8c4abf" /><Relationship Type="http://schemas.openxmlformats.org/officeDocument/2006/relationships/hyperlink" Target="https://learn.chatgpt.com/docs/hooks" TargetMode="External" Id="R667302cc169c4ea1" /><Relationship Type="http://schemas.openxmlformats.org/officeDocument/2006/relationships/hyperlink" Target="https://github.com/seanzhang9999/mya_demo/tree/0240f65" TargetMode="External" Id="R3639aff946d8497c" /><Relationship Type="http://schemas.openxmlformats.org/officeDocument/2006/relationships/notesSlide" Target="/ppt/notesSlides/notesSlide46.xml" Id="Rd5930f2fa82d4fa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769f5144b4399" /><Relationship Type="http://schemas.openxmlformats.org/officeDocument/2006/relationships/hyperlink" Target="https://github.com/seanzhang9999/mya_demo/tree/0240f65" TargetMode="External" Id="R9caa79e548554867" /><Relationship Type="http://schemas.openxmlformats.org/officeDocument/2006/relationships/hyperlink" Target="https://learn.chatgpt.com/docs/hooks" TargetMode="External" Id="Ra96ed236c9f64eb3" /><Relationship Type="http://schemas.openxmlformats.org/officeDocument/2006/relationships/notesSlide" Target="/ppt/notesSlides/notesSlide47.xml" Id="R7ebd16a45d8345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dde7ad57b455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44BE6-27D4-460B-AADD-636E376E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57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C3ED-6EA6-456E-BEA9-F97E4FB8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623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</a:t>
            </a:r>
          </a:p>
          <a:p xmlns:a="http://schemas.openxmlformats.org/drawingml/2006/main">
            <a:pPr>
              <a:buNone/>
              <a:def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9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for Any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12A83-4969-4F7A-8966-93E105F5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95725"/>
            <a:ext cx="631507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  <a:p xmlns:a="http://schemas.openxmlformats.org/drawingml/2006/main">
            <a:pPr>
              <a:buNone/>
              <a:def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审批通道与 Agent 密码学绑定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08762-3FAE-4D79-9189-DFB9DB3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609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产品愿景与已验证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F371F-2468-43E8-B964-4EBE5E47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fc1cd3251d34013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6220288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1B54A-74EC-44D1-81FF-222816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远程可信审批与密码学绑定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282C5-3C3C-4163-B98C-4B415C88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的产品基础：用户在独立手机通道授权具体 Agent 的具体行动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CF3FE-015C-4617-AD4F-26288B54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3C71E-D77E-4AB6-9AF6-19F5F5CB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远程可信审批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A4D3D-34A2-416D-9B6A-1C1C5E13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提出请求，手机展示并签署，资源端核验批准内容。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277D0-D5B0-42EE-AEB7-54AE9C87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密码学绑定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F8E7FE-5E7F-4160-A94A-FA8ED00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先确认双方公钥与关系。后续消息验签、加密，并校验所属绑定。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BD684-0E6A-4283-A213-359983AE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行动一致性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BB468-B2E5-4FC2-B5FA-460BDB78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将授权关联接收方与最终内容，资源端检查实际执行是否匹配。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42D06-2C8A-4A9F-B99B-97490F70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决策辅助扩展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962B9-95D6-479F-92AB-5DEB065F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在此基础上加入用户侧调查、反建议和多轮审批分支。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3FDAE-DCED-4D99-B5B9-D8312CD7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可信范围：来源、完整性与授权一致性。真实身份、终端安全和判断正确性需要额外保障。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56AE64-9D32-4734-99FF-A079C66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04b9f5a8cea4863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4403457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2B830-FEDD-4440-92C0-B35AC297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1：电脑发起，手机加入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CA6FF-3D99-4A47-80BB-5D162029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每次邀请面向一个具体 Agent 实例，用户在自己的手机上认领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D229-5DE8-460D-8F1B-A64D2B6D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73d614b84466a"/>
          <a:stretch xmlns:a="http://schemas.openxmlformats.org/drawingml/2006/main"/>
        </p:blipFill>
        <p:spPr>
          <a:xfrm xmlns:a="http://schemas.openxmlformats.org/drawingml/2006/main">
            <a:off x="645432" y="1714500"/>
            <a:ext cx="3243036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2ADC9-FDCB-41A4-92F7-10BA6068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可信入口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8DC57-56C5-4A24-ADD2-D5934F71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28800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先确认服务地址与见证公钥指纹。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EE5E4-8BC9-4CDE-BB37-6F7473A5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9082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创建邀请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D9561-AD0E-442F-98FA-607C345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电脑显示二维码和配对码。邀请包含关系校验材料。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4A592-40F9-4D20-BCFB-1713AFFB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手机加入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992DD3-C21F-4C72-AA73-8B7CFBB9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扫码打开 HTTPS 页面，手机生成并保存本地密钥。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80136-1FC0-4330-A5DE-2769A3D1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7148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接下来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105DD-BFB1-4B71-B1AD-61F222E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14875"/>
            <a:ext cx="5715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两端各自计算短码，用户核对并分别确认。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D5BD3F-D9DF-40E0-8380-24AE290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真实页面，使用隔离测试身份。图中邀请已完成，测试绑定已撤销。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F0ADA-7EDC-4F72-A4CD-78069726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1285333e2e446f7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6767708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079E18-BE42-4CAB-9D26-721ABF5A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2：核对同一关系的短码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FF3128-43DA-48A7-A7A1-C0923297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电脑与手机都显示 P4PR N4RW，用户必须在两端分别确认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42EAD0-48AA-4142-85C8-277007EC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76283-2338-4C2A-82A3-14685BAB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电脑确认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747eb56c64559"/>
          <a:stretch xmlns:a="http://schemas.openxmlformats.org/drawingml/2006/main"/>
        </p:blipFill>
        <p:spPr>
          <a:xfrm xmlns:a="http://schemas.openxmlformats.org/drawingml/2006/main">
            <a:off x="628650" y="2591777"/>
            <a:ext cx="5048250" cy="258884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DF2C1-02E2-47CF-956A-CF501CB3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578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同一次配对，两端分别确认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30086-E7EC-4170-917B-8012408A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526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手机确认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341979f1e48c0"/>
          <a:stretch xmlns:a="http://schemas.openxmlformats.org/drawingml/2006/main"/>
        </p:blipFill>
        <p:spPr>
          <a:xfrm xmlns:a="http://schemas.openxmlformats.org/drawingml/2006/main">
            <a:off x="7232820" y="2171700"/>
            <a:ext cx="3346111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4946-A843-4BE4-BB70-4237A59E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短码是关系材料摘要的可读表示。配对码用于加入邀请，两者承担不同职责。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1DFF4-FF91-4531-856D-5EA7270A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83bdd25f79541f7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264626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A3768-F645-48DB-933C-C0701BF4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绑定演示 3：签署关系，后续逐次授权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85807-674B-44A0-8499-BCE94C75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绑定完成后，Agent 获得提交请求的关系资格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E38A6-F993-44E8-8934-28427E41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3962FA-AC84-4675-BB88-3211B61C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手机签署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61AA1D-230C-4362-9387-7BA2342D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1857375"/>
            <a:ext cx="600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手机签名覆盖 Agent 公钥、手机公钥、范围及有效期。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3A813-5CC8-4DEF-9941-91F2E95B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D4272-2E2E-4BEC-B1E2-81CC0F7D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800350"/>
            <a:ext cx="600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 对同一关系摘要签名，证明持有对应密钥。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D70C1-E8C9-4822-B729-A2F94484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见证核验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51E7CD-7280-460D-A7F8-50577F1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743325"/>
            <a:ext cx="600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服务核验双方材料一致，签发配对见证。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BA40F1-4A5E-4B93-A159-9E29E3DA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4573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绑定完成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A46ED-6EF0-41F9-9FEE-A776241B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686300"/>
            <a:ext cx="6000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手机列出已绑定 Agent。每项业务仍需独立授权或有限规则。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40b9353d1441e"/>
          <a:srcRect xmlns:a="http://schemas.openxmlformats.org/drawingml/2006/main" l="0" t="16708" r="0" b="167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01125" y="1762125"/>
            <a:ext cx="2552700" cy="3952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0B56D-E3DA-4618-90CD-05C87F3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当前指纹确认是模拟交互。配对签名与加密是真实实现。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DB69D-A5F6-41ED-9BDA-2BFED540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16ca8829e5642c6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3234666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1D547-B406-48E9-86D7-B531B2E5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密码学绑定的具体层次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AF9B5C-2C86-447F-8329-0161097D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判断其他方案是否具备同类能力，需要先说明绑定对象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3E122-AA79-4DAF-87CA-77BF529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667250"/>
                <a:gridCol w="4210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绑定什么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服务传输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 服务地址与证书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保护到服务的连接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双方公钥、binding_id、用途、有效期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明确哪个手机与哪个 Agent 形成关系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双向消息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签名后加密，含绑定及收发方标识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验证消息来源，限制跨关系替换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行动与内容摘要、范围、有效期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资源端将批准与实际执行逐项比对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08D73-B29E-4709-8A38-C6A4203BB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“使用 HTTPS”“设备绑定到账户”“用户与 Agent 关系绑定”“行动绑定”应分别比较。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28486-E56C-40E4-90F5-B7700C2C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db886427cea49c7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6543487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90522-2FD0-44A3-B2BF-A8A60537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当前产品功能与实现边界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45939-5340-41F5-958E-7C2BC83A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截至本次部署和实测，MYA 仍是 Web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4A2B7-862D-4E1F-BF81-22AA6397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143250"/>
                <a:gridCol w="4448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当前状态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配对、加密、签名、见证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已实现，真实密码学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双端短码确认，Demo 凭证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修改、批准、执行、回执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真人流程已跑通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只投递演示收件箱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有限自动规则、例外转人工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已实现，自动测试通过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规则需用户单独启用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多 Agent 关系管理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代码与界面支持多绑定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本次真人验收仅绑定一个 Agent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687705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审批侧调查 Agent、DID/VC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后续扩展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当前建议与指纹交互为模拟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83618-E0EB-4BA6-AE34-6E39D6D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尚无真实生物识别、手机后台可靠唤醒、组织多级审批或生产级恢复能力。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124C9-BB58-4E85-AD27-EB41B583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ccb7c6f23294c4e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1955537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3A196-B84C-48F6-AA3E-611D3D52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部署角色与授权凭证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57184-361D-4FEC-89AD-539BC9A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运行位置可以分开，安全职责也应分开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E8A6D-9499-44AF-A5D6-5D8F2B7A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857750"/>
                <a:gridCol w="3162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角色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负责什么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 上的 Codex 与 CLI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准备最终内容，提交申请，等待决定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冻结内容与请求编号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手机上的用户与审批伙伴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审阅内容，修改或批准，单独授权规则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单次授权或有限委托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 的见证与消息服务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核验配对材料，转发加密消息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关系凭证、见证签名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资源端执行 API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校验范围、时效、撤销、重放与内容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签名执行回执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9CF607-57EF-4B34-88AB-B8BB265B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关系凭证说明谁有资格申请。行动授权说明这次能做什么。执行回执说明实际发生了什么。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CA4FF-E481-4D63-A46D-8AAD4F58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5b26793d2b34525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226213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5FE4DE-1374-470C-B0AE-084B4A3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真实验收：用户要求修改后再授权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77530-F6C4-4A34-90A3-DA2E0339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Oracle HTTPS、PC Codex 和用户手机已完成一次修改闭环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35620-8A0E-4E42-AE1B-1C4D24BB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97D02-7CA5-4810-B92D-189D58CA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原申请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FA143-F7D2-470D-8850-49ACFBA6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57375"/>
            <a:ext cx="604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项目进度 60%，附带合成内部成本 120,000 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B6EFF-CE0F-478D-B3C9-9651F06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C2DFE-32F0-42CF-9CDB-8B492397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790825"/>
            <a:ext cx="604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移除内部成本及个人信息，使用固定进度模板。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41768-7947-4BD4-9067-0B18AF3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关联修订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E7ED8-8061-4D2C-9697-E9AE5143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724275"/>
            <a:ext cx="604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新请求关联原请求，只保留项目进度字段。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564EA-296B-4356-95D4-FF20169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39412-2C4B-4EBB-BBBA-773228DA2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657725"/>
            <a:ext cx="6048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手机批准后执行，独立查询回执确认送达。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5598f3edca4eb8"/>
          <a:srcRect xmlns:a="http://schemas.openxmlformats.org/drawingml/2006/main" l="0" t="33100" r="0" b="331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762125"/>
            <a:ext cx="2628900" cy="3952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F91BD-983B-4F80-BB85-2271F39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右图来自本次公网自动测试。同类真人修订请求：bd4ba443…，回执结果已确认。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2A1ED-59C2-47D8-94A1-1A51F7D8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6e3ca76cfb241bf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0241291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476E4D-F073-432F-9C46-43B90CEE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有限自动审批与例外处理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1C1EC-9A1A-4270-AF8F-F5BD29D9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一次批准不会自动成为长期授权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B9DF3-B216-4C24-BD3A-76DD06C3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EEE82-D274-4CE0-ADD5-47F2337B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B8E2C-E78B-4FB3-9F29-EBD3285D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857375"/>
            <a:ext cx="595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根据已审阅记录起草，用户核对后单独启用。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EAAD3-5F66-496C-AF4D-9F55C24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FCF69-8978-47FA-9341-86BD6689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790825"/>
            <a:ext cx="595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限定接收方、项目、固定字段、次数和有效期。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B3331-5A90-4AB3-948A-FB723E55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2427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例外回退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409FF-BE77-451A-93E0-25A7C639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724275"/>
            <a:ext cx="595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换收件人、出现未知字段或超范围时转人工。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5DC41-9099-4A35-A91F-1647B614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随时收回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BE690-9EFB-46B3-8F1A-33B1B48A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657725"/>
            <a:ext cx="5953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暂停规则或撤销关系，执行端重新检查状态。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a4503196341de"/>
          <a:stretch xmlns:a="http://schemas.openxmlformats.org/drawingml/2006/main"/>
        </p:blipFill>
        <p:spPr>
          <a:xfrm xmlns:a="http://schemas.openxmlformats.org/drawingml/2006/main">
            <a:off x="9270421" y="1771650"/>
            <a:ext cx="1804559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CEBA2-8B3E-456B-85F7-71588F5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已实现并通过自动测试。本次尚未将真人规则启用作为完成项。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07C89-B12B-4F0B-94E1-6CF6B926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e5fc86efba64cac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2415272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8B213-EA00-4790-A4E3-CA2F2C6B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安全优势成立的条件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7EEE5D-29A6-4A5A-BB0E-D72B3FA9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带外通道降低主会话中的干扰，强制授权必须落实到资源端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6A0F8-46D9-4C2B-A688-BE3BD854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52B10-8FED-4BAD-BE52-1AC1307A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明确作用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86E63-2261-4796-9A18-9FBF5DF6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手机展示并签署具体对象，执行 Agent 无法凭聊天中的“同意”替代授权。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F17CE-A79F-4AC7-8598-7968AFE4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强制边界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44597-BDFD-4030-8BB6-FE0A29AF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资源端拒绝无授权、内容变更、过期、撤销和重放的请求。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1DBE8-D632-42DD-AA1F-DA10AE52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绕过风险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5490B-18FA-41B3-B257-7266DBA4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若 Agent 仍握有直连凭据、管理员权限或其他发送入口，就存在旁路。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1F418-906B-4774-824F-53196DBD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当前限制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91B07C-A24E-46A8-A209-52DEF320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同源网页可更新，指纹为模拟。带外本身也不等于抗钓鱼。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6DC9F-EDFE-4D2A-A577-1193142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推荐表述：对已纳入授权验证的资源接口强制执行审批。避免宣称整个电脑“不可旁路”。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4BFB4-A72F-4CEE-AE64-22A33063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75ed7e98938472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8c57745d7d4916"/>
              </a:rPr>
              <a:t>NIST 63B-4</a:t>
            </a:r>
          </a:p>
        </p:txBody>
      </p:sp>
    </p:spTree>
    <p:extLst>
      <p:ext uri="{BB962C8B-B14F-4D97-AF65-F5344CB8AC3E}">
        <p14:creationId xmlns:p14="http://schemas.microsoft.com/office/powerpoint/2010/main" val="1755024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D6C1D-76F6-4434-9C79-2BDE6CB6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审批分支：容纳小范围往返决策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8B90F-9FDC-4909-B52D-5164E25A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当前已有修改反馈。多轮问答、调查与替代方案属于下一阶段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02961-32BC-41E9-A2CE-DF14C7C2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4DE30-25B9-43FF-94E0-34244A0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D07D1-3220-4B3D-912B-92421E12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申请向合作方发送报告，附最终文件、对象与业务目的。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A736A-81E4-4D1E-AA45-1B46D12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B95B2-FC5E-43D9-8B8F-E17C637A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发现成本附表。可只发送进度，或改成需保密协议的受限附件。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DD7D5-EF6B-4EAE-A560-A9A253B6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6FFDB-8DC7-4444-85FB-A5010C2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先查合同要求。我只希望同步进度，不披露报价依据。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83C105-0965-4002-99A6-D4873020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回到执行侧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66CD7-21FF-443B-A6E3-676F6BF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只返回必要约束和已确认方案，生成新版本重新申请。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BD459-469B-4B0A-987C-7664ECB6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每条分支绑定请求和版本。讨论记录保留在审批侧，最终授权仍需明确动作。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2E74E-A223-43B2-800D-DD0F9007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5ccaf63b3984f53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7393460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CB70D-5793-4664-8CBA-6C0572F4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 Agent 的独立性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1CB62A-6337-4646-9952-6EE6C19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第二个模型只有获得不同证据和清晰职责，才可能减少单点误导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BA4F58-81FE-4233-B130-A0309DE9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629150"/>
                <a:gridCol w="44386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审批侧应做什么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需要限制什么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取证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查合同、策略库、账单、监控或官方渠道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不只复述执行 Agent 的摘要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区分事实、推断、未知项，展示来源与时间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不把流畅解释当作可靠证据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反建议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提出缩小范围、延迟、替代收件人等方案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不私自修改最终执行内容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帮助用户比较代价，保留不同意见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不持有任意执行权或无限自动授权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C850E-4117-467A-8DE8-38BCB6E6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独立目标、独立信息源与权限隔离，比“用了两个 Agent”本身更关键。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26F99-076C-4AFC-85DE-BA501C66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d87cfa4c0e74fe1"/>
              </a:rPr>
              <a:t>NIST AI 600-1</a:t>
            </a:r>
          </a:p>
        </p:txBody>
      </p:sp>
    </p:spTree>
    <p:extLst>
      <p:ext uri="{BB962C8B-B14F-4D97-AF65-F5344CB8AC3E}">
        <p14:creationId xmlns:p14="http://schemas.microsoft.com/office/powerpoint/2010/main" val="240291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7679C-6452-4ABA-ADC6-EE7B5453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多 Agent 绑定与用户关系管理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8696B-2173-49E7-9143-ECC2E727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统一入口需要持续的关系治理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23A7EE-392D-45FA-B49B-DF49678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F2141-4AB7-4C6A-8F3D-9D4CEC87C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用户视角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C20C2-DC41-44A1-BA69-08DAF134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在一个入口管理开发、财务、采购和生活服务 Agent。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1FB114-8BF1-47F3-93AC-996213CE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关系维度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4F7CF3-3DBD-4A20-BE16-4C28BA7D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分别记录所有者、组织、用途、允许申请的业务范围。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AC301-545B-477A-9647-3C8390B4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授权维度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8E38D1-3BFC-415B-BB69-61830EDB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每个关系独立限额、有效期与审批策略，避免权限互相继承。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EE28A-7973-4488-85C7-B6B7C431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生命周期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B712B-E204-43A6-9DB0-2D7B2B4E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支持撤销、换机、离职、密钥轮换和恢复后的重新验证。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726300-CDB8-4402-A1BD-C4F01562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当前支持多绑定结构与列表。组织归属、恢复和跨租户治理仍需补齐。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71237B-A047-46F2-BD2F-A355044B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e2c91934c75421a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3458201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4DC09-B99F-4234-8036-5372C30A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DID 与 VC 的增信位置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065B3-6C6F-445E-9660-F7ABF6A8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身份凭证可增强来源与资格验证，实际业务权限仍由资源方决定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BD69F-7954-4367-B73B-E04F9746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248150"/>
                <a:gridCol w="43815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回答的问题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的扩展方式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标识与持钥证明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当前连接的是哪一个主体？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DID 或现有组织身份，绑定当前密钥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组织与角色凭证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谁证明其所属组织、岗位或代理资格？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可信签发方 VC，验证时效和撤销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具体行动授权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此人此刻能批准这笔业务吗？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组织策略与用户授权共同限定范围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执行证明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最终执行是否匹配授权？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行动摘要、版本、执行回执关联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40BF0-7AC3-4A02-B967-8B4CA880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当前使用 JWK 指纹与 Demo JWS 凭证，尚未实现 DID 或标准 VC 互通。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9441F-8A59-45D0-BF48-386702B1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c4ad01990bc4361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88bb2a6dd14d52"/>
              </a:rPr>
              <a:t>W3C VC 2.0</a:t>
            </a:r>
          </a:p>
        </p:txBody>
      </p:sp>
    </p:spTree>
    <p:extLst>
      <p:ext uri="{BB962C8B-B14F-4D97-AF65-F5344CB8AC3E}">
        <p14:creationId xmlns:p14="http://schemas.microsoft.com/office/powerpoint/2010/main" val="12810649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877FC-CB11-40AF-9DFC-27454FDA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对接现有审批体系的方式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3AB4E-E129-4F31-AD72-CFC8852E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优先复用组织审批规则，由适配层连接 MYA 与业务系统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E44C2-4A84-43AD-8D70-61BFF41A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476750"/>
                <a:gridCol w="43053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接口层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映射内容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实施要点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交易类型、金额、对象、附件、版本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把自然语言转为可校验的业务字段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人员、角色、审批顺序、会签、替代人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沿用 OA / BPM / 银行现有授权矩阵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授权返回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外部审批单号、签名、有效范围与状态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验签、幂等、去重，批准版本必须一致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343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执行闭环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受控接口调用、执行结果与回执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同时满足组织授权和用户授权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4895B-45B8-415A-8770-7F317135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“容易对接”取决于 API、身份映射与责任边界。存在可行路径，不能承诺零改造。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1A4D7-5E3C-43B8-9431-EE3B533E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ed6095877064724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48ce11209dd4b2f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30845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1AD14-EFD3-4724-82C9-A2540624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场景模拟：开发与运维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51D0D-BF7B-46C3-BB9E-EF6A7142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示例：生产环境数据库变更，当前 Demo 未接入真实生产环境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36A82A-18E0-46BE-8819-731A51AB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BD14F-AC3C-42FA-ACC3-CA870F41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1433-BB2D-4D64-9BBF-9CC60FE0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拟给生产表新增索引，现在执行。附变更内容与回滚步骤。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FC38-A515-4E09-B319-B9200790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EF4DF-F6ED-42C1-B400-3EC08F1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独立读取负载、锁表风险和备份状态，发现仍处于业务高峰。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4DBEB-24E8-4EB4-9E4F-46E867BE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值班负责人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1F6DC-9BB2-4629-AC97-E9F3091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改用在线建索引，安排到维护窗口，先补一次演练证据。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92ABF-9F4F-458A-BB9E-60326C62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受控执行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63520-DFB7-45E4-AFD5-E5AC5ED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对新计划重新授权，只允许指定集群、操作和时间窗。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F7507-59DA-4A5B-8D03-81723782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预期价值：减少误操作与补材料往返。前提：执行凭据只能通过受控入口使用。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8B28B-17DD-42AF-9A9D-CD7D1AB6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a4faf2dcd2a4adf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20160367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AF0DA6-1CD2-48A4-AB95-9C17946A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场景模拟：银行运营人员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B644C-D277-485F-9D3D-3892162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示例：企业客户手续费退费，金额与规则仅作业务示意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600A1-2760-4ECA-8446-1B4EFE5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1751D-9135-4A57-B1D2-8E85C5C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77F5B-C10E-49D3-8329-566615A4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发起一笔异常退费，提供客户信息、计算依据和相关流水。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27D1D-2897-4D3E-B28A-9D4B6EC6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审批侧伙伴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CC8B4-99F8-458B-9165-1B68224A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从受权账务与条款库核对，发现另一渠道已有退费记录。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03F0D-5A50-447F-8E67-9AE7D537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运营复核人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6E9A-AFEC-404C-B684-AD6E4C9A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暂停当前退费，先合并重复工单，并补充客户适用条款。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44B50-A904-47B0-BEDB-E71FD9DD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审批与执行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D3268-279C-42A1-A244-832937DD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修订后按岗位权限分级审批，账务端校验唯一业务号和授权。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FD8D77-59F5-4579-93C1-BAEEAB09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预期价值：辅助识别重复处理和依据缺失。接入需满足银行既有内控与数据要求。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996BB-0A27-4A8B-BA6F-A122E16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e415f4d09d546a6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6391155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085C96-8DBE-44D4-A279-77EF9F1A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场景模拟：企业客户多级审批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BDAF9-26E6-48E8-97B5-2B97200C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示例：企业采购 Agent 提交付款申请，跨越业务、财务与银行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75F2C-647D-421B-BC8E-CB990F1B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664E2-2880-402F-B03B-CACBE5C1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采购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5CF2B7-504D-431C-874D-41B805C4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提交供应商付款申请，附合同、验收记录和付款明细。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11918-8EFA-4B86-8077-6EEE021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业务负责人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9F6ED-959F-4493-8EE6-EC5984C6D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审批伙伴发现验收范围不一致，要求只支付已验收部分。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344BE-6FCF-44DC-87FC-C29B065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财务与授权人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4D193-D16E-48FA-A8C3-94E5344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财务核对税票及预算，授权人核对账户变更与付款权限。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ED3E1F-AEF3-45A7-B0D3-FF625946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银行执行端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F085B8-8EE5-42FB-9DC5-AE328B87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接受完整审批链和最终支付对象，变更金额或账户则重审。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7F620-2C07-4051-B14B-4E316908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多 Agent 绑定可统一入口。多级签署、审批矩阵与跨组织身份仍属于扩展。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4439B-1611-4DFC-BC4E-05F7D3AF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7fd715e201248ce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1172474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C1E22-6C9C-4D63-9E91-B447156D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场景模拟：个人用户与反诈辅助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F1239-9FD2-41C4-9C10-980D42A9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示例：生活服务 Agent 请求支付，审批侧发现异常收款对象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E9021C-B96D-40D2-9833-3CBAF208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0AFDF-FD9A-44B6-9956-A8C427CA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服务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F4163-0931-4948-A015-9137B1E3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8288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请求支付一笔服务费用，收款方与历史订单不同。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3EDDF-59BE-46A1-9C28-4189E4F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9082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用户侧伙伴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22E8A-939A-47C4-AFCA-7C3A850C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908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对照订单、可信联系人与官方渠道，提示账户变更和催促迹象。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CA9231-4E90-4D16-ADED-87F07756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606D7-F91B-4036-B40C-998462E6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528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暂不付款，先通过已知官方联系方式核实，再比较替代方案。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07D52-49C3-48F3-A923-5B0E49B0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14875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后续处置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773D3-82D5-4890-A934-7912BE26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148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高风险申请进入冷静期或人工协助，核实后生成新授权。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2ED9B-CB23-4067-B39D-1978E067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可增加核验与犹豫的空间。不能保证识别所有诈骗，也不能防止用户主动误批。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34DC0-559B-47EA-AA04-544B2BFC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dd3fd2d6259433a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201923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7BD7B-32EF-4B4F-8B71-EECE3E3D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双 Agent 也会引入新的失效方式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0FD4C-273E-4BAF-98BE-BD2715DC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决策辅助需要明确“知道什么、不能决定什么”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7367E-488C-488C-B74F-7A5A436E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9D3E1-3CC3-4B9C-A50D-62E572AE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共同误导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F28F7-3E4C-4E72-8F58-1DCEB70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共享同一错误来源，两个 Agent 可能得出相同错误结论。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21097-769B-4B9E-879E-36D6E8B4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审批疲劳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B95CC-23BE-459C-BCBD-ACB5DE3B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通知过多、建议总是“可以”，用户可能习惯性点同意。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CF192D-317C-4B40-A59F-7B898055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权限混淆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F2C87A-2B38-4B29-8071-797B85F7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审批侧若同时可改收件人、扩大范围并执行，会削弱职责分离。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BE9A7-E8E6-4B2F-811E-86C85D56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记录与隐私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FBA7B-B79D-42E5-A682-A43D83AC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独立分支也会积累敏感材料，需要保留期限、导出与访问控制。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87CA5-CC1B-4F33-8573-6B887EFA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缓解方式：独立证据、风险分级、最小权限、明确未知项，持续测量错误批准。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36567-442A-4533-B615-4F753720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d9b27d5eec24be0"/>
              </a:rPr>
              <a:t>NIST AI 600-1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122812374264ef4"/>
              </a:rPr>
              <a:t>NIST 63B-4</a:t>
            </a:r>
          </a:p>
        </p:txBody>
      </p:sp>
    </p:spTree>
    <p:extLst>
      <p:ext uri="{BB962C8B-B14F-4D97-AF65-F5344CB8AC3E}">
        <p14:creationId xmlns:p14="http://schemas.microsoft.com/office/powerpoint/2010/main" val="13486633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7613CF-B5D1-4EFF-8949-ED4167A0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差异化调研结论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6A937-454D-448D-BFA9-D6548B64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核心能力成立，排他性需要按比较对象判断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51CF8-9C7A-400A-8022-ED7DDD49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295BC-4B9A-4F4C-A18B-81E03785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流程工具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1367E-7DF5-4359-BF99-1FFBF84A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LangChain、n8n、Power Automate 的所查功能文档未规定用户与 Agent 的加密配对。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837C6-D63F-493C-8A1C-43DBFB9E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认证与交易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EF3BB-667B-4E8D-81E2-223EA012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Auth0、OneSpan、FIDO 和 SPC 已覆盖远程确认、设备持钥或交易绑定中的多项能力。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36A72-1CA9-4B3C-BA87-5FF571DC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直接相邻产品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FE2530-DB7C-4535-A03F-D517D6D4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已使用 AI Agent Authenticator 定位，宣称手机签名与执行门控。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0AD8C6-8508-42B7-85E3-0A51A2B7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MYA 的机会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CB03D-A0CC-4B58-8357-8749B09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具体关系、双向审批消息、行动凭证与用户侧决策伙伴形成组合价值。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EEADF-8905-4B4C-9A92-5C1F5AF5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基于官方资料与公开代码。未测试竞品，也无法从文档缺失推断产品绝对不支持。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D906E-53E2-4D3A-BAD3-937EBABB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c76b084ba0e4fab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a5dc4fb6f234c8d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08060dae45c4efe"/>
              </a:rPr>
              <a:t>AgentPass 官网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3de241765c747ee"/>
              </a:rPr>
              <a:t>LangChain HITL</a:t>
            </a:r>
          </a:p>
        </p:txBody>
      </p:sp>
    </p:spTree>
    <p:extLst>
      <p:ext uri="{BB962C8B-B14F-4D97-AF65-F5344CB8AC3E}">
        <p14:creationId xmlns:p14="http://schemas.microsoft.com/office/powerpoint/2010/main" val="155843919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49B8B-A024-4970-AB3A-8F543B7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流程型方案的比较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E5776-7AF3-4528-B637-4EDE3A02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此表比较所列功能文档的默认职责，平台可通过扩展增加能力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600A2B-60D5-4019-9EB3-9DB70CD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0800"/>
                <a:gridCol w="3838575"/>
                <a:gridCol w="4543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公开已有能力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 MYA 关系通道的差别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LangChain HITL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工具暂停、修改、拒绝与恢复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该中间件未规定手机与 Agent 密钥配对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n8n 人工审批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工具执行前审核，多种远程渠道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该审批功能未规定关系级端到端消息加密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Power Automate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组织身份与顺序审批流程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该流程文档未规定每个 Agent 的独立密钥关系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Demo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关系配对、消息签名加密、行动授权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资源端已核验，组织编排与持久恢复待补齐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41B564-9AE2-46EB-83CD-E2561189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可以主张：MYA 显式提供关系与消息层能力。不能由此推导现有平台弱认证或不能接入。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D5E9E-1670-4680-BC56-FEF4B90D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bff94549f7e4932"/>
              </a:rPr>
              <a:t>LangChain HITL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4d91417bf2f4a69"/>
              </a:rPr>
              <a:t>n8n 人工审批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f2e509324f5404b"/>
              </a:rPr>
              <a:t>Power Automate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0b3f0355e5b4072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6941401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EB90C-D02E-40FA-A068-1617F498F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Auth0：远程审批与持钥确认已经存在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26D55-7A80-494F-8365-5DFFA83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CIBA、Guardian 与 RAR 是需要正面比较的组合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27EF5-63FA-47F0-80BC-9B2FDF74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00275"/>
                <a:gridCol w="4429125"/>
                <a:gridCol w="43434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官方可核验的能力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比较边界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CIBA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 Agent 发起，另一设备授权，异步返回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身份提供方协调授权流程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Guardian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二维码登记设备密钥，签署批准或拒绝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绑定对象主要是设备与账户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向用户呈现结构化授权详情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资源系统需落实字段与权限约束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关系通道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用户与具体 Agent 的密钥关系，消息签名加密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可区别信任关系与消息模型，不能称密码学独有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7F1E5-1035-4EDF-AE4E-7922959F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CIBA 的 binding_message 是给人核对的关联信息，其名称本身不表示长期密钥绑定。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123E2-0B6B-44E8-8BB7-942D4345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227e819d1e94a23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909bc067ff8427c"/>
              </a:rPr>
              <a:t>Guardian SDK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405481659854c6a"/>
              </a:rPr>
              <a:t>Guardian 签名代码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bf57639f7264de8"/>
              </a:rPr>
              <a:t>Auth0 RAR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9ee7827b0c14082"/>
              </a:rPr>
              <a:t>OpenID CIBA Core</a:t>
            </a:r>
          </a:p>
        </p:txBody>
      </p:sp>
    </p:spTree>
    <p:extLst>
      <p:ext uri="{BB962C8B-B14F-4D97-AF65-F5344CB8AC3E}">
        <p14:creationId xmlns:p14="http://schemas.microsoft.com/office/powerpoint/2010/main" val="120084428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3CDA2-983B-465B-9CE0-E7B238B2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交易签名与跨设备认证的已有基础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7D1FF-86B7-4683-B24F-8F50EEBB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这些机制覆盖不同绑定对象，不能归为“都没有加密绑定”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39A16-846D-4EAB-9D14-1D2C1C08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57700"/>
                <a:gridCol w="422910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已公开的相关能力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OneSpan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扫码查看交易，安全通道签署单笔请求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账户与交易审批，已有银行场景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FIDO Passkeys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账户凭据公钥绑定，跨设备安全通道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跨设备登录要求物理接近，非任意距离审批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W3C SPC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形成用户确认交易详情的密码学证据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支付专用，2026-07 版仍为候选推荐草案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Google AP2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用签署的授权材料记录购买意图与购物车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Agent 支付授权，未规定通用审批会话通道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6B7F2-9A1E-48E3-AFAF-29DBD5C9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MYA 可复用成熟认证与交易机制，将产品重心放在用户与 Agent 的持续审批关系。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269DE-B5F5-4743-8A3B-E8609C3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d139a4f26e94a09"/>
              </a:rPr>
              <a:t>OneSpan Secure Channel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88c6b7c7da44a4"/>
              </a:rPr>
              <a:t>FIDO Passkeys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baec6dd95f84f87"/>
              </a:rPr>
              <a:t>W3C SPC 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b5ec102aa494789"/>
              </a:rPr>
              <a:t>Google AP2</a:t>
            </a:r>
          </a:p>
        </p:txBody>
      </p:sp>
    </p:spTree>
    <p:extLst>
      <p:ext uri="{BB962C8B-B14F-4D97-AF65-F5344CB8AC3E}">
        <p14:creationId xmlns:p14="http://schemas.microsoft.com/office/powerpoint/2010/main" val="77130806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4687E-429E-474F-AC20-DA92FFD2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AgentPair 与 AgentPass 的直接启示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F868-86E2-4F63-993E-6722914F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已有协议与产品覆盖配对、加密或 AI 手机授权的相邻部分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3586D-C353-411E-B21D-EDF95B3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CDDBE-7750-497D-A18A-911A924A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DD793-B62F-4DD1-80CE-BFA4898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公开草案包含 SPAKE2 配对、端到端加密、持久对等关系和人工门控。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5A708-EA81-44BE-B156-05C4519E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范围区别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91FFE-9693-42FB-B10E-F314C062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其主体是代表不同人的 Agent 互联。MYA 聚焦用户审批端与执行 Agent 的关系。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B6130-1163-4AC1-B53F-9408B0DF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826AB-F7BD-411F-82CE-B7484D0F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官网宣称二维码登记、手机硬件密钥签名、分级门控及审计。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F523C-6BA3-434F-B6C0-CEB45A30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B261E-57C5-4A31-BC67-ABA3EB1D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AgentPass 的交付成熟度、通道协议与实际防绕过效果尚未独立验证。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9485E2-8EEE-4CAB-A7D5-11444F67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“AI Authenticator”已有同类命名。MYA 应保留品牌，并用实际能力定义产品。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909AB0-DA2E-4189-8646-2B93341C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5c87b3fccb94b59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8a1d14ab8804568"/>
              </a:rPr>
              <a:t>AgentPass 官网</a:t>
            </a:r>
          </a:p>
        </p:txBody>
      </p:sp>
    </p:spTree>
    <p:extLst>
      <p:ext uri="{BB962C8B-B14F-4D97-AF65-F5344CB8AC3E}">
        <p14:creationId xmlns:p14="http://schemas.microsoft.com/office/powerpoint/2010/main" val="20070974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9BB0E-5AB3-433A-9F38-F2C42680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MYA 可主张的组合差异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544C6-C67D-4E66-8628-DB6653FA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产品判断：围绕用户持续掌控 Agent 行动，形成可验证的业务体验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99DD79-F133-4127-B227-FBF6EBBE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5430B-3049-43D7-8A64-4435F354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关系归属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AD807-1DD1-416F-A0BE-F74A3146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用户明确认领某个 Agent，独立管理用途与撤销。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FF79-EE74-4E4D-B9AF-0E98CF1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可信交互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0FD97-821A-484C-B53C-552A2E8D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审批消息关联这段关系，并为批准的行动提供可核验证据。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99E5D-D881-40F9-BEE8-A5E49BC1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决策分支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2E7B2-66D0-400A-BF21-36AB619E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用户侧伙伴读取独立信息，提出反建议，保留修订依据。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43A9B-FCF7-491A-9CDA-CD81BC79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跨场景接入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7D72A-A830-45E9-AADE-9527751D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统一手机入口，多种 Agent 适配器，复用企业已有审批规则。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C05B7B-98FE-4540-B7AD-98D97B9E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现有代码验证了前两项的 Demo。后两项应通过产品实现、集成与对照试点证明。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747FF-A02A-4819-A3E4-BC2F08E1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8da7c0513a04ca6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f546c860f5b4c44"/>
              </a:rPr>
              <a:t>Auth0 CIBA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8125396de121466b"/>
              </a:rPr>
              <a:t>AgentPair 协议草案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ef61a7cf5884175"/>
              </a:rPr>
              <a:t>AgentPass 官网</a:t>
            </a:r>
          </a:p>
        </p:txBody>
      </p:sp>
    </p:spTree>
    <p:extLst>
      <p:ext uri="{BB962C8B-B14F-4D97-AF65-F5344CB8AC3E}">
        <p14:creationId xmlns:p14="http://schemas.microsoft.com/office/powerpoint/2010/main" val="2478931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69533-8C61-46CC-BB4B-CACCD4B7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场景价值与进入顺序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DB12A-B168-4B19-8284-A06C3866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定性判断，尚无用户规模、收入或 ROI 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FB92D-A7F6-45A1-95DD-7A47C2DD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28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095625"/>
                <a:gridCol w="3114675"/>
                <a:gridCol w="18097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场景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价值假设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主要门槛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研发外发 / 运维变更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后果明确，易比较错批与往返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资源入口和凭据隔离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企业客户业务审批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跨角色材料核验与版本一致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组织角色、审批矩阵、外部身份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第二阶段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银行运营辅助复核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重复处理、依据缺失的识别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受权数据、模型治理、内控集成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联合试点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个人生活与反诈辅助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理解复杂请求并增加核验机会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可靠信息源、误报、分发成本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限定场景探索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4A5D5-FFEE-4A5D-8B0B-30B185FC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选择标准：能控制执行入口，能获取独立证据，能观察到决策质量变化。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B4B00-3A39-4717-8B4D-BEF42857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96cf37c5e624395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4784717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1B69F-9C02-45AF-B096-FB0049E7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试点验证：比较审批质量与完成成本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643F9-8B11-45D5-8840-142ACCD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同一组业务案例，比较现有流程、MYA 确认、MYA 独立辅助三种方式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E6FE6-AD5F-4602-AEFC-073CC6611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47975"/>
                <a:gridCol w="3429000"/>
                <a:gridCol w="46958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观测指标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验收要求或判定方式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能否强制执行授权？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无授权、篡改、过期、撤销、重放测试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定义测试集内全部阻断，不能证明零未知漏洞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是否减少错误决定？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预置风险检出率、误报率、错误批准率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与基线盲测比较，由业务专家复核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是否减少用户负担？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主动操作时间、补材料次数、审批周期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同时报告效率收益与新增等待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能否持续完成任务？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恢复成功率、重复执行、回执覆盖率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手机确认后自动续接，无需再回主会话催促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872D0-8F45-4A97-B233-8AC8A16B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先用合成案例与受控测试，再进入真实业务。所有收益必须测量，当前不承诺比例。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642A6-2413-4EA1-8BAE-466BA63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5befb3b67ca48d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ba17cd3406f4eab"/>
              </a:rPr>
              <a:t>LangChain HITL</a:t>
            </a:r>
          </a:p>
        </p:txBody>
      </p:sp>
    </p:spTree>
    <p:extLst>
      <p:ext uri="{BB962C8B-B14F-4D97-AF65-F5344CB8AC3E}">
        <p14:creationId xmlns:p14="http://schemas.microsoft.com/office/powerpoint/2010/main" val="156617883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CF0BC-7676-474B-BF5E-EDC2AEC7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产品路线：先稳定闭环，再验证独立决策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83F46-4482-4C99-B9EC-2C76BECE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每一阶段都需要可验收的边界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894C6A-966A-4505-8409-4E053B02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A8BED-4C37-424A-A3C6-D91317C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当前基础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EBDC7-A47E-4243-898C-565C14BB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保留已验证的配对、修订、精确授权、执行回执和有限规则。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6F8B7-7BB5-4321-A7FD-DCA5FAE9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9B6C-994E-4405-BDD4-A61B9EA09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持久等待与恢复，版本差异展示，多轮审批分支，独立只读取证。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CD985-7ACC-4777-BEF1-6220A1B0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组织接入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5E051-4078-4847-A3C1-8EDB6583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SSO 与角色映射，多级审批适配，受控执行入口，企业审计策略。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C81CB-80FB-4913-98CB-5D758096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扩展验证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FA22B-819E-4E5C-A351-1867FDEA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按需求加入 DID/VC、设备恢复和强认证，试点客户或个人场景。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A1EFDF-4DB9-4EA4-8B9D-61639421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下一次演示重点：审批侧查到新证据、提出更好方案，执行侧无需用户催促即可完成。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620AC0-B54D-493C-8F12-34AF28FA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2c8f0a387d64793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47563382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837EA-8BEC-4CA2-956A-9483F9E0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AI Authenticator for Any Agent 的含义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20AA-EDE9-4DA6-81D4-57E16C07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建议保留 MYA 品牌，把英文总标题作为产品愿景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B462D-5A0D-450C-B6BB-3513B933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03DE1-AF88-4B99-8D10-760C35B1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Authenticator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171C7-C224-4691-A151-5C92F4FF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强调持钥验证与用户确认，同时用中文说明具体行动授权。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3E506-C01A-49FD-8349-803525D6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5432A-E5C8-42FA-AAEB-F30C607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194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面向 AI Agent，也规划用户侧智能辅助。当前调查建议仍为模拟。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95359-6AE3-41EF-8E34-56F33302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814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Any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CFC42-FDC0-46E2-84F2-3882597A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814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表达协议和适配器方向。目前完成 Codex 验证，新增 Agent 需要接入。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C3C50-2FE1-471C-8446-404D92D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434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中文解释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58E8E-EFEC-4ED0-AF4C-601EE7AF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7434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用户侧的 Agent 认证与授权伙伴，提供远程可信审批和决策辅助。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A27957-5E6E-4D89-9226-2ECBEF92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推荐对外标题：MYA    AI Authenticator for Any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96291-D36F-4AB4-B81A-78176715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b3036198ef740b5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23a64b4825c478a"/>
              </a:rPr>
              <a:t>AgentPass 官网</a:t>
            </a:r>
          </a:p>
        </p:txBody>
      </p:sp>
    </p:spTree>
    <p:extLst>
      <p:ext uri="{BB962C8B-B14F-4D97-AF65-F5344CB8AC3E}">
        <p14:creationId xmlns:p14="http://schemas.microsoft.com/office/powerpoint/2010/main" val="3280932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6137A-4033-4CB0-8228-A801E7AC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FCF3E-A5BC-44F7-AEE7-6C86B16C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E890D-06E8-439C-9929-DD40D0BE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1EC17-1395-4047-9886-0233AF39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1–31 页（实现部分）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0E96-A039-465F-8E5B-BB5C7127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7c9892e57594c00"/>
              </a:rPr>
              <a:t>mya_demo，实现与部署验收（提交 9471309）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1A1C6-E114-4464-8BAD-851E3ECE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本次部署与隔离测试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2FCAA-9B9F-41B6-836C-F8D405A7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22–23、29 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BFDDE-889B-4BCE-9A88-A1FEBFF8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14e3d26afa674a3b"/>
              </a:rPr>
              <a:t>LangChain，Human-in-the-loop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9E34B7-ECFC-42AE-8E5A-A59C1A2B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3D849B-4FAE-4356-BC1C-CE091CDE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23 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EA19E-FF13-4DC4-B650-D2A63270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df9566b88a04dbc"/>
              </a:rPr>
              <a:t>n8n，Production AI Playbook: Human Oversight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EFAC3E-9C8F-4855-B807-F3DE4C5D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动态页面，2026-09-15 查阅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C167F-0FB3-4B69-886D-391B788A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24 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FA2234-F576-4D6B-8CB1-183E2F19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9567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b25cc454d564dac"/>
              </a:rPr>
              <a:t>Auth0，Configure Rich Authorization Requests (RAR)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04E90-064A-4C77-B50C-A530DE2A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8142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A44B1-0D30-4ACF-A25A-0F35182B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16、23 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4C4FF-0DBF-4153-AD63-781CBBC7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bf41c792974402b"/>
              </a:rPr>
              <a:t>Microsoft，Set up sequential approvals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EEB7F-5B38-4DED-ACC8-7F71A7CE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E6C5D-8A4E-4ED1-8BDD-FF3EAC8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15 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CC8C0-AD70-4499-AAF4-2EAC2B8E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5772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24b4c75d16146bc"/>
              </a:rPr>
              <a:t>W3C，Verifiable Credentials Data Model v2.0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FBDCBE-83AB-441E-8D47-501634A8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4347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Recommendation，2025-05-15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77D39-B183-4DE7-BB98-6BECC99A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11、21 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B9CE0-CA26-4447-B4C7-FF73979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1eaba032cff420a"/>
              </a:rPr>
              <a:t>NIST，SP 800-63B-4: Authentication and Authenticator Management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FF424F-F5CD-48EC-8990-2303CEE7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 年版，2026-09-15 查阅</a:t>
            </a:r>
          </a:p>
        </p:txBody>
      </p:sp>
    </p:spTree>
    <p:extLst>
      <p:ext uri="{BB962C8B-B14F-4D97-AF65-F5344CB8AC3E}">
        <p14:creationId xmlns:p14="http://schemas.microsoft.com/office/powerpoint/2010/main" val="179731388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8A18F5-0236-436E-A3CF-F1FFDB3E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DB85C-B16A-482F-9552-EC56BAEFD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710F9-6469-48B6-8212-30F23DC5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45B6A-2D0F-4582-BFB2-219FA80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25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4F160-D69A-4793-A57D-0F9458D7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08f9c8a03fe4e64"/>
              </a:rPr>
              <a:t>Google Cloud，Powering AI commerce with the new Agent Payments Protocol (AP2)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7B4EF-7FD1-4AA6-B284-91D77DA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2025-09-16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FA6ED-4BB8-4EE7-9860-9694B403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13、21 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BD63D-CE95-4F40-864B-CD09B5A0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c489c739bebf4b04"/>
              </a:rPr>
              <a:t>NIST，AI Risk Management Framework: Generative AI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7517A-5C7A-4110-A60D-D2092715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2024-07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CEAA1-F029-4C5E-B2FE-6353559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22、24、27 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AEE82-0A9A-4790-9BDC-5D1040D9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5fa3c2a70c44da7"/>
              </a:rPr>
              <a:t>Auth0，Client-Initiated Backchannel Authentication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7187BE-1447-4AAF-93B0-CB3D8205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动态文档，2026-09-15 查阅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B5846-303C-4207-845D-D6E5CCB3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24 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7D869-0F49-49B4-BF1E-E76F693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9567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1e74e7201ca4216"/>
              </a:rPr>
              <a:t>OpenID Foundation，CIBA Core 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7C2CE-62AE-49B8-B22D-27C5339C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8142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Final，2021-09-01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F764B0-9184-4DB5-BA31-D5272FF6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24 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AE3BB-0ADB-4827-94A4-5C7E6EF9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9351d3f75214ce6"/>
              </a:rPr>
              <a:t>Auth0，Guardian.swift README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57BED-4946-408B-8DB6-F5AE8D0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SDK 文档，2026-09-15 查阅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9827C2-7734-4B9D-8722-C93F8750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5772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24 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B3C9E8-720C-4C16-B4A4-A23303C8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65772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06d23d9045045cc"/>
              </a:rPr>
              <a:t>Auth0，Guardian/Authentication/Authentication.swift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B1D4AA-0B80-4761-A83D-A2ED14E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4347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固定提交 5e073dce，2026-09-15 核验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02670-EF30-407E-A946-9B2FD4DF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22、25 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34CF89-7237-496E-8C3D-89D683D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23875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fc82b27697c4928"/>
              </a:rPr>
              <a:t>OneSpan，Scan and Sign via Secure Channel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008271-90DC-4D3F-8F17-860CAA55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2450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MAS 5.5.0，更新于 2025-11-25</a:t>
            </a:r>
          </a:p>
        </p:txBody>
      </p:sp>
    </p:spTree>
    <p:extLst>
      <p:ext uri="{BB962C8B-B14F-4D97-AF65-F5344CB8AC3E}">
        <p14:creationId xmlns:p14="http://schemas.microsoft.com/office/powerpoint/2010/main" val="15874301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BEDC8-27AA-4483-AF4F-4853C799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资料来源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9C260-69A4-40DA-BAB8-6D83496B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外部依据为官方材料。竞品能力未作实际部署验收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E2315-C5E8-40CD-812F-4853862E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7EB2A-C3E3-4794-8227-D16621E7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25 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E86B6-E53E-4EF9-8589-455F7BE0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5260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d201a0eae784bcd"/>
              </a:rPr>
              <a:t>FIDO Alliance，Passkeys FAQ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44606-40D1-4BF5-A3C6-6E86CD60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3835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CTAP 2.2 跨设备说明，2026-09-15 查阅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86F63F-B82F-441D-89EC-CF07ED5F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25 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382E7-B510-4763-8365-B1BBCA36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3362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8c7ad25488f43d8"/>
              </a:rPr>
              <a:t>W3C，Secure Payment Confirmation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7C227-FE6C-480F-8F49-8BF93CD4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1937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Candidate Recommendation Draft，2026-07-02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F592F-1AA9-42F5-9D15-D8FAC9CA3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26–27 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7904D-1087-456F-9865-7438EEFD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14650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73ca68ca284c4af7"/>
              </a:rPr>
              <a:t>rfxlamia，AgentPair SPEC.md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0BB06D-F828-4352-A827-4B459CAE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00400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Version 1.0-draft，2026-09-15 查阅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41F077-AD30-4245-8147-46FED591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95675"/>
            <a:ext cx="2247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第 22、26–27、31 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C855E0-753A-46EE-80F9-7F9DF062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95675"/>
            <a:ext cx="85915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efd2dd6234a3487a"/>
              </a:rPr>
              <a:t>CyberSecAI，AgentPass Authenticator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960D8-6C13-4DA3-9085-89376B7C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81425"/>
            <a:ext cx="8591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供应商公开声明，2026-09-15 查阅</a:t>
            </a:r>
          </a:p>
        </p:txBody>
      </p:sp>
    </p:spTree>
    <p:extLst>
      <p:ext uri="{BB962C8B-B14F-4D97-AF65-F5344CB8AC3E}">
        <p14:creationId xmlns:p14="http://schemas.microsoft.com/office/powerpoint/2010/main" val="7022168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C8D62-37E9-47A3-ABFA-41B1780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完整实操：从绑定到执行证据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D83A4-035F-45DF-938C-51BB2F0A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补充演示 · 2026-09-15 下午实测与 Hook 集成尝试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50BA9-8C59-488E-A9F6-2FA3C83F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AE10F-0064-4622-8F09-1C22C26C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建立关系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A9D6D-E5D3-46E1-87B6-B8FF9EE2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Oracle HTTPS → PC 核对服务 → 手机与 Agent 配对。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4C574-8004-4333-8542-CB46AC35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完成决策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57A47-BE36-4F55-920C-659FE5F0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成本报告 → 手机要求修改 → 安全版本 → 用户批准。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AA4D8-71BE-472F-82C7-827BB3A8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验证并执行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76154-084D-46D2-AF0B-C4C1B0CA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持续等待决定 → 钱包挑战出示 → 资源核验 → 签名回执。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6F5BC-A517-4D5B-953C-AD7AC194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验证门禁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37ADC-74DA-4B74-8F82-D734F42B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安装并信任 Hook → 当前会话探针未被拦截 → 明确下一轮标准。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5F5F7-0480-4C90-B3D2-DF171B4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本补充区分真人成功、隔离自动测试与未通过项；不把已写配置当作已生效。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9523F-1CA3-4812-8267-A7E3657A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20a999a7dda4d7f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5a95ca2b7e404159"/>
              </a:rPr>
              <a:t>Codex Hooks</a:t>
            </a:r>
          </a:p>
        </p:txBody>
      </p:sp>
    </p:spTree>
    <p:extLst>
      <p:ext uri="{BB962C8B-B14F-4D97-AF65-F5344CB8AC3E}">
        <p14:creationId xmlns:p14="http://schemas.microsoft.com/office/powerpoint/2010/main" val="55502387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1E4E2-1EDA-4914-9217-A2551CC7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准备：确认三端连接同一服务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F9985-CE1D-4688-A6A3-6E4B4D6E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桌面会话、PC CLI 和手机页面分别核对，避免认错运行环境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1E713-C1BB-4FFC-975B-4AAD71AC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552950"/>
                <a:gridCol w="45148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位置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现场展示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通过条件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Oracle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HTTPS、systemd、持久化密钥与数据库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服务代码 0240f65；密钥与既有记录保留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PC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 doctor、绑定列表、受信公钥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服务地址和见证指纹与 Oracle 一致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mya-esand.duckdns.org/mobile/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正确 HTTPS 入口，页面保持前台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Codex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实际承载任务的内置进程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0.154.0-alpha.6.2；不同于 PATH 中 CLI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EA754-0808-4D9F-A160-206E5614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同一服务器上的 active 记录，不能证明当前手机浏览器仍持有该绑定私钥。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902CF-CC48-4D70-BADA-078C4007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92671b7e46a474d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70380503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862F8-D925-42EE-97D7-B96DFB6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绑定排障：二维码、配对码与远程确认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93181-1AE6-4295-AA6F-903AF1CD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本次真实手机曾显示“连接第一个 Agent”，需要建立当前浏览器的关系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EEC2D-C6B9-44E2-A648-386B4E5A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167FBE-FA17-4507-9D94-6E6E7E5D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邀请加入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29033-C595-4DF5-89F0-191D43D5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PC 同时给二维码、8 位配对码和手机邀请链接。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D3FD8-BC58-403B-B6B0-02D59611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短码核对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645C1-7DE1-449A-ABE7-59E78E22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配对码用于加入；两端短码用于核对同一密钥关系。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C6A6-2A7D-4408-BD68-BF02F82B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远程限制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3B164-83B8-489F-A59A-44CFC80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127.0.0.1 是浏览器所在机器的回环地址，远程页面不等于 PC 本机。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61A2C-F2B4-42A7-969F-2CB4EBBF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本次处理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F4648A-44A0-42B0-9372-9D77DF6F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用户明确授权 Agent 代点 PC 确认；手机由用户确认，关系保存成功。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20D23-5C0B-4C6E-9A17-79D36B9E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正常流程仍是用户核对并分别确认。前面的绑定实图来自已撤销的隔离测试身份。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F3C1FC-E337-4A52-BA23-83EB9AE0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a6fac3ea9dc4cc7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61175136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6CD3C-AC82-4D8D-975C-B9250A1F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1：成本报告被要求修改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75F0A-09FE-4EDD-B063-AED33F3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审批分支保留理由，工作 Agent 负责准备新版本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EC3A3-AC40-41EC-9DB2-5DBBCBF1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372EC-D71D-4E4C-A5D1-D8CB0FF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原报告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6897B-9835-436E-B526-4EFEB633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发送项目进度，附带内部成本信息；手机显示内容和接收方。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3786D-0FD8-4F9F-84F8-0857DAC9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手机决定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FA07C-72F2-4992-A981-60667817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要求移除成本与个人信息，仅同步项目进度字段。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F0D40C-5BEB-4445-9187-49C120A9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Agent 修订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E71C3-7FF1-405C-9E2A-EA325F26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生成新的安全报告，新请求引用 supersedes_request_id。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4ECED-439D-4512-A8FB-A6BDAF81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重新授权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E5C22D-6B70-4DAA-84BB-C0A9C3B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用户审批修订版；旧请求的决定不能授权不同内容。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1720C-F477-4C11-972A-94A31D01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真人修改闭环已完成。现场复现必须创建新请求，不重用历史授权。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DB482-0085-4C5F-B529-5244BA08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4d69d7a04b4466e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7555905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2B1C6-3A9B-4CD6-ABD9-3F3FAC75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2：Agent 持续等待手机决定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E3648-27EE-4025-BC3D-0D6E4FE2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主会话无需再说一次“批准了”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61B1E-32C5-4A3E-A11B-1326A91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39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A5161-1488-4AC0-88C3-D641D6B2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C6FA7-FC01-47F4-AA37-4EAEB914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冻结安全报告、接收方和目的，记录唯一 request_id。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88AA24-7839-452F-A3BE-78E862EF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持续等待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92EB7-9485-404C-A389-422CD673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每次等待最多 20 秒；循环至决定、过期、取消或持续错误。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4497E-4155-4D44-B6E6-5D89BA4F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收到批准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52163-6A8C-4143-A723-BD15CF25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以手机签名授权为依据，自动进入钱包出示和执行。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AD4F2-8908-4828-ADC9-003081AB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收到修改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AE0E7-B6E5-4D19-A022-7CF623E7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准备新版本再申请；拒绝、超时与网络失败均不算批准。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95026E-41F0-4812-A351-9BA9A4DB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真人最新一轮：工具先收到手机批准并执行，用户随后才在聊天中告知“批准了”。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68368-8FDB-4EA2-B4D8-E386DDD3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bb21787af3104890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2242438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C82AE-26CF-4F05-8413-4B5D4B9F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3：钱包响应受信挑战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DAC78-8D78-4A10-9FC2-951E4326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出示既有授权凭证，并证明当前持有 Agent 私钥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CEA2B8-8CD0-4707-9214-EDBD9A1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4857750"/>
                <a:gridCol w="416242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发送或校验什么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意义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资源出题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签名挑战、流水号、nonce、端点和行动摘要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限定这次出示的对象与目的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钱包核对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服务签名、固定 origin、验证 URI 与请求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不向任意返回地址发送凭证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钱包出示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关系、见证、行动授权与短时持钥证明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读取凭证不等于可以伪造授权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8194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资源执行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重新校验状态、单次消费、签署回执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出示通过与执行成功分别留证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295BC-719E-4F04-8D01-B04EDF9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演示命令：mya execute --request ID --presentation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92916-BBEA-4BD0-BE1D-20749F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ef091b7f9374d71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56268781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5465C-30FA-42E3-B8A7-5257C6C2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4：逐项校验到底验证了什么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45FAD-DFCF-4E62-8905-E76B1CB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最新真人执行后，当时 13 项检查通过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A5C8A-1473-4BE7-9350-B176E25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41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5048250"/>
                <a:gridCol w="3686175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证据组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检查项目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关系资格 · 4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手机签名、见证签名、关联、有效期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这组公钥属于已确认关系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当前行动 · 4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请求完整性、授权签名、范围、时效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批准匹配请求、内容与接收方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执行事实 · 3 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回执签名、关联、执行时授权有效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实际执行的是获批对象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在线状态 · 2 项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关系仍有效、请求未取消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避免只看离线签名就放行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C091B-2C55-4270-8F77-593E8DB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授权后来过期是正常现象。历史回执仍可验证，不能用它重新授权另一项行动。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E2CF7-9452-4F90-A78A-D68876A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d2e9cdbc8b0841c3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62099878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BFCAB-2B35-4553-94F7-40C8C0D6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已核验的真人执行回执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D454F-BDC0-4304-B032-669D5CA3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2026-09-15 15:45:51（中国时间） · 安全报告 → supplier-a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01472B-108B-4965-8F1F-A9156AE8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D366-F639-4E3A-ABB7-2EF77706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请求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5E0B4-C900-4E28-959D-31E5CA8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5a0ad59f-2c45-4130-b343-c65bf977e1b8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87BBD-66B2-487E-BA96-ABA0909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执行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56E54-8656-4D25-B22F-A4212D6A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21a6627c-b7da-4f37-8f57-80b9fc00634e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E2473-3D77-4BF4-AD3D-BB5C169C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验证流水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C4049-0432-4466-88AD-CDB8195B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d9c01eb7-ae3a-48ea-baed-28a7bdfef52d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141F3D-9A32-42D6-9B6D-3291B2B3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最终结果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5A63B-E9A9-4283-AB65-E1B8F594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delivered_to_demo_inbox · 项目进度 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D4B6B-40F7-436C-8763-A6F74FA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只投递演示收件箱。没有发送真实邮件、付款或部署生产变更。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5EDAD-7143-4CD6-8816-4F141039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f063ec232e6a4f82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214109913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18467-7EB7-430A-91DA-27B5417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演示 5：自动规则需要单独同意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098588-4130-4F20-B23D-DF1E1881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这一项已有自动测试，真人现场启用应作为独立步骤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17B1A-99CD-441E-8C94-E20F605E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7CB98-74A4-486D-9298-6B9AC40B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规则草案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6AA99-A1BC-4986-A8EB-20D16591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从审批历史提出建议，用户在手机单独确认启用。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37DE7-27E8-4A28-B0BA-C903DA6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限定范围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51204-8440-4F49-92B0-3575374E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指定收件人、项目、字段、次数与有效期。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92FBE-5D10-4C5F-B714-51DA1418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例外转人工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C76F6-944E-40B1-B8CD-C709F6B6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换收件人、超范围或出现未知字段，重新提交人工审批。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C845C-E54D-4AD8-BFCD-F396A73E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随时终止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8A7ED-CC19-4A31-898D-3ED5FBDA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暂停规则、撤销关系或取消请求，资源端检查当前状态。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ADD18-EE9D-496C-ACEE-0C8DE3B2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本次没有替用户启用自动规则。不能把单次人工批准解释成长期委托。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2E6AB-B3EB-4979-814A-FEE196C9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0227e37980e84376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275094181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ADC2B-5970-4AED-9ECD-17B2C48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Hook 方案：把审批要求放进工具入口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0D1CF-BFB1-465C-A1E0-FEB42245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三层配合，各自承担不同职责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7FE75-84C2-4BE2-A095-A64198BC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4714875"/>
                <a:gridCol w="36385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层次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本轮实现或设计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Skill · 协作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提交、持续等待、修改、出示和回执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 Agent 按流程调用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PreToolUse · 前置门禁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对严格 MYA execute 命令检查授权并 deny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需要原生加载；不覆盖任意 shell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9080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资源端 · 强制授权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对实际执行再验签、核对范围和当前状态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真正的业务执行必须接入受控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80A73C-746F-4D1F-9ED2-9A05D21E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Hook 拒绝后，Agent 申请并等待；批准后重试。检查通过不替代执行端的再次验证。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A060F-81CB-4296-A3C2-39961915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a17cdb050b84ae2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2acfcdb9641428d"/>
              </a:rPr>
              <a:t>Codex Hooks</a:t>
            </a:r>
          </a:p>
        </p:txBody>
      </p:sp>
    </p:spTree>
    <p:extLst>
      <p:ext uri="{BB962C8B-B14F-4D97-AF65-F5344CB8AC3E}">
        <p14:creationId xmlns:p14="http://schemas.microsoft.com/office/powerpoint/2010/main" val="174258602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CAF85-9FB9-4DBB-A103-43AFD56A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本次 Hook 实测：热插入未通过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43263-29C2-498D-910D-0422AFE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已安装、已信任，与当前进程真正拦截，是不同状态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73279-A4BB-4E78-86F7-D13B9D01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333875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能说明什么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 Hook 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写入并保存时间戳回滚清单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定义已安装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原生 /hooks 审阅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同版本 CLI 显示 Trusted / Sync / 30s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定义已被信任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当前会话两次 canary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两次均执行并写入测试标记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当前热插入没有生效证据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6288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处理函数与协议测试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18 项通过；旧授权因过期被拒绝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逻辑可测试，不能替代原生拦截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AC3B0-9299-4EA8-BB2A-7F02D6D6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A26020"/>
                </a:solidFill>
                <a:latin typeface="Hiragino Sans GB"/>
                <a:ea typeface="Hiragino Sans GB"/>
                <a:cs typeface="Hiragino Sans GB"/>
              </a:rPr>
              <a:t>未重启正在工作的桌面应用，也未用另一个模型会话冒充当前进程的成功。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28A4A-E1DF-429B-8054-A93F9994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4171c16dc4544065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2d02ae995d894215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56712855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B2637-24D3-4445-9B96-6C24BAD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下一轮测试：五项证据同时成立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A01F8-22BB-440D-AD92-B15148A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先证明原生拦截，再开始手机审批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12993-E0CF-4B81-8ED2-57115FD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1C440-88DD-4226-9E8F-DE5CB36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5737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1 探针先过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7339C3-FAA5-4B7D-804A-6F756093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85737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原生返回 CANARY_BLOCKED，日志匹配本次调用，标记未更新。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0EFE0-D9AF-4BB1-94B2-3628F87A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2 未批准拒绝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2788B5-775B-4839-84EC-30F8F8B9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0035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新请求直接 execute 被 Hook 拒绝，资源端无执行回执。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6E846-6887-41E5-927B-FBEF48AC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3 手机真实授权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BB2BAD-4D8F-4F85-A733-83692E8B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43325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用户审阅或要求修改；Agent 持续等待新版本的批准。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06F9A-4F4D-444C-BA07-C078363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885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37D67"/>
                </a:solidFill>
                <a:latin typeface="Hiragino Sans GB"/>
                <a:ea typeface="Hiragino Sans GB"/>
                <a:cs typeface="Hiragino Sans GB"/>
              </a:rPr>
              <a:t>4–5 放行与回执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A6F5C2-EA01-4F31-80D2-A2234227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8458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同请求重试通过 Hook；钱包出示、资源执行、签名回执对应。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BA77F-42A2-4175-B0E0-38756A68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若 canary 仍打印 CANARY_EXECUTED，就判定加载失败，不能继续宣称 Hook 验收成功。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D94182-A2ED-4835-862B-42272166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667302cc169c4ea1"/>
              </a:rPr>
              <a:t>Codex Hooks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3639aff946d8497c"/>
              </a:rPr>
              <a:t>MYA 代码与实测</a:t>
            </a:r>
          </a:p>
        </p:txBody>
      </p:sp>
    </p:spTree>
    <p:extLst>
      <p:ext uri="{BB962C8B-B14F-4D97-AF65-F5344CB8AC3E}">
        <p14:creationId xmlns:p14="http://schemas.microsoft.com/office/powerpoint/2010/main" val="136496149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4F3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DDC50-25C6-4237-BD24-084F9993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3D35"/>
                </a:solidFill>
                <a:latin typeface="Hiragino Sans GB"/>
                <a:ea typeface="Hiragino Sans GB"/>
                <a:cs typeface="Hiragino Sans GB"/>
              </a:rPr>
              <a:t>现场演示讲稿：把整条证据链讲完整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304C4-7173-45C9-A80B-BC030010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建议约 15–20 分钟；已完成事实与现场待测分开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3FC41-F0FF-491B-8800-56A58438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531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47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048250"/>
                <a:gridCol w="3829050"/>
              </a:tblGrid>
              <a:tr h="514350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展示内容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观众应理解</a:t>
                      </a:r>
                    </a:p>
                  </a:txBody>
                  <a:tcPr marL="91440" marR="91440" marT="45720" marB="45720" anchor="ctr">
                    <a:solidFill>
                      <a:srgbClr val="183D35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 开场与绑定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远程审批、密码学关系、QR＋码＋两端短码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谁和谁建立了什么关系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 修改与等待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成本报告、修改理由、安全版本、持续轮询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用户批准的是哪个具体行动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 出示与回执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受信挑战、钱包签名、逐项结果、执行记录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凭什么放行，实际发生了什么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4381"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 规则与 Hook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单独启用规则；演示原生拦截判定标准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  <a:tc>
                  <a:txBody>
                    <a:bodyPr lIns="133350" tIns="95250" rIns="133350" bIns="95250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83D35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有限授权与强制边界在哪里</a:t>
                      </a:r>
                    </a:p>
                  </a:txBody>
                  <a:tcPr marL="91440" marR="91440" marT="45720" marB="45720" anchor="ctr">
                    <a:solidFill>
                      <a:srgbClr val="EAF0E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B2FC7-FE0F-452F-B0C3-E9DDADC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操作命令、异常分支、真实记录及下一轮验收，均见仓库完整演示文档。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E3F9-41C2-4BD4-A437-DB5DD87E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293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来源：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9caa79e548554867"/>
              </a:rPr>
              <a:t>MYA 代码与实测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</a:rPr>
              <a:t>   </a:t>
            </a:r>
            <a:r>
              <a:rPr sz="1050" b="0">
                <a:solidFill>
                  <a:srgbClr val="60736B"/>
                </a:solidFill>
                <a:latin typeface="Hiragino Sans GB"/>
                <a:ea typeface="Hiragino Sans GB"/>
                <a:cs typeface="Hiragino Sans GB"/>
                <a:hlinkClick xmlns:r="http://schemas.openxmlformats.org/officeDocument/2006/relationships" r:id="Ra96ed236c9f64eb3"/>
              </a:rPr>
              <a:t>Codex Hooks</a:t>
            </a:r>
          </a:p>
        </p:txBody>
      </p:sp>
    </p:spTree>
    <p:extLst>
      <p:ext uri="{BB962C8B-B14F-4D97-AF65-F5344CB8AC3E}">
        <p14:creationId xmlns:p14="http://schemas.microsoft.com/office/powerpoint/2010/main" val="50391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2026-09-15T08:07:12.5710000Z</dcterms:created>
  <dcterms:modified xsi:type="dcterms:W3CDTF">2026-09-15T08:07:12.5710000Z</dcterms:modified>
</coreProperties>
</file>