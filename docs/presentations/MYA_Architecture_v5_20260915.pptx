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b584cd86394472" /><Relationship Type="http://schemas.openxmlformats.org/officeDocument/2006/relationships/extended-properties" Target="/docProps/app.xml" Id="R65a50d8127c14ca6" /><Relationship Type="http://schemas.openxmlformats.org/officeDocument/2006/relationships/officeDocument" Target="/ppt/presentation.xml" Id="R1ea9dd10d5e444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10d8027b0941bd"/>
  </p:sldMasterIdLst>
  <p:notesMasterIdLst>
    <p:notesMasterId xmlns:r="http://schemas.openxmlformats.org/officeDocument/2006/relationships" r:id="R22e7a7692ecb49b2"/>
  </p:notesMasterIdLst>
  <p:sldIdLst>
    <p:sldId xmlns:r="http://schemas.openxmlformats.org/officeDocument/2006/relationships" id="256" r:id="Rb274a916cf304ad8"/>
    <p:sldId xmlns:r="http://schemas.openxmlformats.org/officeDocument/2006/relationships" id="257" r:id="R827228de38a4405d"/>
    <p:sldId xmlns:r="http://schemas.openxmlformats.org/officeDocument/2006/relationships" id="258" r:id="R47b02f8096e0491a"/>
    <p:sldId xmlns:r="http://schemas.openxmlformats.org/officeDocument/2006/relationships" id="259" r:id="Rbe8b0ddce46d42ba"/>
    <p:sldId xmlns:r="http://schemas.openxmlformats.org/officeDocument/2006/relationships" id="260" r:id="R3ca3b0dbe822465b"/>
    <p:sldId xmlns:r="http://schemas.openxmlformats.org/officeDocument/2006/relationships" id="261" r:id="Re4696780bf864d0f"/>
    <p:sldId xmlns:r="http://schemas.openxmlformats.org/officeDocument/2006/relationships" id="262" r:id="Rc76b6bb69cb24f7f"/>
    <p:sldId xmlns:r="http://schemas.openxmlformats.org/officeDocument/2006/relationships" id="263" r:id="R9cffa42d3d514167"/>
    <p:sldId xmlns:r="http://schemas.openxmlformats.org/officeDocument/2006/relationships" id="264" r:id="R6218b324bd734bd0"/>
    <p:sldId xmlns:r="http://schemas.openxmlformats.org/officeDocument/2006/relationships" id="265" r:id="R82385a7213974f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69db602e434585" /><Relationship Type="http://schemas.openxmlformats.org/officeDocument/2006/relationships/slideMaster" Target="/ppt/slideMasters/slideMaster1.xml" Id="Rfc10d8027b0941bd" /><Relationship Type="http://schemas.openxmlformats.org/officeDocument/2006/relationships/notesMaster" Target="/ppt/notesMasters/notesMaster1.xml" Id="R22e7a7692ecb49b2" /><Relationship Type="http://schemas.openxmlformats.org/officeDocument/2006/relationships/presProps" Target="/ppt/presProps.xml" Id="Rf1123c54158f49f6" /><Relationship Type="http://schemas.openxmlformats.org/officeDocument/2006/relationships/tableStyles" Target="/ppt/tableStyles.xml" Id="Rc32cf6e4504347b6" /><Relationship Type="http://schemas.openxmlformats.org/officeDocument/2006/relationships/slide" Target="/ppt/slides/slide1.xml" Id="Rb274a916cf304ad8" /><Relationship Type="http://schemas.openxmlformats.org/officeDocument/2006/relationships/slide" Target="/ppt/slides/slide2.xml" Id="R827228de38a4405d" /><Relationship Type="http://schemas.openxmlformats.org/officeDocument/2006/relationships/slide" Target="/ppt/slides/slide3.xml" Id="R47b02f8096e0491a" /><Relationship Type="http://schemas.openxmlformats.org/officeDocument/2006/relationships/slide" Target="/ppt/slides/slide4.xml" Id="Rbe8b0ddce46d42ba" /><Relationship Type="http://schemas.openxmlformats.org/officeDocument/2006/relationships/slide" Target="/ppt/slides/slide5.xml" Id="R3ca3b0dbe822465b" /><Relationship Type="http://schemas.openxmlformats.org/officeDocument/2006/relationships/slide" Target="/ppt/slides/slide6.xml" Id="Re4696780bf864d0f" /><Relationship Type="http://schemas.openxmlformats.org/officeDocument/2006/relationships/slide" Target="/ppt/slides/slide7.xml" Id="Rc76b6bb69cb24f7f" /><Relationship Type="http://schemas.openxmlformats.org/officeDocument/2006/relationships/slide" Target="/ppt/slides/slide8.xml" Id="R9cffa42d3d514167" /><Relationship Type="http://schemas.openxmlformats.org/officeDocument/2006/relationships/slide" Target="/ppt/slides/slide9.xml" Id="R6218b324bd734bd0" /><Relationship Type="http://schemas.openxmlformats.org/officeDocument/2006/relationships/slide" Target="/ppt/slides/slide10.xml" Id="R82385a7213974f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721d94ff3141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4512da86944f7e" /><Relationship Type="http://schemas.openxmlformats.org/officeDocument/2006/relationships/notesMaster" Target="/ppt/notesMasters/notesMaster1.xml" Id="R9313a5a6978c43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af2b4097bc4fc8" /><Relationship Type="http://schemas.openxmlformats.org/officeDocument/2006/relationships/notesMaster" Target="/ppt/notesMasters/notesMaster1.xml" Id="R78a71fdf8f9b45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9350b00fa64c68" /><Relationship Type="http://schemas.openxmlformats.org/officeDocument/2006/relationships/notesMaster" Target="/ppt/notesMasters/notesMaster1.xml" Id="R3f79f45a52cf46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6055c1c51c49db" /><Relationship Type="http://schemas.openxmlformats.org/officeDocument/2006/relationships/notesMaster" Target="/ppt/notesMasters/notesMaster1.xml" Id="R7e9533e46a774d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8c817eb4bc4dd7" /><Relationship Type="http://schemas.openxmlformats.org/officeDocument/2006/relationships/notesMaster" Target="/ppt/notesMasters/notesMaster1.xml" Id="Rc0b7133919ac44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6ad3549b4a41c3" /><Relationship Type="http://schemas.openxmlformats.org/officeDocument/2006/relationships/notesMaster" Target="/ppt/notesMasters/notesMaster1.xml" Id="Rec0e143dd78646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d379bbf23f470b" /><Relationship Type="http://schemas.openxmlformats.org/officeDocument/2006/relationships/notesMaster" Target="/ppt/notesMasters/notesMaster1.xml" Id="R6017407e286241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3e3d4dc3504d24" /><Relationship Type="http://schemas.openxmlformats.org/officeDocument/2006/relationships/notesMaster" Target="/ppt/notesMasters/notesMaster1.xml" Id="Rbe993927fbc146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faa42628fb4279" /><Relationship Type="http://schemas.openxmlformats.org/officeDocument/2006/relationships/notesMaster" Target="/ppt/notesMasters/notesMaster1.xml" Id="R13d7145f978a46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d25a394f6c4064" /><Relationship Type="http://schemas.openxmlformats.org/officeDocument/2006/relationships/notesMaster" Target="/ppt/notesMasters/notesMaster1.xml" Id="Rac8005d8e3d744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Any Agent是适配愿景；当前真实集成为Codex、MYA CLI和受控演示资源。分析和指纹交互为模拟，签名、加密与执行授权真实运行。架构及演示依据仓库1c7fddc；既有47页研究与完整记录保留在v3。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图按逻辑职责与控制权划分，不将物理Oracle位置当作信任域。资源侧可以自有验证组件或使用其信任的验证服务，接受凭证与执行策略最终由资源方决定。当前示例见证、转发、验证、执行同Oracle进程；手机代码仍由该服务分发，独立部署/钱包隔离尚待实现。Agent遇到受支持授权要求后自主选择调用Skill，Skill是钱包使用能力，不是拦截器自动替Agent调用的固定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关系凭证覆盖双方公钥、binding_id、范围和有效期。手机签关系，Agent签PairConfirmation，见证签BindingWitnessCredential；见证交付双方。横跨两端的第③步为用户核对步骤，不代表手机直接绕过转发服务发送网络消息。配对码与SAS短码职责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图片是此前真实测试截图，两端P4PR N4RW一致。真人后续曾遇到未配对和远程浏览器打不开PC回环地址，重新配对时用户明确授权Agent代点PC确认；手机由用户确认。正常流程仍要求用户自己核对两端。本页不宣称该隔离截图是最新真人身份。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本报告真人修改闭环已完成。修改生成新request_id及supersedes_request_id，不能在原授权下偷换冻结内容。图中闭环返回手机审阅，实际由Agent创建新请求并经转发服务送达。审批侧当前建议为模拟；自由往返会话和独立调查Agent属于规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挑战最长120秒，持钥证明最长30秒；present不执行。execute-verified读取服务端保存交易并再次验证。当前验证与执行模块位于同一Oracle服务，图按职责分列。HTTPS不代替挑战签名与origin校验；出示既有凭证而非Agent自签用户授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关联示意不是凭证签发依赖的完整DAG：grant关联关系/request；proof摘要覆盖既有credential集合且绑定challenge；receipt关联grant/request与实际payload。agent不能伪造手机授权，但同机钱包文件保护有限。真人request 5a0ad59f-2c45-4130-b343-c65bf977e1b8；execution 21a6627c-b7da-4f37-8f57-80b9fc00634e。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入口分别是外部业务资源反馈授权要求，以及运行环境内部PreToolUse检查点。Agent自主识别并调用Skill，Skill通过钱包发起审批或出示现有适用凭证，持续等待结果并重试原行动。已有有效且适用凭证时可直接按受信挑战出示，不必重复申请；缺失、过期或范围变化时请求新授权。手机不能直接调用业务执行，图中右侧连线表示手机授权经钱包出示后重试。两种触发入口可以分别使用或共同部署，并非每项请求必须依次经过两次拦截。无缝融入既有流程是集成目标，要求Agent识别协议和系统提供受控验证入口。现有CLI支持预配置MYA挑战，不支持任意未知返回端点；当前Hook原生热插入尚未验收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继承关系资格、具体行动授权和资源端执行分离。组织凭证不能替代用户单次批准或业务策略。审批侧Agent需要独立证据与权限隔离，不能仅重复工作Agent摘要。关于竞品差异的完整官方来源及边界见保留的v3第22–29页；本图不宣称远程确认或密码学绑定为MYA独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详细操作与全部历史证据见 docs/DEMO_WALKTHROUGH.md、docs/CODEX_HOOK.md，以及47页v3。最新真人执行2026-09-15 15:45:51中国时间。未经本次真人单独启用规则，不把单次同意当长期委托。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资料口径：2026-09-15。场景对话与试点建议为设计假设。</a:t>
            </a:r>
          </a:p>
          <a:p xmlns:a="http://schemas.openxmlformats.org/drawingml/2006/main">
            <a:r>
              <a:t>MYA 服务0240f65、Hook与演示1c7fddc。2026-09-15 验证记录。</a:t>
            </a:r>
          </a:p>
          <a:p xmlns:a="http://schemas.openxmlformats.org/drawingml/2006/main">
            <a:r>
              <a:t>https://github.com/seanzhang9999/mya_demo/tree/1c7fddc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b3f4682ecf4b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eb78d34dfa4bad" /><Relationship Type="http://schemas.openxmlformats.org/officeDocument/2006/relationships/slideLayout" Target="/ppt/slideLayouts/slideLayout1.xml" Id="Rd1f4b07935714b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f4b07935714b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a6fef298d47f8" /><Relationship Type="http://schemas.openxmlformats.org/officeDocument/2006/relationships/image" Target="/ppt/media/image.png" Id="Re12bcf3783684735" /><Relationship Type="http://schemas.openxmlformats.org/officeDocument/2006/relationships/hyperlink" Target="https://github.com/seanzhang9999/mya_demo/tree/1c7fddc" TargetMode="External" Id="R724e2b6fd6704ad8" /><Relationship Type="http://schemas.openxmlformats.org/officeDocument/2006/relationships/notesSlide" Target="/ppt/notesSlides/notesSlide1.xml" Id="R55dd636a8a534e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e8431dcfc4dfb" /><Relationship Type="http://schemas.openxmlformats.org/officeDocument/2006/relationships/hyperlink" Target="https://github.com/seanzhang9999/mya_demo/tree/1c7fddc" TargetMode="External" Id="Re23330224acd4455" /><Relationship Type="http://schemas.openxmlformats.org/officeDocument/2006/relationships/notesSlide" Target="/ppt/notesSlides/notesSlide2.xml" Id="R0b329434d3db49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176d488534020" /><Relationship Type="http://schemas.openxmlformats.org/officeDocument/2006/relationships/hyperlink" Target="https://github.com/seanzhang9999/mya_demo/tree/1c7fddc" TargetMode="External" Id="R6511e0337ecd497a" /><Relationship Type="http://schemas.openxmlformats.org/officeDocument/2006/relationships/notesSlide" Target="/ppt/notesSlides/notesSlide3.xml" Id="Rbde9a6b324ed49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a55e47d82415f" /><Relationship Type="http://schemas.openxmlformats.org/officeDocument/2006/relationships/image" Target="/ppt/media/image2.png" Id="Ra603df70cf6040d2" /><Relationship Type="http://schemas.openxmlformats.org/officeDocument/2006/relationships/image" Target="/ppt/media/image3.png" Id="R7d48fe3640bf4532" /><Relationship Type="http://schemas.openxmlformats.org/officeDocument/2006/relationships/hyperlink" Target="https://github.com/seanzhang9999/mya_demo/tree/1c7fddc" TargetMode="External" Id="Raad30abd95644194" /><Relationship Type="http://schemas.openxmlformats.org/officeDocument/2006/relationships/notesSlide" Target="/ppt/notesSlides/notesSlide4.xml" Id="Raae99f9700ab4a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8b74eac484c69" /><Relationship Type="http://schemas.openxmlformats.org/officeDocument/2006/relationships/hyperlink" Target="https://github.com/seanzhang9999/mya_demo/tree/1c7fddc" TargetMode="External" Id="R186ff80aa7d24466" /><Relationship Type="http://schemas.openxmlformats.org/officeDocument/2006/relationships/notesSlide" Target="/ppt/notesSlides/notesSlide5.xml" Id="R804c42ce021243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51ae91b434825" /><Relationship Type="http://schemas.openxmlformats.org/officeDocument/2006/relationships/hyperlink" Target="https://github.com/seanzhang9999/mya_demo/tree/1c7fddc" TargetMode="External" Id="Rbf3634bc6d784c40" /><Relationship Type="http://schemas.openxmlformats.org/officeDocument/2006/relationships/notesSlide" Target="/ppt/notesSlides/notesSlide6.xml" Id="R16a0cccb177045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5dba7ebc4d4b" /><Relationship Type="http://schemas.openxmlformats.org/officeDocument/2006/relationships/hyperlink" Target="https://github.com/seanzhang9999/mya_demo/tree/1c7fddc" TargetMode="External" Id="R99fabd5438b74f18" /><Relationship Type="http://schemas.openxmlformats.org/officeDocument/2006/relationships/notesSlide" Target="/ppt/notesSlides/notesSlide7.xml" Id="R4b067029ca3e4e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5c129fefa4181" /><Relationship Type="http://schemas.openxmlformats.org/officeDocument/2006/relationships/hyperlink" Target="https://github.com/seanzhang9999/mya_demo/tree/1c7fddc" TargetMode="External" Id="Rde6ae29809014767" /><Relationship Type="http://schemas.openxmlformats.org/officeDocument/2006/relationships/notesSlide" Target="/ppt/notesSlides/notesSlide8.xml" Id="R275f83cd4a1f43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338b6b7a34574" /><Relationship Type="http://schemas.openxmlformats.org/officeDocument/2006/relationships/hyperlink" Target="https://github.com/seanzhang9999/mya_demo/tree/1c7fddc" TargetMode="External" Id="Rd28d30a6fd7c47a3" /><Relationship Type="http://schemas.openxmlformats.org/officeDocument/2006/relationships/notesSlide" Target="/ppt/notesSlides/notesSlide9.xml" Id="R464af5c1dcc745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dd2d75aeb4ef6" /><Relationship Type="http://schemas.openxmlformats.org/officeDocument/2006/relationships/hyperlink" Target="https://github.com/seanzhang9999/mya_demo/tree/1c7fddc" TargetMode="External" Id="R3ff26ea71a244e9e" /><Relationship Type="http://schemas.openxmlformats.org/officeDocument/2006/relationships/notesSlide" Target="/ppt/notesSlides/notesSlide10.xml" Id="Ra3fff6aaf96548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bcf3783684735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C7044-7B81-424C-8E56-48027497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561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7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MYA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71A3F-A62D-46D4-B877-D9AE69C7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AI Authenticator</a:t>
            </a:r>
          </a:p>
          <a:p xmlns:a="http://schemas.openxmlformats.org/drawingml/2006/main">
            <a:pPr>
              <a:defRPr sz="39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for Any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ECFD5-065D-4D07-97C2-73AD854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666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远程可信审批</a:t>
            </a:r>
          </a:p>
          <a:p xmlns:a="http://schemas.openxmlformats.org/drawingml/2006/main">
            <a:pPr>
              <a:defRPr sz="23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用户与 Agent 的密码学绑定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0D46C-675C-4434-88BE-B3A93D20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系统架构与完整演示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59F6A-8B50-4830-8619-B87345F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24e2b6fd6704ad8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5944355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EB391C-270B-475E-8F7D-DB284902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整体架构与信任边界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55CD3-6D3F-4EC2-85D5-86467AC2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MYA 提供可验证的用户授权，业务系统掌握执行权。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63E2E-E976-473E-B6FC-21F09356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7BDA6-52BA-4A3A-81C6-37BB7B1A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32004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B9AD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32D85-8001-4A77-B53E-DBD931A4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工作 Agent 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23261-A082-4B22-A510-29A8B5EF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714500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B9AD"/>
            </a:solidFill>
            <a:prstDash val="dash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2D0FB-D84C-48DA-81BF-5B2E3B81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MYA 关系与通信服务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ACD2F0-CF58-48B6-8A04-6EFCEA11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14500"/>
            <a:ext cx="30575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B9AD"/>
            </a:solidFill>
            <a:prstDash val="dash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9F665-391A-486C-A19E-D3203434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790700"/>
            <a:ext cx="2828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用户审批侧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103B4-E338-45E4-A49B-9AA68357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10025"/>
            <a:ext cx="70294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B9AD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1078D-B2B7-49F6-A353-03461B28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86225"/>
            <a:ext cx="680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业务资源方 · 独立控制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2DD40-F973-4E1E-BA7D-4A5784767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38375"/>
            <a:ext cx="28384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E91A5-127B-4AF2-B15F-E13A700B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255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Agent + Skill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3B25C-89E3-46D3-81C5-8E099BFD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55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遇到授权要求，自主调用 Skill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6DEF6B-17EA-4784-B0C6-2BA54A94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00550"/>
            <a:ext cx="2838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E99486-1961-4F99-A4DE-893643B0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255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凭证钱包 / CLI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8C9E59-808A-4A3D-8309-E3DAC975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25527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发起申请 · 等待决定 · 出示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1D94E-0602-4AA1-9CA6-0D1E2D39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238375"/>
            <a:ext cx="26860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381EF1-9AD7-4A04-80EA-F41D9D09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5267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配对见证 + 消息转发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FA2D7C-CBFC-4E5E-ABCD-919603FD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4320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关系核验 · 加密消息传递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B5211-058E-4AA6-A6D8-7F551A5E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38375"/>
            <a:ext cx="26955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1EC9F4-26BB-435D-B565-91552260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52675"/>
            <a:ext cx="2409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手机用户 + 签名密钥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BCFC00-0754-407E-BCBF-B1242B15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743200"/>
            <a:ext cx="2409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审阅 / 修改 / 批准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FDF84-8B60-4FB2-A5FD-8DCDBD69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400550"/>
            <a:ext cx="666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0B2910-ED59-43FB-BA18-D0768C44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14850"/>
            <a:ext cx="638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业务验证组件 + 执行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9B429-52BD-4D70-8A37-7EFC35F9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905375"/>
            <a:ext cx="6381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返回授权要求 / 挑战 → 验证凭证与业务策略 → 执行并签回执</a:t>
            </a:r>
          </a:p>
        </p:txBody>
      </p:sp>
      <p:cxnSp>
        <p:nvCxnSpPr>
          <p:cNvPr id="62" name=""/>
          <p:cNvCxnSpPr>
            <a:stCxn xmlns:a="http://schemas.openxmlformats.org/drawingml/2006/main" id="12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2114550" y="3295650"/>
            <a:ext cx="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63" name=""/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3533775" y="2767013"/>
            <a:ext cx="1295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64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515225" y="2767013"/>
            <a:ext cx="1285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65" name=""/>
          <p:cNvCxnSpPr>
            <a:stCxn xmlns:a="http://schemas.openxmlformats.org/drawingml/2006/main" id="15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3533775" y="4914900"/>
            <a:ext cx="1295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arrow" w="med" len="me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B9C2E2-FE7F-4B60-B81F-3A351CA3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81250"/>
            <a:ext cx="87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审批请求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6FD3D2-7752-4BCF-9DD1-484DAE2C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87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独立决定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2505B8-6D29-4BDC-9EB7-379928F3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38675"/>
            <a:ext cx="108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挑战 / 出示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144612-CE98-4178-BFBF-CB459603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10906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当前 Demo 为便于演示，将业务资源模拟器与 MYA 服务同机部署在 Oracle；正式接入时，业务资源由相应业务方控制。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3A4118-FE98-4CB5-B26F-D51E2B74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e23330224acd4455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1605144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8B9CFE-C596-44A1-9B57-8DA1A0D9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配对与密码学绑定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C1440-2091-489B-8109-4B887FF9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先核对双方关系，再签发可验证的配对见证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46DDCE-1F8B-4CD2-A415-F8787764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BBAB8-3C7B-4327-AAB8-3D996B6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PC /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D2B4B6-8923-4A9B-8107-99EBB061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19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AB181-8990-45CD-8BD3-C82EE11F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769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52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H="1">
            <a:off x="1524000" y="2224088"/>
            <a:ext cx="9525" cy="3457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DCDC3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05871-A517-4AE3-8B37-4E4D479D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145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Oracle 见证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8419E-FF4E-4089-8761-5E4DD5C9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19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00D33-1D2F-48E8-8C8F-027E4036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5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H="1">
            <a:off x="6096000" y="2224088"/>
            <a:ext cx="9525" cy="3457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DCDC3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00714-87E8-433F-96E8-F099993E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7145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手机 / 用户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E15BA6-B34F-4604-B67B-F65FDA7A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19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E377B-1092-4508-802E-D65CB4AE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6769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0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H="1">
            <a:off x="10668000" y="2224088"/>
            <a:ext cx="9525" cy="3457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DCDC3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12942-6E37-43D1-80C1-7472F057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30B87-FA00-46D5-B82A-ED7326E6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81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3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1533525" y="2586038"/>
            <a:ext cx="456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F11B2-5D1C-489A-8EC0-102438AF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2860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① 创建邀请：Agent 公钥与用途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DAE33-24B7-4501-A678-F784A32D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152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171CE-6885-4FD2-96B3-81249D61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52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7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H="1">
            <a:off x="6096000" y="3157538"/>
            <a:ext cx="458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A21676-EBC6-4EE7-9B89-0AEACA1F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857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② 扫码或输入配对码加入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E870B8-6401-498B-AAC4-4F443651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24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E67AEA-1715-40F5-A03F-F4188F36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24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1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H="1">
            <a:off x="1524000" y="3729038"/>
            <a:ext cx="9153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194DF1-2B3A-457A-99C4-794B2B60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290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③ 两端显示同一短码，用户分别核对确认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C962E6-A769-4EED-8CF4-2B8F5172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95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BDD2EB-C7D1-426D-B38E-9CA92997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95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5" name=""/>
          <p:cNvCxnSpPr>
            <a:stCxn xmlns:a="http://schemas.openxmlformats.org/drawingml/2006/main" id="28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 flipH="1">
            <a:off x="6096000" y="4300538"/>
            <a:ext cx="458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57F94A-F8A7-44C2-890A-DA47C7DF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④ 手机签署关系凭证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BBB94F-4E48-4C23-B7B9-C9F68852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67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E7842A-7A40-4279-9CCC-18C00C36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67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9" name=""/>
          <p:cNvCxnSpPr>
            <a:stCxn xmlns:a="http://schemas.openxmlformats.org/drawingml/2006/main" id="32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1533525" y="4872038"/>
            <a:ext cx="456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F66B36-119D-4530-B017-54E8DFC3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5720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⑤ Agent 签署关系确认，证明持钥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EF2FD1-FB8D-40FC-983E-7EC98E0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38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720B0C-742D-45E0-A5AF-3129C6E7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38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83" name=""/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 flipH="1">
            <a:off x="1524000" y="5443538"/>
            <a:ext cx="458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07A635-8F64-4ABD-A335-67874CF8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43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⑥ 核验一致，交付签名见证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C55CFA-8239-465A-8513-A8569657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38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4E04EC-D54B-459C-8869-D2DE0023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38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87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105525" y="5443538"/>
            <a:ext cx="456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197424-9C16-46ED-A990-36055E7F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143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⑥ 核验一致，交付签名见证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6731A4-6E57-4416-98B1-F8B262A1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绑定授予申请资格。具体行动仍需单次授权或用户单独启用的有限规则。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CEB6FA-0B30-49DE-888B-E7B234AF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6511e0337ecd497a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4543518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AED84-88E2-4618-BBBA-8F2ACDD6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双端配对确认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1817E-F94A-4805-AD46-FD18331B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二维码或配对码加入 → 核对同一短码 → 两端确认 → 保存关系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D26A4-356D-4EDE-B457-45D04673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6A029-5CB0-4A10-A5A2-324E8F62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621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PC 确认页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3df70cf6040d2"/>
          <a:stretch xmlns:a="http://schemas.openxmlformats.org/drawingml/2006/main"/>
        </p:blipFill>
        <p:spPr>
          <a:xfrm xmlns:a="http://schemas.openxmlformats.org/drawingml/2006/main">
            <a:off x="628650" y="2420327"/>
            <a:ext cx="5048250" cy="258884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E4CD7-E71F-4548-8180-52756A92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621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手机确认页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8fe3640bf4532"/>
          <a:stretch xmlns:a="http://schemas.openxmlformats.org/drawingml/2006/main"/>
        </p:blipFill>
        <p:spPr>
          <a:xfrm xmlns:a="http://schemas.openxmlformats.org/drawingml/2006/main">
            <a:off x="7254269" y="2190750"/>
            <a:ext cx="3303212" cy="3667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4A7DC-83BE-46CD-898E-62E375F7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2922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配对码：加入邀请</a:t>
            </a:r>
          </a:p>
          <a:p xmlns:a="http://schemas.openxmlformats.org/drawingml/2006/main">
            <a:pPr>
              <a:defRPr sz="17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核对短码：确认双方关系一致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A047A0-E7B2-4A49-96C6-E5850032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图为同一次隔离测试，邀请已失效、关系已撤销；现场演示应重新生成邀请。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C01BE-6D53-401F-B2D9-C9ECD13E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aad30abd95644194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6606611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7CB4F2-DF19-4190-A261-37F35136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审批分支与版本流转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218552-DA18-46A0-81A9-B82AD918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主任务继续保存工作上下文，手机侧保留修改理由与最终决定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06A21-518D-4F80-B155-2FCF8FE9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DC321-BBEF-4133-AE90-34A6BC18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14550"/>
            <a:ext cx="228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B593C-D252-497B-A10E-1215D980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工作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15118-909B-45BC-82F8-3BD57506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冻结成本报告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2F0564-5358-43A6-88DC-7BDFD594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114550"/>
            <a:ext cx="29718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285EF-E9C8-4289-9EB8-EB1C883D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手机审阅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B10CB-F8A7-445B-AF6F-33004D81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19375"/>
            <a:ext cx="26860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查看接收方、内容、建议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34BB7-E5D6-4007-9131-B9199863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114550"/>
            <a:ext cx="33337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E22DB-C8E7-4B8E-BF88-FEB43439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用户批准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0F3033-6529-4AA9-8A2E-3950C5E4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19375"/>
            <a:ext cx="304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签署具体行动授权</a:t>
            </a:r>
          </a:p>
        </p:txBody>
      </p:sp>
      <p:cxnSp>
        <p:nvCxnSpPr>
          <p:cNvPr id="49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05125" y="2619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50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829425" y="2619375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4DD73-E492-45FC-A50C-86D2FED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2764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可直接批准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B1F6B-34FA-4B78-8286-BD51494D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62425"/>
            <a:ext cx="2971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662DBF-55E5-4229-9C56-177C50BC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76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要求修改 → 新版本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F0B3F-643E-4880-85E5-F8DF7444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67250"/>
            <a:ext cx="2686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移除成本；引用原 request_id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E88E78-1D8F-4C63-81DA-B6FA99C8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16242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D3EE9F-64D1-477A-9636-9437570F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7672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钱包出示 → 资源执行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A91D7-3B21-402E-A38B-E24FC616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672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验证当前授权，保存签名回执</a:t>
            </a:r>
          </a:p>
        </p:txBody>
      </p:sp>
      <p:cxnSp>
        <p:nvCxnSpPr>
          <p:cNvPr id="58" name=""/>
          <p:cNvCxnSpPr>
            <a:stCxn xmlns:a="http://schemas.openxmlformats.org/drawingml/2006/main" id="7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5343525" y="3124200"/>
            <a:ext cx="0" cy="1038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59" name=""/>
          <p:cNvCxnSpPr>
            <a:stCxn xmlns:a="http://schemas.openxmlformats.org/drawingml/2006/main" id="10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677400" y="3124200"/>
            <a:ext cx="0" cy="1038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4BBC52-B137-49F2-860A-A0998292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7053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27F19B-A372-406C-84A2-285B418F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7053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2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H="1">
            <a:off x="3286125" y="4710113"/>
            <a:ext cx="561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3A626-B887-4C41-8A2D-43C4C8FF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7053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5E4616-E679-4CF1-A569-2C4AE254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5" name=""/>
          <p:cNvCxnSpPr>
            <a:stCxn xmlns:a="http://schemas.openxmlformats.org/drawingml/2006/main" id="27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H="1" flipV="1">
            <a:off x="3286125" y="2909888"/>
            <a:ext cx="9525" cy="1800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C3CEFD-9EA5-45FA-BAA1-1A3F7025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B1504B-5D1D-427A-96CF-43FD5A9E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8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3295650" y="2909888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92E7B4-88BC-4BD5-ACC7-19A312A6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314700"/>
            <a:ext cx="1381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修订后再审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477166-5F53-4C1E-9E0E-02B554E0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05275"/>
            <a:ext cx="252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rPr>
              <a:t>拒绝 / 取消 / 过期</a:t>
            </a:r>
          </a:p>
          <a:p xmlns:a="http://schemas.openxmlformats.org/drawingml/2006/main">
            <a:pPr>
              <a:defRPr sz="1725" b="1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rPr>
              <a:t>结束本次申请，不执行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7B9CE3-EBC9-4679-8257-05C24ED9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手机决定由签名消息返回。Agent 持续等待，无需用户在主会话重复说“批准了”。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41BFE4-F99D-4E99-A61B-3F644EFE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186ff80aa7d24466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16771949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D9C3F3-2436-4E82-BA04-B6A77A16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钱包挑战出示与执行时序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BFAA0-E210-4A8D-968B-0E708A27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出示证明“现在持钥且获授权”，回执证明“实际执行了什么”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543F5B-89D3-4E40-BEB7-41BDAB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D0FC0-59F7-44BE-BF83-3B50E1AB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Agent / 钱包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4D019-F194-4C3B-9B81-DBF448A9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19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2D50EE-C69D-4009-9F4B-47A6391A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769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4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H="1">
            <a:off x="1524000" y="2224088"/>
            <a:ext cx="9525" cy="3457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DCDC3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142AD9-11C3-4C26-A076-3C9AE118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145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资源验证器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4FCA3-6289-46A2-ABB0-FB0BD4E0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19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860E0-DF94-4485-94CD-73E933E3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5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H="1">
            <a:off x="6096000" y="2224088"/>
            <a:ext cx="9525" cy="3457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DCDC3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B7F494-8246-46ED-B16A-A2257EE7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7145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执行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974C2-770D-4913-AE1C-1B4BFBF6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19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794CA-A9CA-47D2-80C7-72835295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6769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56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H="1">
            <a:off x="10668000" y="2224088"/>
            <a:ext cx="9525" cy="3457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DCDC3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B9382-53D5-4934-85F2-9B23C921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FB04DF-65BF-4EC8-819E-86878384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81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59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1533525" y="2586038"/>
            <a:ext cx="456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89D2F-3CE1-4689-A020-E69706E5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2860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① 请求冻结交易与签名挑战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477CFE-E842-4BBC-B9DF-0795AA2B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52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2967E-6D91-41C4-8390-DF2CD3ED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52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H="1">
            <a:off x="1524000" y="3157538"/>
            <a:ext cx="458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C0E53B-DB7E-4BE4-8B72-E5E0F79B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857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② 返回 nonce、交易号、行动摘要、验证端点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4CFA3E-C88B-4AF6-8F98-EF69F729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24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68F1CA-ECEC-412E-BA23-5F11B5CD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24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7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1533525" y="3729038"/>
            <a:ext cx="456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1C13BC-BD2A-4F84-9B4E-28F9291B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290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③ 核验挑战后出示凭证 + 短时持钥签名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7CB9ED-9745-45BE-8E4F-1A52E1F5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95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93C966-8845-4A54-95AD-43D48638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95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1" name=""/>
          <p:cNvCxnSpPr>
            <a:stCxn xmlns:a="http://schemas.openxmlformats.org/drawingml/2006/main" id="28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 flipH="1">
            <a:off x="1524000" y="4300538"/>
            <a:ext cx="458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BD4A07-347E-4D4C-8BFB-199D2D18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000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④ 返回签名验证结果与交易号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EEE854-D953-4E99-AB19-4A962C12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67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9F891B-F031-4606-8C50-BA5ED874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672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5" name=""/>
          <p:cNvCxnSpPr>
            <a:stCxn xmlns:a="http://schemas.openxmlformats.org/drawingml/2006/main" id="32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1533525" y="4872038"/>
            <a:ext cx="9134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D22E99-69E9-4470-8EA8-1B923348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5720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⑤ 按交易执行：再查范围、时效、撤销与幂等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22640A-8427-456E-8AB4-E4C4399C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38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A5E2BA-D21E-4B16-9F21-80E9CD55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38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9" name=""/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 flipH="1">
            <a:off x="1524000" y="5443538"/>
            <a:ext cx="9153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02195F-78C7-46F5-90D6-890ECDD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435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⑥ 返回签名执行回执，更新手机历史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715060-AFA9-4A6F-A908-A7BAFD78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钱包只接受预配置受信服务器和固定验证端点。当前是自定义 JWS 凭证，不是通用 VC 互操作。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185EB25-089E-452B-A2DD-7E2A79E0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bf3634bc6d784c40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13320699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513701-DB78-4B60-8BE4-A4A81409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凭证链与行动一致性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DEEB4-D739-40BF-A7D9-A57EBF10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每一项签名证明不同事实，通过标识与摘要关联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E9692-FEA9-4B5B-90F5-FD1635EC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22538-3B2C-4EE7-9D6C-942C1309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971675"/>
            <a:ext cx="31623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C1D9E-3CD0-4BFE-A2F0-CE188A3C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85975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关系凭证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5D63A-F4F7-4376-B943-6E7F5F36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手机签：双方公钥 / 范围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86F788-9A44-49D5-B3CF-32BFBBF0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71675"/>
            <a:ext cx="32194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6722C-72F5-4737-9103-FA19CD22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85975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配对见证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A8F4-202F-459E-9BC0-B89EA254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2933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见证签：关系摘要 / 绑定 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DC4EB3-189F-4889-9C35-1D05492A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3337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F7186-77FC-4CA6-9393-5DBFD371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0859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行动授权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F47A8C-0446-4348-86F4-ECA0DC04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47650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手机签：请求 / 行动 / 时效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C0B6AD-85BD-4B8A-94B3-8743E537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162425"/>
            <a:ext cx="70104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4BB6B-BF5E-4720-8371-55885FA8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672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挑战持钥证明：将三类凭证绑定到本次出示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020DD9-F1D4-4805-918F-047C8867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672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Agent 签：nonce / 交易号 / 行动摘要 / 凭证集合摘要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12D8AC-B865-46CB-AB4E-05749828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33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91694-BB39-4436-80F4-2865AA63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27672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执行回执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C498EB-8CD9-4AE1-A968-ED9AB934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6672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资源签：实际内容 / 授权 / 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411475-2CE1-48BB-BDF4-2B522B8D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0575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C05AB4-12C0-424C-9DE7-F0D55916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609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58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H="1">
            <a:off x="2162175" y="3062288"/>
            <a:ext cx="9525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230FA0-64CF-46EE-9F08-D761EBDC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575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3DBF6-A21F-43D5-B1A8-9371908F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09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 flipH="1">
            <a:off x="5981700" y="3062288"/>
            <a:ext cx="9525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31F99-E8CC-4DF4-A500-AEB49934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575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85816A-33E4-4E94-83EE-3311E154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609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4" name=""/>
          <p:cNvCxnSpPr>
            <a:stCxn xmlns:a="http://schemas.openxmlformats.org/drawingml/2006/main" id="25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 flipH="1">
            <a:off x="9896475" y="3062288"/>
            <a:ext cx="9525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F5414A-1EFA-4F31-BC76-C80D0AF8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619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1F1B22-C7FF-4E0C-BAD8-A1FAF3EF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619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7" name=""/>
          <p:cNvCxnSpPr>
            <a:stCxn xmlns:a="http://schemas.openxmlformats.org/drawingml/2006/main" id="28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171700" y="3624263"/>
            <a:ext cx="7724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09FF90-C0BE-4432-8F45-08A293D4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619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14A650-B3FE-4547-86D8-B513725B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1338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0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 flipH="1">
            <a:off x="4086225" y="3624263"/>
            <a:ext cx="9525" cy="5143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71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591425" y="4710113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C123C0-E983-4052-B0E0-2E32DDC0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578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一致检查：关系 · 请求版本 · 接收方 · 内容摘要 · 有效期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75F506-EC1C-4B85-BDFF-6C46F706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真实执行后 13 项检查曾全部通过。授权后来过期，不改变历史回执，也不产生新的执行权限。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20359C-D292-4A1E-A24A-C89F2736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99fabd5438b74f18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7635770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50A4D5-629E-40BC-A26D-F3780F64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两个检查入口，一条授权协作流程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12490-1ACD-4F6E-BB1E-53EC0637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外部拦截与内部检查点配合，让认证器融入现有业务流程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9F20-A123-4120-91FF-3570E4C8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2E3A6-6C80-4F1D-9018-550BE918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49053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510DB-3FF9-4A48-B320-E4FFF4B9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入口 A：业务系统拦截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6E10F-3960-4D78-8B4D-EF38BC27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14575"/>
            <a:ext cx="4619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返回缺失授权、凭证要求或受信挑战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5EB20D-E977-4F52-8812-11E332B6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49053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2602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C9491-FF9D-42E4-8935-D78BB191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9240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入口 B：Agent 运行环境 Hook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330E8-C88B-46A0-B143-4B927056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14575"/>
            <a:ext cx="4619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工具执行前检查；不足则阻止并反馈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A8757-4596-4B0A-9B92-C1B08693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390900"/>
            <a:ext cx="5162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C1F14-8CF5-49B0-BE15-AE11CB16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052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Agent 理解要求，自主决定调用 Skill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BE41D8-300C-4CFE-A3A0-E1B6BC5B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895725"/>
            <a:ext cx="4876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读取授权要求；选择钱包能力处理，并持续跟进</a:t>
            </a:r>
          </a:p>
        </p:txBody>
      </p:sp>
      <p:cxnSp>
        <p:nvCxnSpPr>
          <p:cNvPr id="43" name=""/>
          <p:cNvCxnSpPr>
            <a:stCxn xmlns:a="http://schemas.openxmlformats.org/drawingml/2006/main" id="4" idx="2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71813" y="2867025"/>
            <a:ext cx="442913" cy="1038225"/>
          </a:xfrm>
          <a:prstGeom xmlns:a="http://schemas.openxmlformats.org/drawingml/2006/main" prst="bentConnector5">
            <a:avLst>
              <a:gd name="adj1" fmla="val 0"/>
              <a:gd name="adj2" fmla="val 22018"/>
              <a:gd name="adj3" fmla="val 48387"/>
            </a:avLst>
          </a:prstGeom>
          <a:ln xmlns:a="http://schemas.openxmlformats.org/drawingml/2006/main" w="19050">
            <a:solidFill>
              <a:srgbClr val="137D67"/>
            </a:solidFill>
            <a:tailEnd type="arrow" w="med" len="med"/>
          </a:ln>
        </p:spPr>
      </p:cxn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8677275" y="2867025"/>
            <a:ext cx="442913" cy="1038225"/>
          </a:xfrm>
          <a:prstGeom xmlns:a="http://schemas.openxmlformats.org/drawingml/2006/main" prst="bentConnector5">
            <a:avLst>
              <a:gd name="adj1" fmla="val 0"/>
              <a:gd name="adj2" fmla="val 22018"/>
              <a:gd name="adj3" fmla="val 48387"/>
            </a:avLst>
          </a:prstGeom>
          <a:ln xmlns:a="http://schemas.openxmlformats.org/drawingml/2006/main" w="19050">
            <a:solidFill>
              <a:srgbClr val="137D67"/>
            </a:solidFill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9BB178-19F1-4433-B391-CC43CE93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76800"/>
            <a:ext cx="2876550" cy="1019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1E245-B687-4238-8386-D4C91A13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Skill → 钱包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B004B-4C50-4357-BDC5-763C3C0B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发起请求 · 持续等待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F801AB-3FE0-4E53-B885-E876B02B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876800"/>
            <a:ext cx="2876550" cy="1019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77CFA3-F653-4892-AFB3-839239EE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911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手机用户决定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C99062-9DD9-4D20-BBBB-5A1EF1B1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381625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审阅 / 修改 / 签署授权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8DE261-8F7F-4FDE-B52E-95E28D4B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876800"/>
            <a:ext cx="2876550" cy="1019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63D159-DC3B-4DBA-8BF8-3AC963CF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911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钱包出示 → 重试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5ABBD2-7F57-4C8D-A67F-363C5E13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81625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业务方再验证，执行并回执</a:t>
            </a:r>
          </a:p>
        </p:txBody>
      </p:sp>
      <p:cxnSp>
        <p:nvCxnSpPr>
          <p:cNvPr id="54" name=""/>
          <p:cNvCxnSpPr>
            <a:stCxn xmlns:a="http://schemas.openxmlformats.org/drawingml/2006/main" id="10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2057400" y="4419600"/>
            <a:ext cx="4038600" cy="4572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D67"/>
            </a:solidFill>
            <a:tailEnd type="arrow" w="med" len="med"/>
          </a:ln>
        </p:spPr>
      </p:cxnSp>
      <p:cxnSp>
        <p:nvCxnSpPr>
          <p:cNvPr id="55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3495675" y="5386388"/>
            <a:ext cx="1162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56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534275" y="5386388"/>
            <a:ext cx="1162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8FCBAD-1E71-4746-9290-C9E45B76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086350"/>
            <a:ext cx="1000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申请审批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C14939-1ECD-430C-A917-A35CD275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86350"/>
            <a:ext cx="106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137D67"/>
                </a:solidFill>
                <a:latin typeface="Hiragino Sans GB"/>
                <a:ea typeface="Hiragino Sans GB"/>
                <a:cs typeface="Hiragino Sans GB"/>
              </a:rPr>
              <a:t>授权经钱包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468C49-0BA8-4808-A1F4-E1AD756D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Skill 由 Agent 调用；Hook 不代替 Agent 决策。当前 Hook 热插入未通过，通用外部授权适配仍待扩展。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76A0E1-B078-43CA-99AF-A793A6E5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de6ae29809014767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10336552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C0FA5B-06E6-4E60-BB43-C81E7F73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多 Agent 与企业审批扩展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39120-7C1B-484D-B984-652F0CC1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目标架构：用户统一管理关系，业务资源保留最终授权控制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EC1F8-FF64-458F-8DC4-6CB13AD2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B8D19-2186-49D7-87FE-69E455A4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09750"/>
            <a:ext cx="2628900" cy="3724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B9AD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4E70E-6111-4319-950D-ACDE075A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859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不同执行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F306B-637C-4E14-B7A1-D4DDEC3A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247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26020"/>
            </a:solidFill>
            <a:prstDash val="dash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713AD-F57C-45F7-9E1E-5F9DE324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57450"/>
            <a:ext cx="196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研发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5AD5C-3124-4ED2-93A0-464A18AA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47975"/>
            <a:ext cx="1962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变更 / 发布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017D9-600D-4977-A6DF-D4DEB33A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247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2602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BAD2D-8C9B-4CCE-B3DF-AF1088DE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600450"/>
            <a:ext cx="196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运营 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F9DD0-9D22-419A-A1D5-B45F53DA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990975"/>
            <a:ext cx="1962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复核 / 业务办理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2FB2E-A8EA-43C0-8DB8-85DA08B1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247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26020"/>
            </a:solidFill>
            <a:prstDash val="dash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1576D-1662-4EBC-801C-72FE56EE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743450"/>
            <a:ext cx="196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生活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76777-F9D8-4458-82C9-75DF897E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133975"/>
            <a:ext cx="1962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服务 / 支付申请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2767E-FE3F-41CA-9F12-9BAEFC01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67050"/>
            <a:ext cx="32099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37D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A7FAB4-5008-4F02-8959-ED4903F5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81350"/>
            <a:ext cx="2924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用户审批入口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5388D-475A-4F48-BCEC-1288F2EC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571875"/>
            <a:ext cx="29241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分别绑定 · 独立范围</a:t>
            </a:r>
          </a:p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版本决策 · 历史审计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59CED-3413-4183-9AC4-3D8ED759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990725"/>
            <a:ext cx="314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26020"/>
            </a:solidFill>
            <a:prstDash val="dash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45EF7-6690-42D8-9EB7-7A68AE10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050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组织身份与审批体系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533180-02DC-489A-83F9-EF0D2E8E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4955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DID / VC · 角色 · 多级审批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1E59AB-B4DC-41FF-B0C3-C3FC0F31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790950"/>
            <a:ext cx="314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26020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E1D758-9B04-4E43-B4CE-BB9DA321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用户侧调查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36CFD-5661-494C-8115-05E8BC91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95775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独立取证 · 比较方案 · 反建议</a:t>
            </a:r>
          </a:p>
        </p:txBody>
      </p:sp>
      <p:cxnSp>
        <p:nvCxnSpPr>
          <p:cNvPr id="56" name=""/>
          <p:cNvCxnSpPr>
            <a:stCxn xmlns:a="http://schemas.openxmlformats.org/drawingml/2006/main" id="6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933700" y="2771775"/>
            <a:ext cx="123825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dash"/>
            <a:headEnd type="none" w="med" len="med"/>
            <a:tailEnd type="arrow" w="med" len="med"/>
          </a:ln>
        </p:spPr>
      </p:cxn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2933700" y="3771900"/>
            <a:ext cx="123825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dash"/>
            <a:headEnd type="none" w="med" len="med"/>
            <a:tailEnd type="arrow" w="med" len="med"/>
          </a:ln>
        </p:spPr>
      </p:cxnSp>
      <p:cxnSp>
        <p:nvCxnSpPr>
          <p:cNvPr id="58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2933700" y="3771900"/>
            <a:ext cx="123825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dash"/>
            <a:headEnd type="none" w="med" len="med"/>
            <a:tailEnd type="arrow" w="med" len="med"/>
          </a:ln>
        </p:spPr>
      </p:cxnSp>
      <p:cxnSp>
        <p:nvCxnSpPr>
          <p:cNvPr id="59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7381875" y="2524125"/>
            <a:ext cx="1066800" cy="12477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dash"/>
            <a:headEnd type="none" w="med" len="med"/>
            <a:tailEnd type="arrow" w="med" len="med"/>
          </a:ln>
        </p:spPr>
      </p:cxnSp>
      <p:cxnSp>
        <p:nvCxnSpPr>
          <p:cNvPr id="60" name=""/>
          <p:cNvCxnSpPr>
            <a:stCxn xmlns:a="http://schemas.openxmlformats.org/drawingml/2006/main" id="15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381875" y="3771900"/>
            <a:ext cx="106680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D67"/>
            </a:solidFill>
            <a:prstDash val="dash"/>
            <a:headEnd type="none" w="med" len="me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681BC8-4475-4831-A77D-BB2A971C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90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rPr>
              <a:t>限定资格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B3ACF7-767A-47E9-AB8C-E97D1FE8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505777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A26020"/>
                </a:solidFill>
                <a:latin typeface="Hiragino Sans GB"/>
                <a:ea typeface="Hiragino Sans GB"/>
                <a:cs typeface="Hiragino Sans GB"/>
              </a:rPr>
              <a:t>辅助决策；用户保留决定权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73EB10-8BE1-49EC-A3EA-4E14DD1B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虚线均为扩展方向。当前有多绑定结构；真实调查、多级审批、标准 VC 和反诈效果尚待验证。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3413D5-5AF2-4E32-A885-D64F8D2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d28d30a6fd7c47a3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16760831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D8F38-6F0D-4B9E-99D0-70D38753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83D35"/>
                </a:solidFill>
                <a:latin typeface="Hiragino Sans GB"/>
                <a:ea typeface="Hiragino Sans GB"/>
                <a:cs typeface="Hiragino Sans GB"/>
              </a:rPr>
              <a:t>完整演示与验收状态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5F0C6-7CEA-4133-950E-DE1F9F03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10934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按“关系 → 决定 → 执行 → 门禁”一次讲完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5BCC0-8C1D-451B-B21C-65BF8FB9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857375"/>
          <a:ext xmlns:a="http://schemas.openxmlformats.org/drawingml/2006/main" cx="10972800" cy="3914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66925"/>
                <a:gridCol w="4933950"/>
                <a:gridCol w="3971925"/>
              </a:tblGrid>
              <a:tr h="514350"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阶段</a:t>
                      </a:r>
                    </a:p>
                  </a:txBody>
                  <a:tcPr marL="91440" marR="91440" marT="45720" marB="45720" anchor="ctr">
                    <a:solidFill>
                      <a:srgbClr val="183D35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现场动作</a:t>
                      </a:r>
                    </a:p>
                  </a:txBody>
                  <a:tcPr marL="91440" marR="91440" marT="45720" marB="45720" anchor="ctr">
                    <a:solidFill>
                      <a:srgbClr val="183D35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已验证 / 待验证</a:t>
                      </a:r>
                    </a:p>
                  </a:txBody>
                  <a:tcPr marL="91440" marR="91440" marT="45720" marB="45720" anchor="ctr">
                    <a:solidFill>
                      <a:srgbClr val="183D35"/>
                    </a:solidFill>
                  </a:tcPr>
                </a:tc>
              </a:tr>
              <a:tr h="680085"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建立关系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同一服务 → QR / 码 → 双端短码确认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真人配对完成；本地回环访问问题已记录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0085"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人工决策</a:t>
                      </a:r>
                    </a:p>
                  </a:txBody>
                  <a:tcPr marL="91440" marR="91440" marT="45720" marB="45720" anchor="ctr">
                    <a:solidFill>
                      <a:srgbClr val="EAF0EA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成本报告 → 修改 → 安全报告 → 持续等待</a:t>
                      </a:r>
                    </a:p>
                  </a:txBody>
                  <a:tcPr marL="91440" marR="91440" marT="45720" marB="45720" anchor="ctr">
                    <a:solidFill>
                      <a:srgbClr val="EAF0EA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真人闭环完成；聊天确认不是执行依据</a:t>
                      </a:r>
                    </a:p>
                  </a:txBody>
                  <a:tcPr marL="91440" marR="91440" marT="45720" marB="45720" anchor="ctr">
                    <a:solidFill>
                      <a:srgbClr val="EAF0EA"/>
                    </a:solidFill>
                  </a:tcPr>
                </a:tc>
              </a:tr>
              <a:tr h="680085"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钱包执行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挑战 → 出示 → 逐项校验 → 签名回执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真人完成；只投递演示收件箱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0085"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原生 Hook</a:t>
                      </a:r>
                    </a:p>
                  </a:txBody>
                  <a:tcPr marL="91440" marR="91440" marT="45720" marB="45720" anchor="ctr">
                    <a:solidFill>
                      <a:srgbClr val="EAF0EA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前置检查 → Agent 调 Skill → 授权后重试</a:t>
                      </a:r>
                    </a:p>
                  </a:txBody>
                  <a:tcPr marL="91440" marR="91440" marT="45720" marB="45720" anchor="ctr">
                    <a:solidFill>
                      <a:srgbClr val="EAF0EA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当前热插入未通过，必须先过探针</a:t>
                      </a:r>
                    </a:p>
                  </a:txBody>
                  <a:tcPr marL="91440" marR="91440" marT="45720" marB="45720" anchor="ctr">
                    <a:solidFill>
                      <a:srgbClr val="EAF0EA"/>
                    </a:solidFill>
                  </a:tcPr>
                </a:tc>
              </a:tr>
              <a:tr h="680085"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规则与扩展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单独启用规则；换对象重新审批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95250" rIns="1333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83D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规则自动测试通过；组织/调查仍为规划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BF57B-DEE7-40E1-A301-DA33876D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下一轮门禁通过标准：原生拒绝日志 + 无副作用 + 手机真实批准 + 同请求放行 + 签名回执。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64E4C-8BAA-4E5F-A92D-0FA7DB11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293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</a:rPr>
              <a:t>来源：</a:t>
            </a:r>
            <a:r>
              <a:rPr sz="1050" b="0">
                <a:solidFill>
                  <a:srgbClr val="60736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3ff26ea71a244e9e"/>
              </a:rPr>
              <a:t>MYA 实现与实测</a:t>
            </a:r>
          </a:p>
        </p:txBody>
      </p:sp>
    </p:spTree>
    <p:extLst>
      <p:ext uri="{BB962C8B-B14F-4D97-AF65-F5344CB8AC3E}">
        <p14:creationId xmlns:p14="http://schemas.microsoft.com/office/powerpoint/2010/main" val="13081894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2026-09-15T12:59:51.5930000Z</dcterms:created>
  <dcterms:modified xsi:type="dcterms:W3CDTF">2026-09-15T12:59:51.5930000Z</dcterms:modified>
</coreProperties>
</file>