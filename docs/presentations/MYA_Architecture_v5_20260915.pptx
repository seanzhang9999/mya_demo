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00c71a29cf48e1" /><Relationship Type="http://schemas.openxmlformats.org/officeDocument/2006/relationships/extended-properties" Target="/docProps/app.xml" Id="R5e41c69a07f44c2b" /><Relationship Type="http://schemas.openxmlformats.org/officeDocument/2006/relationships/officeDocument" Target="/ppt/presentation.xml" Id="R6fb44385563444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03e25267824507"/>
  </p:sldMasterIdLst>
  <p:notesMasterIdLst>
    <p:notesMasterId xmlns:r="http://schemas.openxmlformats.org/officeDocument/2006/relationships" r:id="Refbf6224a4ea4f0b"/>
  </p:notesMasterIdLst>
  <p:sldIdLst>
    <p:sldId xmlns:r="http://schemas.openxmlformats.org/officeDocument/2006/relationships" id="256" r:id="R3ed8831379764acf"/>
    <p:sldId xmlns:r="http://schemas.openxmlformats.org/officeDocument/2006/relationships" id="257" r:id="R39ae553731fd4582"/>
    <p:sldId xmlns:r="http://schemas.openxmlformats.org/officeDocument/2006/relationships" id="258" r:id="R0a80782f44c240df"/>
    <p:sldId xmlns:r="http://schemas.openxmlformats.org/officeDocument/2006/relationships" id="259" r:id="R80a223c82ca04d0b"/>
    <p:sldId xmlns:r="http://schemas.openxmlformats.org/officeDocument/2006/relationships" id="260" r:id="Rbb902a0c74e64729"/>
    <p:sldId xmlns:r="http://schemas.openxmlformats.org/officeDocument/2006/relationships" id="261" r:id="Rdc0dacff36e34674"/>
    <p:sldId xmlns:r="http://schemas.openxmlformats.org/officeDocument/2006/relationships" id="262" r:id="Rf41a36642c754482"/>
    <p:sldId xmlns:r="http://schemas.openxmlformats.org/officeDocument/2006/relationships" id="263" r:id="R61714e4a9c08477d"/>
    <p:sldId xmlns:r="http://schemas.openxmlformats.org/officeDocument/2006/relationships" id="264" r:id="Rafb07747d929460a"/>
    <p:sldId xmlns:r="http://schemas.openxmlformats.org/officeDocument/2006/relationships" id="265" r:id="R53fc40077d6745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b080be5dc44656" /><Relationship Type="http://schemas.openxmlformats.org/officeDocument/2006/relationships/slideMaster" Target="/ppt/slideMasters/slideMaster1.xml" Id="Rcc03e25267824507" /><Relationship Type="http://schemas.openxmlformats.org/officeDocument/2006/relationships/notesMaster" Target="/ppt/notesMasters/notesMaster1.xml" Id="Refbf6224a4ea4f0b" /><Relationship Type="http://schemas.openxmlformats.org/officeDocument/2006/relationships/presProps" Target="/ppt/presProps.xml" Id="R551178d08f2143f4" /><Relationship Type="http://schemas.openxmlformats.org/officeDocument/2006/relationships/tableStyles" Target="/ppt/tableStyles.xml" Id="R68aa289b5dba48f5" /><Relationship Type="http://schemas.openxmlformats.org/officeDocument/2006/relationships/slide" Target="/ppt/slides/slide1.xml" Id="R3ed8831379764acf" /><Relationship Type="http://schemas.openxmlformats.org/officeDocument/2006/relationships/slide" Target="/ppt/slides/slide2.xml" Id="R39ae553731fd4582" /><Relationship Type="http://schemas.openxmlformats.org/officeDocument/2006/relationships/slide" Target="/ppt/slides/slide3.xml" Id="R0a80782f44c240df" /><Relationship Type="http://schemas.openxmlformats.org/officeDocument/2006/relationships/slide" Target="/ppt/slides/slide4.xml" Id="R80a223c82ca04d0b" /><Relationship Type="http://schemas.openxmlformats.org/officeDocument/2006/relationships/slide" Target="/ppt/slides/slide5.xml" Id="Rbb902a0c74e64729" /><Relationship Type="http://schemas.openxmlformats.org/officeDocument/2006/relationships/slide" Target="/ppt/slides/slide6.xml" Id="Rdc0dacff36e34674" /><Relationship Type="http://schemas.openxmlformats.org/officeDocument/2006/relationships/slide" Target="/ppt/slides/slide7.xml" Id="Rf41a36642c754482" /><Relationship Type="http://schemas.openxmlformats.org/officeDocument/2006/relationships/slide" Target="/ppt/slides/slide8.xml" Id="R61714e4a9c08477d" /><Relationship Type="http://schemas.openxmlformats.org/officeDocument/2006/relationships/slide" Target="/ppt/slides/slide9.xml" Id="Rafb07747d929460a" /><Relationship Type="http://schemas.openxmlformats.org/officeDocument/2006/relationships/slide" Target="/ppt/slides/slide10.xml" Id="R53fc40077d6745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5a1a1557f44a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1aaf1660644178" /><Relationship Type="http://schemas.openxmlformats.org/officeDocument/2006/relationships/notesMaster" Target="/ppt/notesMasters/notesMaster1.xml" Id="R77587f533ff943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be2854ddf54cf3" /><Relationship Type="http://schemas.openxmlformats.org/officeDocument/2006/relationships/notesMaster" Target="/ppt/notesMasters/notesMaster1.xml" Id="Ra5a7dc4afeca4e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18d7b4e5c74a7a" /><Relationship Type="http://schemas.openxmlformats.org/officeDocument/2006/relationships/notesMaster" Target="/ppt/notesMasters/notesMaster1.xml" Id="R7ffeb2b57c9240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6e9480cedf4d3a" /><Relationship Type="http://schemas.openxmlformats.org/officeDocument/2006/relationships/notesMaster" Target="/ppt/notesMasters/notesMaster1.xml" Id="R80807a61f34e4c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d604db0e654985" /><Relationship Type="http://schemas.openxmlformats.org/officeDocument/2006/relationships/notesMaster" Target="/ppt/notesMasters/notesMaster1.xml" Id="R7c0b76e3ebf54f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6443d0fc954fc3" /><Relationship Type="http://schemas.openxmlformats.org/officeDocument/2006/relationships/notesMaster" Target="/ppt/notesMasters/notesMaster1.xml" Id="R648d63c9f8904d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8dfe7cfff34a58" /><Relationship Type="http://schemas.openxmlformats.org/officeDocument/2006/relationships/notesMaster" Target="/ppt/notesMasters/notesMaster1.xml" Id="Rf8e10d0388fd4f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37afd7a01a432f" /><Relationship Type="http://schemas.openxmlformats.org/officeDocument/2006/relationships/notesMaster" Target="/ppt/notesMasters/notesMaster1.xml" Id="R1644cba259f14f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3d971c99d44dd0" /><Relationship Type="http://schemas.openxmlformats.org/officeDocument/2006/relationships/notesMaster" Target="/ppt/notesMasters/notesMaster1.xml" Id="R4c2d7642262748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8ee5aa3af84db1" /><Relationship Type="http://schemas.openxmlformats.org/officeDocument/2006/relationships/notesMaster" Target="/ppt/notesMasters/notesMaster1.xml" Id="R26fd2c1bb0b54d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Any Agent是适配愿景；当前真实集成为Codex、MYA CLI和受控演示资源。分析和指纹交互为模拟，签名、加密与执行授权真实运行。架构及演示依据仓库1c7fddc；既有47页研究与完整记录保留在v3。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图按逻辑职责与控制权划分，不将物理Oracle位置当作信任域。资源侧可以自有验证组件或使用其信任的验证服务，接受凭证与执行策略最终由资源方决定。当前示例见证、转发、验证、执行同Oracle进程；手机代码仍由该服务分发，独立部署/钱包隔离尚待实现。Agent遇到受支持授权要求后自主选择调用Skill，Skill是钱包使用能力，不是拦截器自动替Agent调用的固定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系凭证覆盖双方公钥、binding_id、范围和有效期。手机签关系，Agent签PairConfirmation，见证签BindingWitnessCredential；见证交付双方。横跨两端的第③步为用户核对步骤，不代表手机直接绕过转发服务发送网络消息。配对码与SAS短码职责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图片是此前真实测试截图，两端P4PR N4RW一致。真人后续曾遇到未配对和远程浏览器打不开PC回环地址，重新配对时用户明确授权Agent代点PC确认；手机由用户确认。正常流程仍要求用户自己核对两端。本页不宣称该隔离截图是最新真人身份。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本报告真人修改闭环已完成。修改生成新request_id及supersedes_request_id，不能在原授权下偷换冻结内容。图中闭环返回手机审阅，实际由Agent创建新请求并经转发服务送达。审批侧当前建议为模拟；自由往返会话和独立调查Agent属于规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挑战最长120秒，持钥证明最长30秒；present不执行。execute-verified读取服务端保存交易并再次验证。当前验证与执行模块位于同一Oracle服务，图按职责分列。HTTPS不代替挑战签名与origin校验；出示既有凭证而非Agent自签用户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关联示意不是凭证签发依赖的完整DAG：grant关联关系/request；proof摘要覆盖既有credential集合且绑定challenge；receipt关联grant/request与实际payload。agent不能伪造手机授权，但同机钱包文件保护有限。真人request 5a0ad59f-2c45-4130-b343-c65bf977e1b8；execution 21a6627c-b7da-4f37-8f57-80b9fc00634e。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入口分别是外部业务资源反馈授权要求，以及运行环境内部PreToolUse检查点。Agent自主识别并调用Skill，Skill通过钱包发起审批或出示现有适用凭证，持续等待结果并重试原行动。已有有效且适用凭证时可直接按受信挑战出示，不必重复申请；缺失、过期或范围变化时请求新授权。手机不能直接调用业务执行，图中右侧连线表示手机授权经钱包出示后重试。两种触发入口可以分别使用或共同部署，并非每项请求必须依次经过两次拦截。无缝融入既有流程是集成目标，要求Agent识别协议和系统提供受控验证入口。现有CLI支持预配置MYA挑战，不支持任意未知返回端点；当前Hook原生热插入尚未验收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继承关系资格、具体行动授权和资源端执行分离。组织凭证不能替代用户单次批准或业务策略。审批侧Agent需要独立证据与权限隔离，不能仅重复工作Agent摘要。关于竞品差异的完整官方来源及边界见保留的v3第22–29页；本图不宣称远程确认或密码学绑定为MYA独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详细操作与全部历史证据见 docs/DEMO_WALKTHROUGH.md、docs/CODEX_HOOK.md，以及47页v3。最新真人执行2026-09-15 15:45:51中国时间。未经本次真人单独启用规则，不把单次同意当长期委托。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a30b8e61f4e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16a6969b5040d8" /><Relationship Type="http://schemas.openxmlformats.org/officeDocument/2006/relationships/slideLayout" Target="/ppt/slideLayouts/slideLayout1.xml" Id="Rbbfa74ffed6a47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fa74ffed6a47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f1b8d1a384bd1" /><Relationship Type="http://schemas.openxmlformats.org/officeDocument/2006/relationships/image" Target="/ppt/media/image.png" Id="Ra97c5b756b5f4ff7" /><Relationship Type="http://schemas.openxmlformats.org/officeDocument/2006/relationships/hyperlink" Target="https://github.com/seanzhang9999/mya_demo/tree/1c7fddc" TargetMode="External" Id="R6b8b02fd8ac74b3b" /><Relationship Type="http://schemas.openxmlformats.org/officeDocument/2006/relationships/notesSlide" Target="/ppt/notesSlides/notesSlide1.xml" Id="Reefad1d0079f40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ed9ed645c4654" /><Relationship Type="http://schemas.openxmlformats.org/officeDocument/2006/relationships/hyperlink" Target="https://github.com/seanzhang9999/mya_demo/tree/1c7fddc" TargetMode="External" Id="R61d8edf7ec9f4880" /><Relationship Type="http://schemas.openxmlformats.org/officeDocument/2006/relationships/notesSlide" Target="/ppt/notesSlides/notesSlide2.xml" Id="Rc95e3db70be84b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4eaf364134d32" /><Relationship Type="http://schemas.openxmlformats.org/officeDocument/2006/relationships/hyperlink" Target="https://github.com/seanzhang9999/mya_demo/tree/1c7fddc" TargetMode="External" Id="Rfacf48e7a01b4712" /><Relationship Type="http://schemas.openxmlformats.org/officeDocument/2006/relationships/notesSlide" Target="/ppt/notesSlides/notesSlide3.xml" Id="R87b51c41dcf645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16a3aba194e19" /><Relationship Type="http://schemas.openxmlformats.org/officeDocument/2006/relationships/image" Target="/ppt/media/image2.png" Id="R499c6e17d5e64203" /><Relationship Type="http://schemas.openxmlformats.org/officeDocument/2006/relationships/image" Target="/ppt/media/image3.png" Id="Rc7afbbceb28e4d4e" /><Relationship Type="http://schemas.openxmlformats.org/officeDocument/2006/relationships/hyperlink" Target="https://github.com/seanzhang9999/mya_demo/tree/1c7fddc" TargetMode="External" Id="R3ee40f2d4cd84a7e" /><Relationship Type="http://schemas.openxmlformats.org/officeDocument/2006/relationships/notesSlide" Target="/ppt/notesSlides/notesSlide4.xml" Id="R5c507069aa0c40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e8043c68a4967" /><Relationship Type="http://schemas.openxmlformats.org/officeDocument/2006/relationships/hyperlink" Target="https://github.com/seanzhang9999/mya_demo/tree/1c7fddc" TargetMode="External" Id="Rb646dcdaa1b24982" /><Relationship Type="http://schemas.openxmlformats.org/officeDocument/2006/relationships/notesSlide" Target="/ppt/notesSlides/notesSlide5.xml" Id="R5e8df045818847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f1a9160e6456b" /><Relationship Type="http://schemas.openxmlformats.org/officeDocument/2006/relationships/hyperlink" Target="https://github.com/seanzhang9999/mya_demo/tree/1c7fddc" TargetMode="External" Id="R6e77de4e24ef4e4e" /><Relationship Type="http://schemas.openxmlformats.org/officeDocument/2006/relationships/notesSlide" Target="/ppt/notesSlides/notesSlide6.xml" Id="Ra51b1a7fe3c841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edbd05bc44fbb" /><Relationship Type="http://schemas.openxmlformats.org/officeDocument/2006/relationships/hyperlink" Target="https://github.com/seanzhang9999/mya_demo/tree/1c7fddc" TargetMode="External" Id="R55bb68c0508646a4" /><Relationship Type="http://schemas.openxmlformats.org/officeDocument/2006/relationships/notesSlide" Target="/ppt/notesSlides/notesSlide7.xml" Id="R184a82e79f7b4c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d3cb28ae64a03" /><Relationship Type="http://schemas.openxmlformats.org/officeDocument/2006/relationships/hyperlink" Target="https://github.com/seanzhang9999/mya_demo/tree/1c7fddc" TargetMode="External" Id="R0d718e178bdc4579" /><Relationship Type="http://schemas.openxmlformats.org/officeDocument/2006/relationships/notesSlide" Target="/ppt/notesSlides/notesSlide8.xml" Id="R7d203222455648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68a60f73c408d" /><Relationship Type="http://schemas.openxmlformats.org/officeDocument/2006/relationships/hyperlink" Target="https://github.com/seanzhang9999/mya_demo/tree/1c7fddc" TargetMode="External" Id="R8c779aea05ff4a04" /><Relationship Type="http://schemas.openxmlformats.org/officeDocument/2006/relationships/notesSlide" Target="/ppt/notesSlides/notesSlide9.xml" Id="Re7de0fe5dfe940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ce9f51b6e4df1" /><Relationship Type="http://schemas.openxmlformats.org/officeDocument/2006/relationships/hyperlink" Target="https://github.com/seanzhang9999/mya_demo/tree/1c7fddc" TargetMode="External" Id="R101cd69c4f4a4867" /><Relationship Type="http://schemas.openxmlformats.org/officeDocument/2006/relationships/notesSlide" Target="/ppt/notesSlides/notesSlide10.xml" Id="R03a27744024e4a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c5b756b5f4ff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066BD-D994-43AB-85D5-BD3785B3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561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9FEC1-B080-4C1C-9F3E-25641440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6477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AI Authenticator</a:t>
            </a:r>
          </a:p>
          <a:p xmlns:a="http://schemas.openxmlformats.org/drawingml/2006/main">
            <a:pPr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for Any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05852-463B-4827-8B67-3999061B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666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远程可信审批</a:t>
            </a:r>
          </a:p>
          <a:p xmlns:a="http://schemas.openxmlformats.org/drawingml/2006/main"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用户与 Agent 的密码学绑定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EC09A-298A-480B-9028-7364DB05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系统架构与完整演示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DE79E-F1C0-49E4-98C1-7C1A33D3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b8b02fd8ac74b3b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712031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985E9A-6CB6-4E56-819A-D29D5C9D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整体架构与信任边界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7EAC7-8FD1-47B0-A365-4039B085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连接用户与 Agent；业务资源方保留验证策略和执行权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45C52-1FF8-4A6E-85BA-368EA022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B9DF4-225D-42F0-B4DE-1728E79C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2004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6B9AD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BDA08-2EEE-4126-B684-438EBC7B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工作 Agent 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1BFA4-D27C-4DED-B851-D399F3B8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1450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6B9AD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6E3F0-C511-4195-8F6A-DEDEB3B3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关系与通信服务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7A03A-5FB5-4F96-9DC5-16A4A6D6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14500"/>
            <a:ext cx="30575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6B9AD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FF80B-4C71-49D3-9637-D7A207FF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79070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用户审批侧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0081A-1002-4CF5-BF01-8FF088FD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0025"/>
            <a:ext cx="70294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6B9AD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5A1C3-25C3-4405-8E59-AF3F90A2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86225"/>
            <a:ext cx="680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业务资源方 · 独立控制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1ECA6-E074-4755-8075-2E1F2DA2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38375"/>
            <a:ext cx="28384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D5AA1-506F-4545-A57C-542942BD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+ 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D9802-2B65-487C-AB4F-46F826D5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遇到授权要求，自主调用 Skill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EE4217-9F8B-45AC-8334-0788EF82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00550"/>
            <a:ext cx="2838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2C7FB-6D75-44DA-9FCC-3A8A09CA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凭证钱包 / CLI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B1234-54D7-4E23-86F7-E4E5DC74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2552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发起申请 · 等待决定 · 出示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408B5-8F09-4F75-916D-2301A6ED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238375"/>
            <a:ext cx="26860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4BDEE-C6E4-40A8-A45A-BA95EC35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5267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配对见证 + 消息转发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CC322-2EFC-483C-8B59-A04BA8FA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4320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关系核验 · 加密消息传递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C9904-3373-4DE8-9031-2FC8395C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38375"/>
            <a:ext cx="26955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59C42-5F05-49F0-9D6C-CA71B0B4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52675"/>
            <a:ext cx="2409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手机用户 + 签名密钥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1303A-334A-4963-AB4F-E3E6AC03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43200"/>
            <a:ext cx="2409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审阅 / 修改 / 批准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406206-F2BE-4D00-913F-66CAAC9A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400550"/>
            <a:ext cx="666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A7ECF2-F51A-43FE-A6C1-3D1981DA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148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业务验证组件 + 执行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F2F14-E6B5-40F1-9D4D-19EF9CE6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05375"/>
            <a:ext cx="638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返回授权要求 / 挑战 → 验证凭证与业务策略 → 执行并签回执</a:t>
            </a:r>
          </a:p>
        </p:txBody>
      </p:sp>
      <p:cxnSp>
        <p:nvCxnSpPr>
          <p:cNvPr id="62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114550" y="3295650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2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533775" y="2767013"/>
            <a:ext cx="1295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515225" y="2767013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5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533775" y="4914900"/>
            <a:ext cx="1295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ED3099-F0A0-4CBB-80C5-51A500BA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81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审批请求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41B753-132D-41CF-81A2-F19F4774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81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独立决定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0786E7-5B27-4E95-ABD8-6043EA79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38675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挑战 / 出示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F84D5D-AA4B-42D4-B950-8D39AC81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 Demo 同机部署在 Oracle，仅为演示方便；正式架构不要求业务交给 MYA 平台执行。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1B8404-8280-4516-98EE-F527CE71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1d8edf7ec9f4880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1472331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023C23-AB19-4E5F-86FA-22886304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配对与密码学绑定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34BC6-5481-4944-AFA3-9796D513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先核对双方关系，再签发可验证的配对见证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F0FEF-D344-41CD-A430-C5037E03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B18BE-DBAF-47BC-8073-33AC7967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PC /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865D6-8DFA-4129-9F0E-EFEDA02B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19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33185-0282-469E-9C9B-BF80BB99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1524000" y="2224088"/>
            <a:ext cx="9525" cy="3457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26DDA-5BE3-462C-B455-50BC2749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Oracle 见证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E191E-3D2A-4FC9-B806-E563E2E7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19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05E12-CD4C-402E-9609-4DBA876E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76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H="1">
            <a:off x="6096000" y="2224088"/>
            <a:ext cx="9525" cy="3457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C88C5-E97B-4F5B-9A8A-8B806A16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 / 用户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F4244-341C-4770-8329-C40C5245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19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2D653-DEF3-41E1-B550-18601575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676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10668000" y="2224088"/>
            <a:ext cx="9525" cy="3457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EBF8C-7C99-4F5B-A403-14D5F616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81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B219A-127D-479C-BB34-62A89E9A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81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533525" y="2586038"/>
            <a:ext cx="456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506EE-072A-4391-965B-19AE8DFF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86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① 创建邀请：Agent 公钥与用途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AA5ED-C89C-4781-8D79-E6E7E377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52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5917E-8ECD-4662-8CE1-C79CE9EA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52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6096000" y="3157538"/>
            <a:ext cx="458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7BEA85-C5E6-4059-B310-0D97B418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57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② 扫码或输入配对码加入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CF3824-1B6C-41BF-A9E4-82B45C7D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24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6F18D-0EC8-4444-9A12-DA064E1E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24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H="1">
            <a:off x="1524000" y="3729038"/>
            <a:ext cx="9153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4DDCA7-D390-42C7-B63B-9D4F6F29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29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③ 两端显示同一短码，用户分别核对确认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C71253-DA0A-4FFA-BABE-BDB81530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95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22C8AE-EEBC-4C43-A6EF-EB9AF624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95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H="1">
            <a:off x="6096000" y="4300538"/>
            <a:ext cx="458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47955B-20AF-48E1-8886-BB4880BE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④ 手机签署关系凭证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1BB398-1011-4F4C-BF9A-9FFC97A6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67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4B98ED-2466-4E3B-8FE8-E0C9033B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67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533525" y="4872038"/>
            <a:ext cx="456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0E8DB0-8CB0-43D0-A692-57DBF9CA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572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⑤ Agent 签署关系确认，证明持钥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68E248-5194-4C49-BF13-55EDB174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38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B10500-4984-42F4-8EE8-3AF4C765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38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>
            <a:off x="1524000" y="5443538"/>
            <a:ext cx="458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C204F2-4B8B-4EF8-B688-70A001C6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43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核验一致，交付签名见证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91975E-192F-48E6-9A49-4DD3D1E5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38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5ECE17-2A83-4893-B7FE-F71DB3CD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38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105525" y="5443538"/>
            <a:ext cx="456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E3E93E-9317-45BC-9D9D-117EC12D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43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核验一致，交付签名见证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AE1894-E417-4F27-81FA-CC10488B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绑定授予申请资格。具体行动仍需单次授权或用户单独启用的有限规则。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302ED7-9C42-440F-9576-A130A0A7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acf48e7a01b4712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14402624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C8C08-660D-4567-A677-59A4BA62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双端配对确认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14F9C-EF90-4427-AC77-F9CA8D15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二维码或配对码加入 → 核对同一短码 → 两端确认 → 保存关系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01AEF-E8D9-4388-A9D3-A0427313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B43A6-FB28-43B1-A7BA-A07AEB39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PC 确认页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c6e17d5e64203"/>
          <a:stretch xmlns:a="http://schemas.openxmlformats.org/drawingml/2006/main"/>
        </p:blipFill>
        <p:spPr>
          <a:xfrm xmlns:a="http://schemas.openxmlformats.org/drawingml/2006/main">
            <a:off x="628650" y="2420327"/>
            <a:ext cx="5048250" cy="258884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377D27-9504-4A7A-9505-B403C55E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6212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手机确认页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fbbceb28e4d4e"/>
          <a:stretch xmlns:a="http://schemas.openxmlformats.org/drawingml/2006/main"/>
        </p:blipFill>
        <p:spPr>
          <a:xfrm xmlns:a="http://schemas.openxmlformats.org/drawingml/2006/main">
            <a:off x="7254269" y="2190750"/>
            <a:ext cx="3303212" cy="3667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11741-D997-4DA1-A3C1-926A5425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配对码：加入邀请</a:t>
            </a:r>
          </a:p>
          <a:p xmlns:a="http://schemas.openxmlformats.org/drawingml/2006/main">
            <a:pPr>
              <a:def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核对短码：确认双方关系一致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2FF4F-5E8B-430E-8278-E9B17430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图为同一次隔离测试，邀请已失效、关系已撤销；现场演示应重新生成邀请。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C5AE3-20C2-40ED-BCA3-F04F7BBF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ee40f2d4cd84a7e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1755329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F0B596-4CA0-450E-A8B8-58BB8FAD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审批分支与版本流转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5DDFD-D8F8-49E8-B793-30E9A34D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主任务继续保存工作上下文，手机侧保留修改理由与最终决定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BAFB8-8B1F-48B1-83FE-523D295E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85246-9B8C-480E-B2FE-FC754B0A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2286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4DAF3-E531-4180-AB75-D1A07F06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工作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884B5-A1C9-414A-A045-E12E54D7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00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冻结成本报告 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04ED6-21C2-4C7D-B64F-361E9FB2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14550"/>
            <a:ext cx="2971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34B4D-0C36-4206-8E5D-037141D0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288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手机审阅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AF918-5C65-4D97-8187-AC6DEBC4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19375"/>
            <a:ext cx="2686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查看接收方、内容、建议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E8E8F-1A99-4A22-AEF5-62FB2121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14550"/>
            <a:ext cx="3333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46A67-1972-49D6-AAC3-8C937B6E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288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用户批准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88033-B727-4D17-81FC-ABAB5107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19375"/>
            <a:ext cx="304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签署具体行动授权</a:t>
            </a:r>
          </a:p>
        </p:txBody>
      </p:sp>
      <p:cxnSp>
        <p:nvCxnSpPr>
          <p:cNvPr id="4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05125" y="2619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829425" y="2619375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C5333-D2D3-4BB6-AC54-4EFC8BC9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76475"/>
            <a:ext cx="106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可直接批准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F6478-0AE0-4923-A93F-FD5FC84F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62425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0529DF-4974-4085-8CA4-B3C8EEA0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7672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要求修改 → 新版本 v2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D988D-11C6-46E4-AFE2-3E26B29B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移除成本；引用原 request_id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E07CF-F8FB-4C1E-A046-EA3C8459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162425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FA04D-1F4A-40F3-ACBD-74D8B365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767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钱包出示 → 资源执行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4032C6-2F6B-4E86-9FB4-6284D144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672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验证当前授权，保存签名回执</a:t>
            </a:r>
          </a:p>
        </p:txBody>
      </p:sp>
      <p:cxnSp>
        <p:nvCxnSpPr>
          <p:cNvPr id="58" name=""/>
          <p:cNvCxnSpPr>
            <a:stCxn xmlns:a="http://schemas.openxmlformats.org/drawingml/2006/main" id="7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343525" y="3124200"/>
            <a:ext cx="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677400" y="3124200"/>
            <a:ext cx="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956752-A27C-41AA-9C50-53C0CFFC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705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4F28D8-6135-4AEF-A84F-22DFD8B7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05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H="1">
            <a:off x="3286125" y="4710113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B86178-318C-49AF-8600-9AD6E361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705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B93AD0-5FC8-4D04-879F-14EF49E4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05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H="1" flipV="1">
            <a:off x="3286125" y="2909888"/>
            <a:ext cx="9525" cy="1800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4D9D3C-2ECE-493D-A5F5-18D3F1CE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05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41CFA7-67DD-4882-859F-2A60B0B1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05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3295650" y="2909888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9AFE33-0849-4931-93B0-299E2AD0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1470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修订后再审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9E455A-815A-47F1-B755-23FC0F7D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05275"/>
            <a:ext cx="252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拒绝 / 取消 / 过期</a:t>
            </a:r>
          </a:p>
          <a:p xmlns:a="http://schemas.openxmlformats.org/drawingml/2006/main">
            <a:pPr>
              <a:def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结束本次申请，不执行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808328-6048-4B88-B4DF-F56596C8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手机决定由签名消息返回。Agent 持续等待，无需用户在主会话重复说“批准了”。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DC93F9-75A1-41B3-9450-226E6762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646dcdaa1b24982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8306672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3451FF-348A-4D06-95A9-AB3CC0AB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钱包挑战出示与执行时序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27818-6F09-49EC-BE59-F06EE2E1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出示证明“现在持钥且获授权”，回执证明“实际执行了什么”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78A6B-246B-4E2F-A8F2-5649B2B7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59F8F-581D-4BAD-BCCF-998FA9A0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 / 钱包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68172-CB61-4C7D-872E-633DFCDD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19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982BD-1A16-45FB-BFC8-C63F4FEA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1524000" y="2224088"/>
            <a:ext cx="9525" cy="3457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00DF2-9860-4D61-AEE7-15507D50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资源验证器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C88F1-7470-4D46-9BCB-C5F74395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19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0D38F-AFB6-4109-8739-0003BC97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76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H="1">
            <a:off x="6096000" y="2224088"/>
            <a:ext cx="9525" cy="3457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05AD8-D3FC-4BF1-ADDA-CF2D4F7A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A8EAA-040D-41FC-99AA-E786FFB9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193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1CBEC-F598-4A8B-A6CC-C88E4546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676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H="1">
            <a:off x="10668000" y="2224088"/>
            <a:ext cx="9525" cy="3457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40049-3C94-4361-A13F-8ECC6841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81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2820A-AE27-4DA9-A9B7-2C8EBD86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81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533525" y="2586038"/>
            <a:ext cx="456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D1239-DC85-4B87-B5AE-5D51D805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86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① 请求冻结交易与签名挑战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EA4C4D-F0BD-4A4A-9FD5-59E3E5B8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52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BACB0-6E81-426B-8AD1-0F09672F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52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H="1">
            <a:off x="1524000" y="3157538"/>
            <a:ext cx="458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B961A-ABB8-48E5-BE12-04D36597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57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② 返回 nonce、交易号、行动摘要、验证端点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CA08B-8830-4EAA-9F6A-8BA68751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24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32D4F4-E3C4-4A75-A6A2-AC77F3F7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24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533525" y="3729038"/>
            <a:ext cx="4562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D247D0-EB52-4E15-96B0-5D1F733A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29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③ 核验挑战后出示凭证 + 短时持钥签名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F49B35-6645-4A7C-8789-6249C71E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95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48767B-360C-43A4-B21D-AF9A2116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95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H="1">
            <a:off x="1524000" y="4300538"/>
            <a:ext cx="458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C6D658-27F6-409C-8C28-035D606A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00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④ 返回签名验证结果与交易号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1ED003-CB3E-4807-94EA-F1521E1A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67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C1054D-9CA1-4530-B95A-40DBEFB9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672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533525" y="4872038"/>
            <a:ext cx="9134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282AB1-27C1-4416-86E0-9A804BF8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572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⑤ 按交易执行：再查范围、时效、撤销与幂等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CB00C2-2B92-48AE-940B-F3C5C9A6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38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4AC93D-A826-4EEF-8300-C4038151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38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>
            <a:off x="1524000" y="5443538"/>
            <a:ext cx="9153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97B952-8546-419B-8348-42ADB4B1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435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返回签名执行回执，更新手机历史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16795F-6A4F-4782-BAB9-84180439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钱包只接受预配置受信服务器和固定验证端点。当前是自定义 JWS 凭证，不是通用 VC 互操作。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598256-3FD9-4EB0-B2FF-CD5A0AAE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e77de4e24ef4e4e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15027596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88A5A6-4CA3-4489-9202-6CDA0864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凭证链与行动一致性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6C697-97F5-47DD-8EF6-FE6F075D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每一项签名证明不同事实，通过标识与摘要关联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D360F-C942-4186-831A-806B7DCC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179B7-93C0-4CB4-8E01-BAEF6A49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71675"/>
            <a:ext cx="31623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E3F10-F04E-4FBC-8F19-A67942BD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关系凭证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6B958-905F-44EC-AAEB-05F3F464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手机签：双方公钥 / 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7950C-9C35-44D4-9373-2F41063A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971675"/>
            <a:ext cx="32194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07467-7515-442B-95C1-77981B19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859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配对见证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9BC88-F480-4008-85E2-884E63FB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见证签：关系摘要 / 绑定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1B92F-EC9B-4C53-9C50-6D103588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33337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85DE6-EC2A-4A2C-86B4-7F6E9FE5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859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行动授权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5AF6F-510C-451A-A136-26F2B13B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765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手机签：请求 / 行动 / 时效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82EB3-A1BC-4498-98AB-35EA11BC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62425"/>
            <a:ext cx="70104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E720A-5E37-4CDB-9109-5F0D0B8F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672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挑战持钥证明：将三类凭证绑定到本次出示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2FEFF-1CEB-448A-8F0E-94DDB2CE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672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签：nonce / 交易号 / 行动摘要 / 凭证集合摘要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6BC84-55E1-4EEF-BADB-FF0EB723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62425"/>
            <a:ext cx="3333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0AB21-E9F9-43F1-A703-C22FE9F3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2767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执行回执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086DF-FA51-4811-8B76-B033B31A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6672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资源签：实际内容 / 授权 / 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1428D1-DFE1-45C2-B537-3A67A087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057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658CB-C1BF-4F17-97A7-20FB06B8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609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H="1">
            <a:off x="2162175" y="3062288"/>
            <a:ext cx="9525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36F7A9-FAE2-4533-A712-AD1AA182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57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79D35-BBE5-4A99-8597-EA9FE036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09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>
            <a:off x="5981700" y="3062288"/>
            <a:ext cx="9525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D0378F-4028-4B93-8E31-95EB908F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575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EE9E4-800B-473E-9981-DE527415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609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H="1">
            <a:off x="9896475" y="3062288"/>
            <a:ext cx="9525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E21D09-DDF5-48DC-A54C-E1D6FC93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619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C07A21-ECFE-4015-BDBC-D6AF8006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619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2171700" y="3624263"/>
            <a:ext cx="7724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66F48A-55CF-470C-B22C-99EC5D0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619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FDF591-027E-460A-87F8-5B0E56F5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33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H="1">
            <a:off x="4086225" y="3624263"/>
            <a:ext cx="95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591425" y="4710113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5F57E3-C319-46CC-A0E0-0348A23F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一致检查：关系 · 请求版本 · 接收方 · 内容摘要 · 有效期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581066-E446-47D7-A462-31EB58A0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真实执行后 13 项检查曾全部通过。授权后来过期，不改变历史回执，也不产生新的执行权限。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ED3AD3-2035-49E8-A14F-A07F9692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5bb68c0508646a4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9447663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A4C722-F161-43F9-BF21-3CD52B61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两个检查入口，一条授权协作流程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48760-E5AB-404B-AB43-073F71DA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外部拦截与内部检查点配合，让认证器融入现有业务流程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1FECA-0D80-4474-AFCF-74F3D845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2FF60-2DE8-4AF5-A6DB-EA9A0D50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4905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7AE6A-AFD5-4157-9F1E-362BB890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入口 A：业务系统拦截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4805E-C758-4813-A672-CC542035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返回缺失授权、凭证要求或受信挑战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3885F-9878-46E7-83A3-ADC4A19B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90537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6020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440FC-6912-4ED7-9B55-9162B265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2405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入口 B：Agent 运行环境 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A4370-87EC-4BC4-A8EF-E29081BB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14575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工具执行前检查；不足则阻止并反馈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21019-8143-4EA8-99DD-7041DA4B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390900"/>
            <a:ext cx="51625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0DBE5-EED3-4167-BE1F-743D13FE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理解要求，自主决定调用 Skill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D8A47-46AB-4CFE-AED1-B1C31821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95725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读取授权要求；选择钱包能力处理，并持续跟进</a:t>
            </a:r>
          </a:p>
        </p:txBody>
      </p:sp>
      <p:cxnSp>
        <p:nvCxnSpPr>
          <p:cNvPr id="43" name=""/>
          <p:cNvCxnSpPr>
            <a:stCxn xmlns:a="http://schemas.openxmlformats.org/drawingml/2006/main" id="4" idx="2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71813" y="2867025"/>
            <a:ext cx="442913" cy="1038225"/>
          </a:xfrm>
          <a:prstGeom xmlns:a="http://schemas.openxmlformats.org/drawingml/2006/main" prst="bentConnector5">
            <a:avLst>
              <a:gd name="adj1" fmla="val 0"/>
              <a:gd name="adj2" fmla="val 22018"/>
              <a:gd name="adj3" fmla="val 48387"/>
            </a:avLst>
          </a:prstGeom>
          <a:ln xmlns:a="http://schemas.openxmlformats.org/drawingml/2006/main" w="19050">
            <a:solidFill>
              <a:srgbClr val="137D67"/>
            </a:solidFill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7" idx="2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677275" y="2867025"/>
            <a:ext cx="442913" cy="1038225"/>
          </a:xfrm>
          <a:prstGeom xmlns:a="http://schemas.openxmlformats.org/drawingml/2006/main" prst="bentConnector5">
            <a:avLst>
              <a:gd name="adj1" fmla="val 0"/>
              <a:gd name="adj2" fmla="val 22018"/>
              <a:gd name="adj3" fmla="val 48387"/>
            </a:avLst>
          </a:prstGeom>
          <a:ln xmlns:a="http://schemas.openxmlformats.org/drawingml/2006/main" w="19050">
            <a:solidFill>
              <a:srgbClr val="137D6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F9181-FEDB-411D-8B01-9977730F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76800"/>
            <a:ext cx="28765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CCDD9-6B61-406B-8A96-F2C63BCA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Skill → 钱包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73FE7-AB59-42A8-AF34-B012F7C3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发起请求 · 持续等待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038D2-3921-42D0-9012-A72D405F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76800"/>
            <a:ext cx="28765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1F74B-3ABB-492A-9228-448D82DD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911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手机用户决定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B6063-60DC-42EC-859C-01BFA5F2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81625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审阅 / 修改 / 签署授权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7DFFD-95B5-4F85-91B4-C834A8D7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876800"/>
            <a:ext cx="28765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DEF10-5ABD-4E81-A3F1-ECD2E0CB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91100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钱包出示 → 重试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B8399-C7AC-4348-987B-BABB1262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81625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业务方再验证，执行并回执</a:t>
            </a:r>
          </a:p>
        </p:txBody>
      </p:sp>
      <p:cxnSp>
        <p:nvCxnSpPr>
          <p:cNvPr id="54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2057400" y="4419600"/>
            <a:ext cx="4038600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D67"/>
            </a:solidFill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495675" y="5386388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534275" y="5386388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EBC84E-DD0C-407E-93E7-D5DEAD35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086350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申请审批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28E8A6-A9FC-45C4-A1A5-3EAEF4D6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86350"/>
            <a:ext cx="106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授权经钱包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DAEF77-319D-4004-9D9D-3B997DF4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Skill 由 Agent 调用；Hook 不代替 Agent 决策。当前 Hook 热插入未通过，通用外部授权适配仍待扩展。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A5E1E0-F72E-4ED2-8631-1B6F67C5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d718e178bdc4579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11031345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A8DE67-EB48-42CE-99E3-2D780420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多 Agent 与企业审批扩展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D1CEF-19C1-46A6-8EB8-07C0BD34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目标架构：用户统一管理关系，业务资源保留最终授权控制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3C481-9D16-4C04-9D66-2DEC5B8A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09653-1A64-48FE-BCD8-E64B6C0B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809750"/>
            <a:ext cx="2628900" cy="3724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6B9AD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9F913-D711-4F85-BB39-D3125B61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8595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不同执行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F59D2-1C6F-45BC-B641-043A3A87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247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6020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F7C82-0C62-4056-BABF-DDB4F08F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57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研发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59FAA-FA83-48EE-BCC2-990D796B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47975"/>
            <a:ext cx="1962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变更 / 发布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16AFD-E6E2-414F-AE77-E2445E91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2479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6020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7E9C3-184F-457F-837C-F4760D4F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00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运营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5D217-8BED-4648-B385-56973208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90975"/>
            <a:ext cx="1962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复核 / 业务办理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EFF37-357C-43A9-9772-09F4A509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247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6020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AC047-3C33-4840-8402-7BB85908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43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生活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5FF5E-1E42-4E23-9631-3DA7DAF0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33975"/>
            <a:ext cx="1962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服务 / 支付申请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16FF6-C37A-4EA3-9C31-5F6A1676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320992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E7FCF-8FFC-42B9-A91A-014F8486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81350"/>
            <a:ext cx="2924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用户审批入口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D806C-4DF8-42C6-A0ED-5B7B7FBE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71875"/>
            <a:ext cx="29241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分别绑定 · 独立范围</a:t>
            </a:r>
          </a:p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版本决策 · 历史审计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28B2F-413A-4234-B394-D476A42E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99072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6020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55828-EE6F-4CC5-8F97-221A72B5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050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组织身份与审批体系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30FC3-FE6F-4332-91A7-9859877D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955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DID / VC · 角色 · 多级审批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2A311D-BA98-4BEF-ADD8-6C776697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909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26020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5E468-F029-415C-83F7-1241F060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用户侧调查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927AE9-013E-4A8A-BBB8-72C9D10D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9577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独立取证 · 比较方案 · 反建议</a:t>
            </a:r>
          </a:p>
        </p:txBody>
      </p:sp>
      <p:cxnSp>
        <p:nvCxnSpPr>
          <p:cNvPr id="56" name=""/>
          <p:cNvCxnSpPr>
            <a:stCxn xmlns:a="http://schemas.openxmlformats.org/drawingml/2006/main" id="6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933700" y="2771775"/>
            <a:ext cx="12382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2933700" y="3771900"/>
            <a:ext cx="12382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2933700" y="3771900"/>
            <a:ext cx="123825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381875" y="2524125"/>
            <a:ext cx="1066800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81875" y="3771900"/>
            <a:ext cx="10668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69470B-E426-4F56-86E5-313A6E2D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限定资格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40FC2F-3C08-4B5F-8509-62F57BDB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5057775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辅助决策；用户保留决定权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FAF4A5-27F5-43E6-9045-F976830A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虚线均为扩展方向。当前有多绑定结构；真实调查、多级审批、标准 VC 和反诈效果尚待验证。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A30E28-F44F-4BCA-BECF-2C05DD94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c779aea05ff4a04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5497891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BF4F8-EB96-4321-A6AA-30818344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完整演示与验收状态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6278D-A205-49B4-84B1-8915FFEF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按“关系 → 决定 → 执行 → 门禁”一次讲完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E9A44-A3FA-43DF-BA29-63C56D3E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66925"/>
                <a:gridCol w="4933950"/>
                <a:gridCol w="39719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现场动作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已验证 / 待验证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建立关系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同一服务 → QR / 码 → 双端短码确认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真人配对完成；本地回环访问问题已记录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人工决策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成本报告 → 修改 → 安全报告 → 持续等待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真人闭环完成；聊天确认不是执行依据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钱包执行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挑战 → 出示 → 逐项校验 → 签名回执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真人完成；只投递演示收件箱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原生 Hook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前置检查 → Agent 调 Skill → 授权后重试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当前热插入未通过，必须先过探针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规则与扩展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单独启用规则；换对象重新审批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规则自动测试通过；组织/调查仍为规划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79AC7-EE74-4C69-9C77-FAAD681E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下一轮门禁通过标准：原生拒绝日志 + 无副作用 + 手机真实批准 + 同请求放行 + 签名回执。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5AF43-9909-4EB5-B7EC-565CA660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01cd69c4f4a4867"/>
              </a:rPr>
              <a:t>MYA 实现与实测</a:t>
            </a:r>
          </a:p>
        </p:txBody>
      </p:sp>
    </p:spTree>
    <p:extLst>
      <p:ext uri="{BB962C8B-B14F-4D97-AF65-F5344CB8AC3E}">
        <p14:creationId xmlns:p14="http://schemas.microsoft.com/office/powerpoint/2010/main" val="1118524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2026-09-15T12:57:50.4310000Z</dcterms:created>
  <dcterms:modified xsi:type="dcterms:W3CDTF">2026-09-15T12:57:50.4310000Z</dcterms:modified>
</coreProperties>
</file>