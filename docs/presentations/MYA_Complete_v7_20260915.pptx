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png" ContentType="image/png"/>
  <Override PartName="/docProps/d0_app.xml" ContentType="application/vnd.openxmlformats-officedocument.extended-properties+xml"/>
  <Override PartName="/ppt/presentation.xml" ContentType="application/vnd.openxmlformats-officedocument.presentationml.presentation.main+xml"/>
  <Override PartName="/ppt/theme/d0_theme1.xml" ContentType="application/vnd.openxmlformats-officedocument.theme+xml"/>
  <Override PartName="/ppt/slideMasters/d0_slideMaster1.xml" ContentType="application/vnd.openxmlformats-officedocument.presentationml.slideMaster+xml"/>
  <Override PartName="/ppt/slideMasters/theme/d0_theme2.xml" ContentType="application/vnd.openxmlformats-officedocument.theme+xml"/>
  <Override PartName="/ppt/slideLayouts/d0_slideLayout1.xml" ContentType="application/vnd.openxmlformats-officedocument.presentationml.slideLayout+xml"/>
  <Override PartName="/ppt/notesMasters/d0_notesMaster1.xml" ContentType="application/vnd.openxmlformats-officedocument.presentationml.notesMaster+xml"/>
  <Override PartName="/ppt/notesMasters/theme/d0_theme3.xml" ContentType="application/vnd.openxmlformats-officedocument.theme+xml"/>
  <Override PartName="/ppt/d0_presProps.xml" ContentType="application/vnd.openxmlformats-officedocument.presentationml.presProps+xml"/>
  <Override PartName="/ppt/d0_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d0_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d0_notesSlide2.xml" ContentType="application/vnd.openxmlformats-officedocument.presentationml.notesSlide+xml"/>
  <Override PartName="/ppt/slides/slide19.xml" ContentType="application/vnd.openxmlformats-officedocument.presentationml.slide+xml"/>
  <Override PartName="/ppt/notesSlides/d0_notesSlide3.xml" ContentType="application/vnd.openxmlformats-officedocument.presentationml.notesSlide+xml"/>
  <Override PartName="/ppt/slides/slide33.xml" ContentType="application/vnd.openxmlformats-officedocument.presentationml.slide+xml"/>
  <Override PartName="/ppt/notesSlides/d0_notesSlide4.xml" ContentType="application/vnd.openxmlformats-officedocument.presentationml.notesSlide+xml"/>
  <Override PartName="/ppt/slides/slide41.xml" ContentType="application/vnd.openxmlformats-officedocument.presentationml.slide+xml"/>
  <Override PartName="/ppt/notesSlides/d0_notesSlide5.xml" ContentType="application/vnd.openxmlformats-officedocument.presentationml.notesSlide+xml"/>
  <Override PartName="/ppt/slides/slide58.xml" ContentType="application/vnd.openxmlformats-officedocument.presentationml.slide+xml"/>
  <Override PartName="/ppt/notesSlides/d0_notesSlide6.xml" ContentType="application/vnd.openxmlformats-officedocument.presentationml.notesSlide+xml"/>
  <Override PartName="/ppt/slides/slide74.xml" ContentType="application/vnd.openxmlformats-officedocument.presentationml.slide+xml"/>
  <Override PartName="/ppt/notesSlides/d0_notesSlide7.xml" ContentType="application/vnd.openxmlformats-officedocument.presentationml.notesSlide+xml"/>
  <Override PartName="/docProps/d1_d0_app.xml" ContentType="application/vnd.openxmlformats-officedocument.extended-properties+xml"/>
  <Override PartName="/ppt/theme/d1_d0_theme1.xml" ContentType="application/vnd.openxmlformats-officedocument.theme+xml"/>
  <Override PartName="/ppt/slideMasters/d1_d0_slideMaster1.xml" ContentType="application/vnd.openxmlformats-officedocument.presentationml.slideMaster+xml"/>
  <Override PartName="/ppt/slideMasters/theme/d1_d0_theme2.xml" ContentType="application/vnd.openxmlformats-officedocument.theme+xml"/>
  <Override PartName="/ppt/slideLayouts/d1_d0_slideLayout1.xml" ContentType="application/vnd.openxmlformats-officedocument.presentationml.slideLayout+xml"/>
  <Override PartName="/ppt/notesMasters/d1_d0_notesMaster1.xml" ContentType="application/vnd.openxmlformats-officedocument.presentationml.notesMaster+xml"/>
  <Override PartName="/ppt/notesMasters/theme/d1_d0_theme3.xml" ContentType="application/vnd.openxmlformats-officedocument.theme+xml"/>
  <Override PartName="/ppt/d1_d0_presProps.xml" ContentType="application/vnd.openxmlformats-officedocument.presentationml.presProps+xml"/>
  <Override PartName="/ppt/d1_d0_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d1_d0_notesSlide1.xml" ContentType="application/vnd.openxmlformats-officedocument.presentationml.notesSlide+xml"/>
  <Override PartName="/ppt/slides/slide3.xml" ContentType="application/vnd.openxmlformats-officedocument.presentationml.slide+xml"/>
  <Override PartName="/ppt/notesSlides/d1_d0_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d1_d0_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d1_d0_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d1_d0_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d1_d0_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d1_d0_notesSlide7.xml" ContentType="application/vnd.openxmlformats-officedocument.presentationml.notesSlide+xml"/>
  <Override PartName="/ppt/slides/d1_slide8.xml" ContentType="application/vnd.openxmlformats-officedocument.presentationml.slide+xml"/>
  <Override PartName="/ppt/notesSlides/d1_d0_notesSlide8.xml" ContentType="application/vnd.openxmlformats-officedocument.presentationml.notesSlide+xml"/>
  <Override PartName="/ppt/slides/slide34.xml" ContentType="application/vnd.openxmlformats-officedocument.presentationml.slide+xml"/>
  <Override PartName="/ppt/notesSlides/d1_d0_notesSlide9.xml" ContentType="application/vnd.openxmlformats-officedocument.presentationml.notesSlide+xml"/>
  <Override PartName="/ppt/slides/slide35.xml" ContentType="application/vnd.openxmlformats-officedocument.presentationml.slide+xml"/>
  <Override PartName="/ppt/notesSlides/d1_d0_notesSlide10.xml" ContentType="application/vnd.openxmlformats-officedocument.presentationml.notesSlide+xml"/>
  <Override PartName="/ppt/slides/slide36.xml" ContentType="application/vnd.openxmlformats-officedocument.presentationml.slide+xml"/>
  <Override PartName="/ppt/notesSlides/d1_d0_notesSlide11.xml" ContentType="application/vnd.openxmlformats-officedocument.presentationml.notesSlide+xml"/>
  <Override PartName="/ppt/slides/slide37.xml" ContentType="application/vnd.openxmlformats-officedocument.presentationml.slide+xml"/>
  <Override PartName="/ppt/notesSlides/d1_d0_notesSlide12.xml" ContentType="application/vnd.openxmlformats-officedocument.presentationml.notesSlide+xml"/>
  <Override PartName="/ppt/slides/slide38.xml" ContentType="application/vnd.openxmlformats-officedocument.presentationml.slide+xml"/>
  <Override PartName="/ppt/notesSlides/d1_d0_notesSlide13.xml" ContentType="application/vnd.openxmlformats-officedocument.presentationml.notesSlide+xml"/>
  <Override PartName="/ppt/slides/slide39.xml" ContentType="application/vnd.openxmlformats-officedocument.presentationml.slide+xml"/>
  <Override PartName="/ppt/notesSlides/d1_d0_notesSlide14.xml" ContentType="application/vnd.openxmlformats-officedocument.presentationml.notesSlide+xml"/>
  <Override PartName="/ppt/slides/slide40.xml" ContentType="application/vnd.openxmlformats-officedocument.presentationml.slide+xml"/>
  <Override PartName="/ppt/notesSlides/d1_d0_notesSlide15.xml" ContentType="application/vnd.openxmlformats-officedocument.presentationml.notesSlide+xml"/>
  <Override PartName="/ppt/slides/d1_slide26.xml" ContentType="application/vnd.openxmlformats-officedocument.presentationml.slide+xml"/>
  <Override PartName="/ppt/notesSlides/d1_d0_notesSlide16.xml" ContentType="application/vnd.openxmlformats-officedocument.presentationml.notesSlide+xml"/>
  <Override PartName="/docProps/d1_d1_app.xml" ContentType="application/vnd.openxmlformats-officedocument.extended-properties+xml"/>
  <Override PartName="/ppt/theme/d1_d1_theme1.xml" ContentType="application/vnd.openxmlformats-officedocument.theme+xml"/>
  <Override PartName="/ppt/slideMasters/d1_d1_slideMaster1.xml" ContentType="application/vnd.openxmlformats-officedocument.presentationml.slideMaster+xml"/>
  <Override PartName="/ppt/slideMasters/theme/d1_d1_theme2.xml" ContentType="application/vnd.openxmlformats-officedocument.theme+xml"/>
  <Override PartName="/ppt/slideLayouts/d1_d1_slideLayout1.xml" ContentType="application/vnd.openxmlformats-officedocument.presentationml.slideLayout+xml"/>
  <Override PartName="/ppt/notesMasters/d1_d1_notesMaster1.xml" ContentType="application/vnd.openxmlformats-officedocument.presentationml.notesMaster+xml"/>
  <Override PartName="/ppt/notesMasters/theme/d1_d1_theme3.xml" ContentType="application/vnd.openxmlformats-officedocument.theme+xml"/>
  <Override PartName="/ppt/d1_d1_presProps.xml" ContentType="application/vnd.openxmlformats-officedocument.presentationml.presProps+xml"/>
  <Override PartName="/ppt/d1_d1_tableStyles.xml" ContentType="application/vnd.openxmlformats-officedocument.presentationml.tableStyles+xml"/>
  <Override PartName="/ppt/slides/d1_slide9.xml" ContentType="application/vnd.openxmlformats-officedocument.presentationml.slide+xml"/>
  <Override PartName="/ppt/notesSlides/d1_d1_notesSlide1.xml" ContentType="application/vnd.openxmlformats-officedocument.presentationml.notesSlide+xml"/>
  <Override PartName="/ppt/slides/slide10.xml" ContentType="application/vnd.openxmlformats-officedocument.presentationml.slide+xml"/>
  <Override PartName="/ppt/notesSlides/d1_d1_notesSlide2.xml" ContentType="application/vnd.openxmlformats-officedocument.presentationml.notesSlide+xml"/>
  <Override PartName="/ppt/slides/slide11.xml" ContentType="application/vnd.openxmlformats-officedocument.presentationml.slide+xml"/>
  <Override PartName="/ppt/notesSlides/d1_d1_notesSlide3.xml" ContentType="application/vnd.openxmlformats-officedocument.presentationml.notesSlide+xml"/>
  <Override PartName="/ppt/slides/slide12.xml" ContentType="application/vnd.openxmlformats-officedocument.presentationml.slide+xml"/>
  <Override PartName="/ppt/notesSlides/d1_d1_notesSlide4.xml" ContentType="application/vnd.openxmlformats-officedocument.presentationml.notesSlide+xml"/>
  <Override PartName="/ppt/slides/slide13.xml" ContentType="application/vnd.openxmlformats-officedocument.presentationml.slide+xml"/>
  <Override PartName="/ppt/notesSlides/d1_d1_notesSlide5.xml" ContentType="application/vnd.openxmlformats-officedocument.presentationml.notesSlide+xml"/>
  <Override PartName="/ppt/slides/slide14.xml" ContentType="application/vnd.openxmlformats-officedocument.presentationml.slide+xml"/>
  <Override PartName="/ppt/notesSlides/d1_d1_notesSlide6.xml" ContentType="application/vnd.openxmlformats-officedocument.presentationml.notesSlide+xml"/>
  <Override PartName="/ppt/slides/slide15.xml" ContentType="application/vnd.openxmlformats-officedocument.presentationml.slide+xml"/>
  <Override PartName="/ppt/notesSlides/d1_d1_notesSlide7.xml" ContentType="application/vnd.openxmlformats-officedocument.presentationml.notesSlide+xml"/>
  <Override PartName="/ppt/slides/slide16.xml" ContentType="application/vnd.openxmlformats-officedocument.presentationml.slide+xml"/>
  <Override PartName="/ppt/notesSlides/d1_d1_notesSlide8.xml" ContentType="application/vnd.openxmlformats-officedocument.presentationml.notesSlide+xml"/>
  <Override PartName="/ppt/slides/slide17.xml" ContentType="application/vnd.openxmlformats-officedocument.presentationml.slide+xml"/>
  <Override PartName="/ppt/notesSlides/d1_d1_notesSlide9.xml" ContentType="application/vnd.openxmlformats-officedocument.presentationml.notesSlide+xml"/>
  <Override PartName="/ppt/slides/slide18.xml" ContentType="application/vnd.openxmlformats-officedocument.presentationml.slide+xml"/>
  <Override PartName="/ppt/notesSlides/d1_d1_notesSlide10.xml" ContentType="application/vnd.openxmlformats-officedocument.presentationml.notesSlide+xml"/>
  <Override PartName="/docProps/d1_d2_app.xml" ContentType="application/vnd.openxmlformats-officedocument.extended-properties+xml"/>
  <Override PartName="/ppt/theme/d1_d2_theme1.xml" ContentType="application/vnd.openxmlformats-officedocument.theme+xml"/>
  <Override PartName="/ppt/slideMasters/d1_d2_slideMaster1.xml" ContentType="application/vnd.openxmlformats-officedocument.presentationml.slideMaster+xml"/>
  <Override PartName="/ppt/slideMasters/theme/d1_d2_theme2.xml" ContentType="application/vnd.openxmlformats-officedocument.theme+xml"/>
  <Override PartName="/ppt/slideLayouts/d1_d2_slideLayout1.xml" ContentType="application/vnd.openxmlformats-officedocument.presentationml.slideLayout+xml"/>
  <Override PartName="/ppt/notesMasters/d1_d2_notesMaster1.xml" ContentType="application/vnd.openxmlformats-officedocument.presentationml.notesMaster+xml"/>
  <Override PartName="/ppt/notesMasters/theme/d1_d2_theme3.xml" ContentType="application/vnd.openxmlformats-officedocument.theme+xml"/>
  <Override PartName="/ppt/d1_d2_presProps.xml" ContentType="application/vnd.openxmlformats-officedocument.presentationml.presProps+xml"/>
  <Override PartName="/ppt/d1_d2_tableStyles.xml" ContentType="application/vnd.openxmlformats-officedocument.presentationml.tableStyles+xml"/>
  <Override PartName="/ppt/slides/slide42.xml" ContentType="application/vnd.openxmlformats-officedocument.presentationml.slide+xml"/>
  <Override PartName="/ppt/notesSlides/d1_d2_notesSlide1.xml" ContentType="application/vnd.openxmlformats-officedocument.presentationml.notesSlide+xml"/>
  <Override PartName="/ppt/slides/slide43.xml" ContentType="application/vnd.openxmlformats-officedocument.presentationml.slide+xml"/>
  <Override PartName="/ppt/notesSlides/d1_d2_notesSlide2.xml" ContentType="application/vnd.openxmlformats-officedocument.presentationml.notesSlide+xml"/>
  <Override PartName="/ppt/slides/slide44.xml" ContentType="application/vnd.openxmlformats-officedocument.presentationml.slide+xml"/>
  <Override PartName="/ppt/notesSlides/d1_d2_notesSlide3.xml" ContentType="application/vnd.openxmlformats-officedocument.presentationml.notesSlide+xml"/>
  <Override PartName="/ppt/slides/slide45.xml" ContentType="application/vnd.openxmlformats-officedocument.presentationml.slide+xml"/>
  <Override PartName="/ppt/notesSlides/d1_d2_notesSlide4.xml" ContentType="application/vnd.openxmlformats-officedocument.presentationml.notesSlide+xml"/>
  <Override PartName="/ppt/slides/slide46.xml" ContentType="application/vnd.openxmlformats-officedocument.presentationml.slide+xml"/>
  <Override PartName="/ppt/notesSlides/d1_d2_notesSlide5.xml" ContentType="application/vnd.openxmlformats-officedocument.presentationml.notesSlide+xml"/>
  <Override PartName="/ppt/slides/slide47.xml" ContentType="application/vnd.openxmlformats-officedocument.presentationml.slide+xml"/>
  <Override PartName="/ppt/notesSlides/d1_d2_notesSlide6.xml" ContentType="application/vnd.openxmlformats-officedocument.presentationml.notesSlide+xml"/>
  <Override PartName="/ppt/slides/slide48.xml" ContentType="application/vnd.openxmlformats-officedocument.presentationml.slide+xml"/>
  <Override PartName="/ppt/notesSlides/d1_d2_notesSlide7.xml" ContentType="application/vnd.openxmlformats-officedocument.presentationml.notesSlide+xml"/>
  <Override PartName="/ppt/slides/slide49.xml" ContentType="application/vnd.openxmlformats-officedocument.presentationml.slide+xml"/>
  <Override PartName="/ppt/notesSlides/d1_d2_notesSlide8.xml" ContentType="application/vnd.openxmlformats-officedocument.presentationml.notesSlide+xml"/>
  <Override PartName="/ppt/slides/slide50.xml" ContentType="application/vnd.openxmlformats-officedocument.presentationml.slide+xml"/>
  <Override PartName="/ppt/notesSlides/d1_d2_notesSlide9.xml" ContentType="application/vnd.openxmlformats-officedocument.presentationml.notesSlide+xml"/>
  <Override PartName="/ppt/slides/slide51.xml" ContentType="application/vnd.openxmlformats-officedocument.presentationml.slide+xml"/>
  <Override PartName="/ppt/notesSlides/d1_d2_notesSlide10.xml" ContentType="application/vnd.openxmlformats-officedocument.presentationml.notesSlide+xml"/>
  <Override PartName="/ppt/slides/slide52.xml" ContentType="application/vnd.openxmlformats-officedocument.presentationml.slide+xml"/>
  <Override PartName="/ppt/notesSlides/d1_d2_notesSlide11.xml" ContentType="application/vnd.openxmlformats-officedocument.presentationml.notesSlide+xml"/>
  <Override PartName="/ppt/slides/slide53.xml" ContentType="application/vnd.openxmlformats-officedocument.presentationml.slide+xml"/>
  <Override PartName="/ppt/notesSlides/d1_d2_notesSlide12.xml" ContentType="application/vnd.openxmlformats-officedocument.presentationml.notesSlide+xml"/>
  <Override PartName="/ppt/slides/slide54.xml" ContentType="application/vnd.openxmlformats-officedocument.presentationml.slide+xml"/>
  <Override PartName="/ppt/notesSlides/d1_d2_notesSlide13.xml" ContentType="application/vnd.openxmlformats-officedocument.presentationml.notesSlide+xml"/>
  <Override PartName="/ppt/slides/slide55.xml" ContentType="application/vnd.openxmlformats-officedocument.presentationml.slide+xml"/>
  <Override PartName="/ppt/notesSlides/d1_d2_notesSlide14.xml" ContentType="application/vnd.openxmlformats-officedocument.presentationml.notesSlide+xml"/>
  <Override PartName="/ppt/slides/slide56.xml" ContentType="application/vnd.openxmlformats-officedocument.presentationml.slide+xml"/>
  <Override PartName="/ppt/notesSlides/d1_d2_notesSlide15.xml" ContentType="application/vnd.openxmlformats-officedocument.presentationml.notesSlide+xml"/>
  <Override PartName="/ppt/slides/slide57.xml" ContentType="application/vnd.openxmlformats-officedocument.presentationml.slide+xml"/>
  <Override PartName="/ppt/notesSlides/d1_d2_notesSlide16.xml" ContentType="application/vnd.openxmlformats-officedocument.presentationml.notesSlide+xml"/>
  <Override PartName="/ppt/slides/slide59.xml" ContentType="application/vnd.openxmlformats-officedocument.presentationml.slide+xml"/>
  <Override PartName="/ppt/notesSlides/d1_d2_notesSlide17.xml" ContentType="application/vnd.openxmlformats-officedocument.presentationml.notesSlide+xml"/>
  <Override PartName="/ppt/slides/slide60.xml" ContentType="application/vnd.openxmlformats-officedocument.presentationml.slide+xml"/>
  <Override PartName="/ppt/notesSlides/d1_d2_notesSlide18.xml" ContentType="application/vnd.openxmlformats-officedocument.presentationml.notesSlide+xml"/>
  <Override PartName="/ppt/slides/slide61.xml" ContentType="application/vnd.openxmlformats-officedocument.presentationml.slide+xml"/>
  <Override PartName="/ppt/notesSlides/d1_d2_notesSlide19.xml" ContentType="application/vnd.openxmlformats-officedocument.presentationml.notesSlide+xml"/>
  <Override PartName="/ppt/slides/slide62.xml" ContentType="application/vnd.openxmlformats-officedocument.presentationml.slide+xml"/>
  <Override PartName="/ppt/notesSlides/d1_d2_notesSlide20.xml" ContentType="application/vnd.openxmlformats-officedocument.presentationml.notesSlide+xml"/>
  <Override PartName="/ppt/slides/slide63.xml" ContentType="application/vnd.openxmlformats-officedocument.presentationml.slide+xml"/>
  <Override PartName="/ppt/notesSlides/d1_d2_notesSlide21.xml" ContentType="application/vnd.openxmlformats-officedocument.presentationml.notesSlide+xml"/>
  <Override PartName="/ppt/slides/slide64.xml" ContentType="application/vnd.openxmlformats-officedocument.presentationml.slide+xml"/>
  <Override PartName="/ppt/notesSlides/d1_d2_notesSlide22.xml" ContentType="application/vnd.openxmlformats-officedocument.presentationml.notesSlide+xml"/>
  <Override PartName="/ppt/slides/slide65.xml" ContentType="application/vnd.openxmlformats-officedocument.presentationml.slide+xml"/>
  <Override PartName="/ppt/notesSlides/d1_d2_notesSlide23.xml" ContentType="application/vnd.openxmlformats-officedocument.presentationml.notesSlide+xml"/>
  <Override PartName="/ppt/slides/slide66.xml" ContentType="application/vnd.openxmlformats-officedocument.presentationml.slide+xml"/>
  <Override PartName="/ppt/notesSlides/d1_d2_notesSlide24.xml" ContentType="application/vnd.openxmlformats-officedocument.presentationml.notesSlide+xml"/>
  <Override PartName="/ppt/slides/slide67.xml" ContentType="application/vnd.openxmlformats-officedocument.presentationml.slide+xml"/>
  <Override PartName="/ppt/notesSlides/d1_d2_notesSlide25.xml" ContentType="application/vnd.openxmlformats-officedocument.presentationml.notesSlide+xml"/>
  <Override PartName="/ppt/slides/slide68.xml" ContentType="application/vnd.openxmlformats-officedocument.presentationml.slide+xml"/>
  <Override PartName="/ppt/notesSlides/d1_d2_notesSlide26.xml" ContentType="application/vnd.openxmlformats-officedocument.presentationml.notesSlide+xml"/>
  <Override PartName="/ppt/slides/slide69.xml" ContentType="application/vnd.openxmlformats-officedocument.presentationml.slide+xml"/>
  <Override PartName="/ppt/notesSlides/d1_d2_notesSlide27.xml" ContentType="application/vnd.openxmlformats-officedocument.presentationml.notesSlide+xml"/>
  <Override PartName="/ppt/slides/slide70.xml" ContentType="application/vnd.openxmlformats-officedocument.presentationml.slide+xml"/>
  <Override PartName="/ppt/notesSlides/d1_d2_notesSlide28.xml" ContentType="application/vnd.openxmlformats-officedocument.presentationml.notesSlide+xml"/>
  <Override PartName="/ppt/slides/slide71.xml" ContentType="application/vnd.openxmlformats-officedocument.presentationml.slide+xml"/>
  <Override PartName="/ppt/notesSlides/d1_d2_notesSlide29.xml" ContentType="application/vnd.openxmlformats-officedocument.presentationml.notesSlide+xml"/>
  <Override PartName="/ppt/slides/slide72.xml" ContentType="application/vnd.openxmlformats-officedocument.presentationml.slide+xml"/>
  <Override PartName="/ppt/notesSlides/d1_d2_notesSlide30.xml" ContentType="application/vnd.openxmlformats-officedocument.presentationml.notesSlide+xml"/>
  <Override PartName="/ppt/slides/slide73.xml" ContentType="application/vnd.openxmlformats-officedocument.presentationml.slide+xml"/>
  <Override PartName="/ppt/notesSlides/d1_d2_notesSlide31.xml" ContentType="application/vnd.openxmlformats-officedocument.presentationml.notesSlide+xml"/>
  <Override PartName="/ppt/slides/slide75.xml" ContentType="application/vnd.openxmlformats-officedocument.presentationml.slide+xml"/>
  <Override PartName="/ppt/notesSlides/d1_d2_notesSlide32.xml" ContentType="application/vnd.openxmlformats-officedocument.presentationml.notesSlide+xml"/>
  <Override PartName="/ppt/slides/slide76.xml" ContentType="application/vnd.openxmlformats-officedocument.presentationml.slide+xml"/>
  <Override PartName="/ppt/notesSlides/d1_d2_notesSlide33.xml" ContentType="application/vnd.openxmlformats-officedocument.presentationml.notesSlide+xml"/>
  <Override PartName="/ppt/slides/slide77.xml" ContentType="application/vnd.openxmlformats-officedocument.presentationml.slide+xml"/>
  <Override PartName="/ppt/notesSlides/d1_d2_notesSlide34.xml" ContentType="application/vnd.openxmlformats-officedocument.presentationml.notesSlide+xml"/>
  <Override PartName="/ppt/slides/slide20.xml" ContentType="application/vnd.openxmlformats-officedocument.presentationml.slide+xml"/>
  <Override PartName="/ppt/notesSlides/d1_d2_notesSlide35.xml" ContentType="application/vnd.openxmlformats-officedocument.presentationml.notesSlide+xml"/>
  <Override PartName="/ppt/slides/slide21.xml" ContentType="application/vnd.openxmlformats-officedocument.presentationml.slide+xml"/>
  <Override PartName="/ppt/notesSlides/d1_d2_notesSlide36.xml" ContentType="application/vnd.openxmlformats-officedocument.presentationml.notesSlide+xml"/>
  <Override PartName="/ppt/slides/slide22.xml" ContentType="application/vnd.openxmlformats-officedocument.presentationml.slide+xml"/>
  <Override PartName="/ppt/notesSlides/d1_d2_notesSlide37.xml" ContentType="application/vnd.openxmlformats-officedocument.presentationml.notesSlide+xml"/>
  <Override PartName="/ppt/slides/slide23.xml" ContentType="application/vnd.openxmlformats-officedocument.presentationml.slide+xml"/>
  <Override PartName="/ppt/notesSlides/d1_d2_notesSlide38.xml" ContentType="application/vnd.openxmlformats-officedocument.presentationml.notesSlide+xml"/>
  <Override PartName="/ppt/slides/slide24.xml" ContentType="application/vnd.openxmlformats-officedocument.presentationml.slide+xml"/>
  <Override PartName="/ppt/notesSlides/d1_d2_notesSlide39.xml" ContentType="application/vnd.openxmlformats-officedocument.presentationml.notesSlide+xml"/>
  <Override PartName="/ppt/slides/slide25.xml" ContentType="application/vnd.openxmlformats-officedocument.presentationml.slide+xml"/>
  <Override PartName="/ppt/notesSlides/d1_d2_notesSlide40.xml" ContentType="application/vnd.openxmlformats-officedocument.presentationml.notesSlide+xml"/>
  <Override PartName="/ppt/slides/slide26.xml" ContentType="application/vnd.openxmlformats-officedocument.presentationml.slide+xml"/>
  <Override PartName="/ppt/notesSlides/d1_d2_notesSlide41.xml" ContentType="application/vnd.openxmlformats-officedocument.presentationml.notesSlide+xml"/>
  <Override PartName="/ppt/slides/slide27.xml" ContentType="application/vnd.openxmlformats-officedocument.presentationml.slide+xml"/>
  <Override PartName="/ppt/notesSlides/d1_d2_notesSlide42.xml" ContentType="application/vnd.openxmlformats-officedocument.presentationml.notesSlide+xml"/>
  <Override PartName="/ppt/slides/slide28.xml" ContentType="application/vnd.openxmlformats-officedocument.presentationml.slide+xml"/>
  <Override PartName="/ppt/notesSlides/d1_d2_notesSlide43.xml" ContentType="application/vnd.openxmlformats-officedocument.presentationml.notesSlide+xml"/>
  <Override PartName="/ppt/slides/slide29.xml" ContentType="application/vnd.openxmlformats-officedocument.presentationml.slide+xml"/>
  <Override PartName="/ppt/notesSlides/d1_d2_notesSlide44.xml" ContentType="application/vnd.openxmlformats-officedocument.presentationml.notesSlide+xml"/>
  <Override PartName="/ppt/slides/slide30.xml" ContentType="application/vnd.openxmlformats-officedocument.presentationml.slide+xml"/>
  <Override PartName="/ppt/notesSlides/d1_d2_notesSlide45.xml" ContentType="application/vnd.openxmlformats-officedocument.presentationml.notesSlide+xml"/>
  <Override PartName="/ppt/slides/slide31.xml" ContentType="application/vnd.openxmlformats-officedocument.presentationml.slide+xml"/>
  <Override PartName="/ppt/notesSlides/d1_d2_notesSlide46.xml" ContentType="application/vnd.openxmlformats-officedocument.presentationml.notesSlide+xml"/>
  <Override PartName="/ppt/slides/slide32.xml" ContentType="application/vnd.openxmlformats-officedocument.presentationml.slide+xml"/>
  <Override PartName="/ppt/notesSlides/d1_d2_notesSlide47.xml" ContentType="application/vnd.openxmlformats-officedocument.presentationml.notesSlide+xml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docProps/d0_core.xml" Id="R7bf6345126774345" /><ns0:Relationship Type="http://schemas.openxmlformats.org/officeDocument/2006/relationships/extended-properties" Target="docProps/d0_app.xml" Id="Rf82a6924537147a3" /><ns0:Relationship Type="http://schemas.openxmlformats.org/officeDocument/2006/relationships/officeDocument" Target="ppt/presentation.xml" Id="R84b19ae83c3547a2" /></ns0: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  <p:sldMasterId id="2147483649" r:id="rId14"/>
    <p:sldMasterId id="2147483650" r:id="rId35"/>
    <p:sldMasterId id="2147483651" r:id="rId50"/>
  </p:sldMasterIdLst>
  <p:notesMasterIdLst>
    <p:notesMasterId r:id="rId3"/>
    <p:notesMasterId r:id="rId15"/>
    <p:notesMasterId r:id="rId36"/>
    <p:notesMasterId r:id="rId51"/>
  </p:notesMasterIdLst>
  <p:sldIdLst>
    <p:sldId id="256" r:id="rId18"/>
    <p:sldId id="257" r:id="rId6"/>
    <p:sldId id="258" r:id="rId19"/>
    <p:sldId id="259" r:id="rId20"/>
    <p:sldId id="260" r:id="rId21"/>
    <p:sldId id="261" r:id="rId22"/>
    <p:sldId id="262" r:id="rId23"/>
    <p:sldId id="263" r:id="rId24"/>
    <p:sldId id="264" r:id="rId7"/>
    <p:sldId id="265" r:id="rId40"/>
    <p:sldId id="266" r:id="rId41"/>
    <p:sldId id="267" r:id="rId42"/>
    <p:sldId id="268" r:id="rId43"/>
    <p:sldId id="269" r:id="rId44"/>
    <p:sldId id="270" r:id="rId45"/>
    <p:sldId id="271" r:id="rId46"/>
    <p:sldId id="272" r:id="rId47"/>
    <p:sldId id="273" r:id="rId48"/>
    <p:sldId id="274" r:id="rId8"/>
    <p:sldId id="275" r:id="rId88"/>
    <p:sldId id="276" r:id="rId89"/>
    <p:sldId id="277" r:id="rId90"/>
    <p:sldId id="278" r:id="rId91"/>
    <p:sldId id="279" r:id="rId92"/>
    <p:sldId id="280" r:id="rId93"/>
    <p:sldId id="281" r:id="rId94"/>
    <p:sldId id="282" r:id="rId95"/>
    <p:sldId id="283" r:id="rId96"/>
    <p:sldId id="284" r:id="rId97"/>
    <p:sldId id="285" r:id="rId98"/>
    <p:sldId id="286" r:id="rId99"/>
    <p:sldId id="287" r:id="rId100"/>
    <p:sldId id="288" r:id="rId9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10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11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12"/>
    <p:sldId id="330" r:id="rId85"/>
    <p:sldId id="331" r:id="rId86"/>
    <p:sldId id="332" r:id="rId87"/>
  </p:sldIdLst>
  <p:sldSz cx="12192000" cy="6858000"/>
  <p:notesSz cx="6858000" cy="9144000"/>
</p:presentation>
</file>

<file path=ppt/d0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0_tableStyles.xml><?xml version="1.0" encoding="utf-8"?>
<a:tblStyleLst xmlns:a="http://schemas.openxmlformats.org/drawingml/2006/main" def="{5C22544A-7EE6-4342-B048-85BDC9FD1C3A}"/>
</file>

<file path=ppt/d1_d0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1_d0_tableStyles.xml><?xml version="1.0" encoding="utf-8"?>
<a:tblStyleLst xmlns:a="http://schemas.openxmlformats.org/drawingml/2006/main" def="{5C22544A-7EE6-4342-B048-85BDC9FD1C3A}"/>
</file>

<file path=ppt/d1_d1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1_d1_tableStyles.xml><?xml version="1.0" encoding="utf-8"?>
<a:tblStyleLst xmlns:a="http://schemas.openxmlformats.org/drawingml/2006/main" def="{5C22544A-7EE6-4342-B048-85BDC9FD1C3A}"/>
</file>

<file path=ppt/d1_d2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1_d2_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theme/d0_theme1.xml" Id="rId1" /><ns0:Relationship Type="http://schemas.openxmlformats.org/officeDocument/2006/relationships/slideMaster" Target="slideMasters/d0_slideMaster1.xml" Id="rId2" /><ns0:Relationship Type="http://schemas.openxmlformats.org/officeDocument/2006/relationships/notesMaster" Target="notesMasters/d0_notesMaster1.xml" Id="rId3" /><ns0:Relationship Type="http://schemas.openxmlformats.org/officeDocument/2006/relationships/presProps" Target="d0_presProps.xml" Id="rId4" /><ns0:Relationship Type="http://schemas.openxmlformats.org/officeDocument/2006/relationships/tableStyles" Target="d0_tableStyles.xml" Id="rId5" /><ns0:Relationship Type="http://schemas.openxmlformats.org/officeDocument/2006/relationships/slide" Target="slides/slide2.xml" Id="rId6" /><ns0:Relationship Type="http://schemas.openxmlformats.org/officeDocument/2006/relationships/slide" Target="slides/slide9.xml" Id="rId7" /><ns0:Relationship Type="http://schemas.openxmlformats.org/officeDocument/2006/relationships/slide" Target="slides/slide19.xml" Id="rId8" /><ns0:Relationship Type="http://schemas.openxmlformats.org/officeDocument/2006/relationships/slide" Target="slides/slide33.xml" Id="rId9" /><ns0:Relationship Type="http://schemas.openxmlformats.org/officeDocument/2006/relationships/slide" Target="slides/slide41.xml" Id="rId10" /><ns0:Relationship Type="http://schemas.openxmlformats.org/officeDocument/2006/relationships/slide" Target="slides/slide58.xml" Id="rId11" /><ns0:Relationship Type="http://schemas.openxmlformats.org/officeDocument/2006/relationships/slide" Target="slides/slide74.xml" Id="rId12" /><ns0:Relationship Type="http://schemas.openxmlformats.org/officeDocument/2006/relationships/theme" Target="theme/d1_d0_theme1.xml" Id="rId13" /><ns0:Relationship Type="http://schemas.openxmlformats.org/officeDocument/2006/relationships/slideMaster" Target="slideMasters/d1_d0_slideMaster1.xml" Id="rId14" /><ns0:Relationship Type="http://schemas.openxmlformats.org/officeDocument/2006/relationships/notesMaster" Target="notesMasters/d1_d0_notesMaster1.xml" Id="rId15" /><ns0:Relationship Type="http://schemas.openxmlformats.org/officeDocument/2006/relationships/presProps" Target="d1_d0_presProps.xml" Id="rId16" /><ns0:Relationship Type="http://schemas.openxmlformats.org/officeDocument/2006/relationships/tableStyles" Target="d1_d0_tableStyles.xml" Id="rId17" /><ns0:Relationship Type="http://schemas.openxmlformats.org/officeDocument/2006/relationships/slide" Target="slides/slide1.xml" Id="rId18" /><ns0:Relationship Type="http://schemas.openxmlformats.org/officeDocument/2006/relationships/slide" Target="slides/slide3.xml" Id="rId19" /><ns0:Relationship Type="http://schemas.openxmlformats.org/officeDocument/2006/relationships/slide" Target="slides/slide4.xml" Id="rId20" /><ns0:Relationship Type="http://schemas.openxmlformats.org/officeDocument/2006/relationships/slide" Target="slides/slide5.xml" Id="rId21" /><ns0:Relationship Type="http://schemas.openxmlformats.org/officeDocument/2006/relationships/slide" Target="slides/slide6.xml" Id="rId22" /><ns0:Relationship Type="http://schemas.openxmlformats.org/officeDocument/2006/relationships/slide" Target="slides/slide7.xml" Id="rId23" /><ns0:Relationship Type="http://schemas.openxmlformats.org/officeDocument/2006/relationships/slide" Target="slides/slide8.xml" Id="rId24" /><ns0:Relationship Type="http://schemas.openxmlformats.org/officeDocument/2006/relationships/slide" Target="slides/d1_slide8.xml" Id="rId25" /><ns0:Relationship Type="http://schemas.openxmlformats.org/officeDocument/2006/relationships/slide" Target="slides/slide34.xml" Id="rId26" /><ns0:Relationship Type="http://schemas.openxmlformats.org/officeDocument/2006/relationships/slide" Target="slides/slide35.xml" Id="rId27" /><ns0:Relationship Type="http://schemas.openxmlformats.org/officeDocument/2006/relationships/slide" Target="slides/slide36.xml" Id="rId28" /><ns0:Relationship Type="http://schemas.openxmlformats.org/officeDocument/2006/relationships/slide" Target="slides/slide37.xml" Id="rId29" /><ns0:Relationship Type="http://schemas.openxmlformats.org/officeDocument/2006/relationships/slide" Target="slides/slide38.xml" Id="rId30" /><ns0:Relationship Type="http://schemas.openxmlformats.org/officeDocument/2006/relationships/slide" Target="slides/slide39.xml" Id="rId31" /><ns0:Relationship Type="http://schemas.openxmlformats.org/officeDocument/2006/relationships/slide" Target="slides/slide40.xml" Id="rId32" /><ns0:Relationship Type="http://schemas.openxmlformats.org/officeDocument/2006/relationships/slide" Target="slides/d1_slide26.xml" Id="rId33" /><ns0:Relationship Type="http://schemas.openxmlformats.org/officeDocument/2006/relationships/theme" Target="theme/d1_d1_theme1.xml" Id="rId34" /><ns0:Relationship Type="http://schemas.openxmlformats.org/officeDocument/2006/relationships/slideMaster" Target="slideMasters/d1_d1_slideMaster1.xml" Id="rId35" /><ns0:Relationship Type="http://schemas.openxmlformats.org/officeDocument/2006/relationships/notesMaster" Target="notesMasters/d1_d1_notesMaster1.xml" Id="rId36" /><ns0:Relationship Type="http://schemas.openxmlformats.org/officeDocument/2006/relationships/presProps" Target="d1_d1_presProps.xml" Id="rId37" /><ns0:Relationship Type="http://schemas.openxmlformats.org/officeDocument/2006/relationships/tableStyles" Target="d1_d1_tableStyles.xml" Id="rId38" /><ns0:Relationship Type="http://schemas.openxmlformats.org/officeDocument/2006/relationships/slide" Target="slides/d1_slide9.xml" Id="rId39" /><ns0:Relationship Type="http://schemas.openxmlformats.org/officeDocument/2006/relationships/slide" Target="slides/slide10.xml" Id="rId40" /><ns0:Relationship Type="http://schemas.openxmlformats.org/officeDocument/2006/relationships/slide" Target="slides/slide11.xml" Id="rId41" /><ns0:Relationship Type="http://schemas.openxmlformats.org/officeDocument/2006/relationships/slide" Target="slides/slide12.xml" Id="rId42" /><ns0:Relationship Type="http://schemas.openxmlformats.org/officeDocument/2006/relationships/slide" Target="slides/slide13.xml" Id="rId43" /><ns0:Relationship Type="http://schemas.openxmlformats.org/officeDocument/2006/relationships/slide" Target="slides/slide14.xml" Id="rId44" /><ns0:Relationship Type="http://schemas.openxmlformats.org/officeDocument/2006/relationships/slide" Target="slides/slide15.xml" Id="rId45" /><ns0:Relationship Type="http://schemas.openxmlformats.org/officeDocument/2006/relationships/slide" Target="slides/slide16.xml" Id="rId46" /><ns0:Relationship Type="http://schemas.openxmlformats.org/officeDocument/2006/relationships/slide" Target="slides/slide17.xml" Id="rId47" /><ns0:Relationship Type="http://schemas.openxmlformats.org/officeDocument/2006/relationships/slide" Target="slides/slide18.xml" Id="rId48" /><ns0:Relationship Type="http://schemas.openxmlformats.org/officeDocument/2006/relationships/theme" Target="theme/d1_d2_theme1.xml" Id="rId49" /><ns0:Relationship Type="http://schemas.openxmlformats.org/officeDocument/2006/relationships/slideMaster" Target="slideMasters/d1_d2_slideMaster1.xml" Id="rId50" /><ns0:Relationship Type="http://schemas.openxmlformats.org/officeDocument/2006/relationships/notesMaster" Target="notesMasters/d1_d2_notesMaster1.xml" Id="rId51" /><ns0:Relationship Type="http://schemas.openxmlformats.org/officeDocument/2006/relationships/presProps" Target="d1_d2_presProps.xml" Id="rId52" /><ns0:Relationship Type="http://schemas.openxmlformats.org/officeDocument/2006/relationships/tableStyles" Target="d1_d2_tableStyles.xml" Id="rId53" /><ns0:Relationship Type="http://schemas.openxmlformats.org/officeDocument/2006/relationships/slide" Target="slides/slide42.xml" Id="rId54" /><ns0:Relationship Type="http://schemas.openxmlformats.org/officeDocument/2006/relationships/slide" Target="slides/slide43.xml" Id="rId55" /><ns0:Relationship Type="http://schemas.openxmlformats.org/officeDocument/2006/relationships/slide" Target="slides/slide44.xml" Id="rId56" /><ns0:Relationship Type="http://schemas.openxmlformats.org/officeDocument/2006/relationships/slide" Target="slides/slide45.xml" Id="rId57" /><ns0:Relationship Type="http://schemas.openxmlformats.org/officeDocument/2006/relationships/slide" Target="slides/slide46.xml" Id="rId58" /><ns0:Relationship Type="http://schemas.openxmlformats.org/officeDocument/2006/relationships/slide" Target="slides/slide47.xml" Id="rId59" /><ns0:Relationship Type="http://schemas.openxmlformats.org/officeDocument/2006/relationships/slide" Target="slides/slide48.xml" Id="rId60" /><ns0:Relationship Type="http://schemas.openxmlformats.org/officeDocument/2006/relationships/slide" Target="slides/slide49.xml" Id="rId61" /><ns0:Relationship Type="http://schemas.openxmlformats.org/officeDocument/2006/relationships/slide" Target="slides/slide50.xml" Id="rId62" /><ns0:Relationship Type="http://schemas.openxmlformats.org/officeDocument/2006/relationships/slide" Target="slides/slide51.xml" Id="rId63" /><ns0:Relationship Type="http://schemas.openxmlformats.org/officeDocument/2006/relationships/slide" Target="slides/slide52.xml" Id="rId64" /><ns0:Relationship Type="http://schemas.openxmlformats.org/officeDocument/2006/relationships/slide" Target="slides/slide53.xml" Id="rId65" /><ns0:Relationship Type="http://schemas.openxmlformats.org/officeDocument/2006/relationships/slide" Target="slides/slide54.xml" Id="rId66" /><ns0:Relationship Type="http://schemas.openxmlformats.org/officeDocument/2006/relationships/slide" Target="slides/slide55.xml" Id="rId67" /><ns0:Relationship Type="http://schemas.openxmlformats.org/officeDocument/2006/relationships/slide" Target="slides/slide56.xml" Id="rId68" /><ns0:Relationship Type="http://schemas.openxmlformats.org/officeDocument/2006/relationships/slide" Target="slides/slide57.xml" Id="rId69" /><ns0:Relationship Type="http://schemas.openxmlformats.org/officeDocument/2006/relationships/slide" Target="slides/slide59.xml" Id="rId70" /><ns0:Relationship Type="http://schemas.openxmlformats.org/officeDocument/2006/relationships/slide" Target="slides/slide60.xml" Id="rId71" /><ns0:Relationship Type="http://schemas.openxmlformats.org/officeDocument/2006/relationships/slide" Target="slides/slide61.xml" Id="rId72" /><ns0:Relationship Type="http://schemas.openxmlformats.org/officeDocument/2006/relationships/slide" Target="slides/slide62.xml" Id="rId73" /><ns0:Relationship Type="http://schemas.openxmlformats.org/officeDocument/2006/relationships/slide" Target="slides/slide63.xml" Id="rId74" /><ns0:Relationship Type="http://schemas.openxmlformats.org/officeDocument/2006/relationships/slide" Target="slides/slide64.xml" Id="rId75" /><ns0:Relationship Type="http://schemas.openxmlformats.org/officeDocument/2006/relationships/slide" Target="slides/slide65.xml" Id="rId76" /><ns0:Relationship Type="http://schemas.openxmlformats.org/officeDocument/2006/relationships/slide" Target="slides/slide66.xml" Id="rId77" /><ns0:Relationship Type="http://schemas.openxmlformats.org/officeDocument/2006/relationships/slide" Target="slides/slide67.xml" Id="rId78" /><ns0:Relationship Type="http://schemas.openxmlformats.org/officeDocument/2006/relationships/slide" Target="slides/slide68.xml" Id="rId79" /><ns0:Relationship Type="http://schemas.openxmlformats.org/officeDocument/2006/relationships/slide" Target="slides/slide69.xml" Id="rId80" /><ns0:Relationship Type="http://schemas.openxmlformats.org/officeDocument/2006/relationships/slide" Target="slides/slide70.xml" Id="rId81" /><ns0:Relationship Type="http://schemas.openxmlformats.org/officeDocument/2006/relationships/slide" Target="slides/slide71.xml" Id="rId82" /><ns0:Relationship Type="http://schemas.openxmlformats.org/officeDocument/2006/relationships/slide" Target="slides/slide72.xml" Id="rId83" /><ns0:Relationship Type="http://schemas.openxmlformats.org/officeDocument/2006/relationships/slide" Target="slides/slide73.xml" Id="rId84" /><ns0:Relationship Type="http://schemas.openxmlformats.org/officeDocument/2006/relationships/slide" Target="slides/slide75.xml" Id="rId85" /><ns0:Relationship Type="http://schemas.openxmlformats.org/officeDocument/2006/relationships/slide" Target="slides/slide76.xml" Id="rId86" /><ns0:Relationship Type="http://schemas.openxmlformats.org/officeDocument/2006/relationships/slide" Target="slides/slide77.xml" Id="rId87" /><ns0:Relationship Type="http://schemas.openxmlformats.org/officeDocument/2006/relationships/slide" Target="slides/slide20.xml" Id="rId88" /><ns0:Relationship Type="http://schemas.openxmlformats.org/officeDocument/2006/relationships/slide" Target="slides/slide21.xml" Id="rId89" /><ns0:Relationship Type="http://schemas.openxmlformats.org/officeDocument/2006/relationships/slide" Target="slides/slide22.xml" Id="rId90" /><ns0:Relationship Type="http://schemas.openxmlformats.org/officeDocument/2006/relationships/slide" Target="slides/slide23.xml" Id="rId91" /><ns0:Relationship Type="http://schemas.openxmlformats.org/officeDocument/2006/relationships/slide" Target="slides/slide24.xml" Id="rId92" /><ns0:Relationship Type="http://schemas.openxmlformats.org/officeDocument/2006/relationships/slide" Target="slides/slide25.xml" Id="rId93" /><ns0:Relationship Type="http://schemas.openxmlformats.org/officeDocument/2006/relationships/slide" Target="slides/slide26.xml" Id="rId94" /><ns0:Relationship Type="http://schemas.openxmlformats.org/officeDocument/2006/relationships/slide" Target="slides/slide27.xml" Id="rId95" /><ns0:Relationship Type="http://schemas.openxmlformats.org/officeDocument/2006/relationships/slide" Target="slides/slide28.xml" Id="rId96" /><ns0:Relationship Type="http://schemas.openxmlformats.org/officeDocument/2006/relationships/slide" Target="slides/slide29.xml" Id="rId97" /><ns0:Relationship Type="http://schemas.openxmlformats.org/officeDocument/2006/relationships/slide" Target="slides/slide30.xml" Id="rId98" /><ns0:Relationship Type="http://schemas.openxmlformats.org/officeDocument/2006/relationships/slide" Target="slides/slide31.xml" Id="rId99" /><ns0:Relationship Type="http://schemas.openxmlformats.org/officeDocument/2006/relationships/slide" Target="slides/slide32.xml" Id="rId100" /></ns0:Relationships>
</file>

<file path=ppt/notesMasters/_rels/d0_notesMaster1.xml.rels><?xml version='1.0' encoding='utf-8'?>
<ns0:Relationships xmlns:ns0="http://schemas.openxmlformats.org/package/2006/relationships"><ns0:Relationship Type="http://schemas.openxmlformats.org/officeDocument/2006/relationships/theme" Target="theme/d0_theme3.xml" Id="Rb49d7de9be3e4efd" /></ns0:Relationships>
</file>

<file path=ppt/notesMasters/_rels/d1_d0_notesMaster1.xml.rels><?xml version='1.0' encoding='utf-8'?>
<ns0:Relationships xmlns:ns0="http://schemas.openxmlformats.org/package/2006/relationships"><ns0:Relationship Type="http://schemas.openxmlformats.org/officeDocument/2006/relationships/theme" Target="theme/d1_d0_theme3.xml" Id="Rc4d39a6417444a53" /></ns0:Relationships>
</file>

<file path=ppt/notesMasters/_rels/d1_d1_notesMaster1.xml.rels><?xml version='1.0' encoding='utf-8'?>
<ns0:Relationships xmlns:ns0="http://schemas.openxmlformats.org/package/2006/relationships"><ns0:Relationship Type="http://schemas.openxmlformats.org/officeDocument/2006/relationships/theme" Target="theme/d1_d1_theme3.xml" Id="Ra9721d94ff3141d5" /></ns0:Relationships>
</file>

<file path=ppt/notesMasters/_rels/d1_d2_notesMaster1.xml.rels><?xml version='1.0' encoding='utf-8'?>
<ns0:Relationships xmlns:ns0="http://schemas.openxmlformats.org/package/2006/relationships"><ns0:Relationship Type="http://schemas.openxmlformats.org/officeDocument/2006/relationships/theme" Target="theme/d1_d2_theme3.xml" Id="R4079528dd21f49ac" /></ns0:Relationships>
</file>

<file path=ppt/notesMasters/d0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d1_d0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d1_d1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d1_d2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d0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d1_d0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d1_d1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d1_d2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d0_notesSlide1.xml.rels><?xml version='1.0' encoding='utf-8'?>
<ns0:Relationships xmlns:ns0="http://schemas.openxmlformats.org/package/2006/relationships"><ns0:Relationship Type="http://schemas.openxmlformats.org/officeDocument/2006/relationships/slide" Target="../slides/slide2.xml" Id="R505febba31144a70" /><ns0:Relationship Type="http://schemas.openxmlformats.org/officeDocument/2006/relationships/notesMaster" Target="../notesMasters/d0_notesMaster1.xml" Id="R580260802058432f" /></ns0:Relationships>
</file>

<file path=ppt/notesSlides/_rels/d0_notesSlide2.xml.rels><?xml version='1.0' encoding='utf-8'?>
<ns0:Relationships xmlns:ns0="http://schemas.openxmlformats.org/package/2006/relationships"><ns0:Relationship Type="http://schemas.openxmlformats.org/officeDocument/2006/relationships/slide" Target="../slides/slide9.xml" Id="Rcb830110d2134306" /><ns0:Relationship Type="http://schemas.openxmlformats.org/officeDocument/2006/relationships/notesMaster" Target="../notesMasters/d0_notesMaster1.xml" Id="R54dc86a843534b20" /></ns0:Relationships>
</file>

<file path=ppt/notesSlides/_rels/d0_notesSlide3.xml.rels><?xml version='1.0' encoding='utf-8'?>
<ns0:Relationships xmlns:ns0="http://schemas.openxmlformats.org/package/2006/relationships"><ns0:Relationship Type="http://schemas.openxmlformats.org/officeDocument/2006/relationships/slide" Target="../slides/slide19.xml" Id="R559ebf84b474437f" /><ns0:Relationship Type="http://schemas.openxmlformats.org/officeDocument/2006/relationships/notesMaster" Target="../notesMasters/d0_notesMaster1.xml" Id="Rea38ad66f8fe453e" /></ns0:Relationships>
</file>

<file path=ppt/notesSlides/_rels/d0_notesSlide4.xml.rels><?xml version='1.0' encoding='utf-8'?>
<ns0:Relationships xmlns:ns0="http://schemas.openxmlformats.org/package/2006/relationships"><ns0:Relationship Type="http://schemas.openxmlformats.org/officeDocument/2006/relationships/slide" Target="../slides/slide33.xml" Id="R0f7cbc51389d4f3f" /><ns0:Relationship Type="http://schemas.openxmlformats.org/officeDocument/2006/relationships/notesMaster" Target="../notesMasters/d0_notesMaster1.xml" Id="R2671128dde8541e5" /></ns0:Relationships>
</file>

<file path=ppt/notesSlides/_rels/d0_notesSlide5.xml.rels><?xml version='1.0' encoding='utf-8'?>
<ns0:Relationships xmlns:ns0="http://schemas.openxmlformats.org/package/2006/relationships"><ns0:Relationship Type="http://schemas.openxmlformats.org/officeDocument/2006/relationships/slide" Target="../slides/slide41.xml" Id="R1a79fd4b06e24635" /><ns0:Relationship Type="http://schemas.openxmlformats.org/officeDocument/2006/relationships/notesMaster" Target="../notesMasters/d0_notesMaster1.xml" Id="R08ab86ba5b7440e2" /></ns0:Relationships>
</file>

<file path=ppt/notesSlides/_rels/d0_notesSlide6.xml.rels><?xml version='1.0' encoding='utf-8'?>
<ns0:Relationships xmlns:ns0="http://schemas.openxmlformats.org/package/2006/relationships"><ns0:Relationship Type="http://schemas.openxmlformats.org/officeDocument/2006/relationships/slide" Target="../slides/slide58.xml" Id="Rb1eb7e003ad9403c" /><ns0:Relationship Type="http://schemas.openxmlformats.org/officeDocument/2006/relationships/notesMaster" Target="../notesMasters/d0_notesMaster1.xml" Id="R7ce740dab46f4595" /></ns0:Relationships>
</file>

<file path=ppt/notesSlides/_rels/d0_notesSlide7.xml.rels><?xml version='1.0' encoding='utf-8'?>
<ns0:Relationships xmlns:ns0="http://schemas.openxmlformats.org/package/2006/relationships"><ns0:Relationship Type="http://schemas.openxmlformats.org/officeDocument/2006/relationships/slide" Target="../slides/slide74.xml" Id="R3450ee25963d47fe" /><ns0:Relationship Type="http://schemas.openxmlformats.org/officeDocument/2006/relationships/notesMaster" Target="../notesMasters/d0_notesMaster1.xml" Id="R61a92eff9d174ddb" /></ns0:Relationships>
</file>

<file path=ppt/notesSlides/_rels/d1_d0_notesSlide1.xml.rels><?xml version='1.0' encoding='utf-8'?>
<ns0:Relationships xmlns:ns0="http://schemas.openxmlformats.org/package/2006/relationships"><ns0:Relationship Type="http://schemas.openxmlformats.org/officeDocument/2006/relationships/slide" Target="../slides/slide1.xml" Id="R649d3215c771466b" /><ns0:Relationship Type="http://schemas.openxmlformats.org/officeDocument/2006/relationships/notesMaster" Target="../notesMasters/d1_d0_notesMaster1.xml" Id="R09696d93661341c1" /></ns0:Relationships>
</file>

<file path=ppt/notesSlides/_rels/d1_d0_notesSlide2.xml.rels><?xml version='1.0' encoding='utf-8'?>
<ns0:Relationships xmlns:ns0="http://schemas.openxmlformats.org/package/2006/relationships"><ns0:Relationship Type="http://schemas.openxmlformats.org/officeDocument/2006/relationships/slide" Target="../slides/slide3.xml" Id="Rb807a96838a14c21" /><ns0:Relationship Type="http://schemas.openxmlformats.org/officeDocument/2006/relationships/notesMaster" Target="../notesMasters/d1_d0_notesMaster1.xml" Id="Rd6793e4e49e34daa" /></ns0:Relationships>
</file>

<file path=ppt/notesSlides/_rels/d1_d0_notesSlide3.xml.rels><?xml version='1.0' encoding='utf-8'?>
<ns0:Relationships xmlns:ns0="http://schemas.openxmlformats.org/package/2006/relationships"><ns0:Relationship Type="http://schemas.openxmlformats.org/officeDocument/2006/relationships/slide" Target="../slides/slide4.xml" Id="R8c9dfb65dbba4d7b" /><ns0:Relationship Type="http://schemas.openxmlformats.org/officeDocument/2006/relationships/notesMaster" Target="../notesMasters/d1_d0_notesMaster1.xml" Id="Re3986d7b41094a7e" /></ns0:Relationships>
</file>

<file path=ppt/notesSlides/_rels/d1_d0_notesSlide4.xml.rels><?xml version='1.0' encoding='utf-8'?>
<ns0:Relationships xmlns:ns0="http://schemas.openxmlformats.org/package/2006/relationships"><ns0:Relationship Type="http://schemas.openxmlformats.org/officeDocument/2006/relationships/slide" Target="../slides/slide5.xml" Id="Rac18111f36bf4c61" /><ns0:Relationship Type="http://schemas.openxmlformats.org/officeDocument/2006/relationships/notesMaster" Target="../notesMasters/d1_d0_notesMaster1.xml" Id="R00a699c63fa94f07" /></ns0:Relationships>
</file>

<file path=ppt/notesSlides/_rels/d1_d0_notesSlide5.xml.rels><?xml version='1.0' encoding='utf-8'?>
<ns0:Relationships xmlns:ns0="http://schemas.openxmlformats.org/package/2006/relationships"><ns0:Relationship Type="http://schemas.openxmlformats.org/officeDocument/2006/relationships/slide" Target="../slides/slide6.xml" Id="Recc842a5955b4dd2" /><ns0:Relationship Type="http://schemas.openxmlformats.org/officeDocument/2006/relationships/notesMaster" Target="../notesMasters/d1_d0_notesMaster1.xml" Id="R0248b0f34a764034" /></ns0:Relationships>
</file>

<file path=ppt/notesSlides/_rels/d1_d0_notesSlide6.xml.rels><?xml version='1.0' encoding='utf-8'?>
<ns0:Relationships xmlns:ns0="http://schemas.openxmlformats.org/package/2006/relationships"><ns0:Relationship Type="http://schemas.openxmlformats.org/officeDocument/2006/relationships/slide" Target="../slides/slide7.xml" Id="R177c83d74c2c498b" /><ns0:Relationship Type="http://schemas.openxmlformats.org/officeDocument/2006/relationships/notesMaster" Target="../notesMasters/d1_d0_notesMaster1.xml" Id="R4b806e9a399442e5" /></ns0:Relationships>
</file>

<file path=ppt/notesSlides/_rels/d1_d0_notesSlide7.xml.rels><?xml version='1.0' encoding='utf-8'?>
<ns0:Relationships xmlns:ns0="http://schemas.openxmlformats.org/package/2006/relationships"><ns0:Relationship Type="http://schemas.openxmlformats.org/officeDocument/2006/relationships/slide" Target="../slides/slide8.xml" Id="R14ffcde3dc0d4b10" /><ns0:Relationship Type="http://schemas.openxmlformats.org/officeDocument/2006/relationships/notesMaster" Target="../notesMasters/d1_d0_notesMaster1.xml" Id="R91e381d5aa7f4a0e" /></ns0:Relationships>
</file>

<file path=ppt/notesSlides/_rels/d1_d0_notesSlide8.xml.rels><?xml version='1.0' encoding='utf-8'?>
<ns0:Relationships xmlns:ns0="http://schemas.openxmlformats.org/package/2006/relationships"><ns0:Relationship Type="http://schemas.openxmlformats.org/officeDocument/2006/relationships/slide" Target="../slides/d1_slide8.xml" Id="R2331a1572e434f6b" /><ns0:Relationship Type="http://schemas.openxmlformats.org/officeDocument/2006/relationships/notesMaster" Target="../notesMasters/d1_d0_notesMaster1.xml" Id="Re7c7790f4b7448a1" /></ns0:Relationships>
</file>

<file path=ppt/notesSlides/_rels/d1_d0_notesSlide9.xml.rels><?xml version='1.0' encoding='utf-8'?>
<ns0:Relationships xmlns:ns0="http://schemas.openxmlformats.org/package/2006/relationships"><ns0:Relationship Type="http://schemas.openxmlformats.org/officeDocument/2006/relationships/slide" Target="../slides/slide34.xml" Id="Rad639713f44a4e91" /><ns0:Relationship Type="http://schemas.openxmlformats.org/officeDocument/2006/relationships/notesMaster" Target="../notesMasters/d1_d0_notesMaster1.xml" Id="R69fa7e59b155476e" /></ns0:Relationships>
</file>

<file path=ppt/notesSlides/_rels/d1_d0_notesSlide10.xml.rels><?xml version='1.0' encoding='utf-8'?>
<ns0:Relationships xmlns:ns0="http://schemas.openxmlformats.org/package/2006/relationships"><ns0:Relationship Type="http://schemas.openxmlformats.org/officeDocument/2006/relationships/slide" Target="../slides/slide35.xml" Id="R9b76fa0495804c7c" /><ns0:Relationship Type="http://schemas.openxmlformats.org/officeDocument/2006/relationships/notesMaster" Target="../notesMasters/d1_d0_notesMaster1.xml" Id="Raf3f7e4eacb24608" /></ns0:Relationships>
</file>

<file path=ppt/notesSlides/_rels/d1_d0_notesSlide11.xml.rels><?xml version='1.0' encoding='utf-8'?>
<ns0:Relationships xmlns:ns0="http://schemas.openxmlformats.org/package/2006/relationships"><ns0:Relationship Type="http://schemas.openxmlformats.org/officeDocument/2006/relationships/slide" Target="../slides/slide36.xml" Id="R9419a2a4358f482a" /><ns0:Relationship Type="http://schemas.openxmlformats.org/officeDocument/2006/relationships/notesMaster" Target="../notesMasters/d1_d0_notesMaster1.xml" Id="Rce8888017f2747a1" /></ns0:Relationships>
</file>

<file path=ppt/notesSlides/_rels/d1_d0_notesSlide12.xml.rels><?xml version='1.0' encoding='utf-8'?>
<ns0:Relationships xmlns:ns0="http://schemas.openxmlformats.org/package/2006/relationships"><ns0:Relationship Type="http://schemas.openxmlformats.org/officeDocument/2006/relationships/slide" Target="../slides/slide37.xml" Id="R3bffa49bb4094c1f" /><ns0:Relationship Type="http://schemas.openxmlformats.org/officeDocument/2006/relationships/notesMaster" Target="../notesMasters/d1_d0_notesMaster1.xml" Id="R8a0f49f2d78c4923" /></ns0:Relationships>
</file>

<file path=ppt/notesSlides/_rels/d1_d0_notesSlide13.xml.rels><?xml version='1.0' encoding='utf-8'?>
<ns0:Relationships xmlns:ns0="http://schemas.openxmlformats.org/package/2006/relationships"><ns0:Relationship Type="http://schemas.openxmlformats.org/officeDocument/2006/relationships/slide" Target="../slides/slide38.xml" Id="R3869b0aec0bf4d55" /><ns0:Relationship Type="http://schemas.openxmlformats.org/officeDocument/2006/relationships/notesMaster" Target="../notesMasters/d1_d0_notesMaster1.xml" Id="R216f490af57c4e0d" /></ns0:Relationships>
</file>

<file path=ppt/notesSlides/_rels/d1_d0_notesSlide14.xml.rels><?xml version='1.0' encoding='utf-8'?>
<ns0:Relationships xmlns:ns0="http://schemas.openxmlformats.org/package/2006/relationships"><ns0:Relationship Type="http://schemas.openxmlformats.org/officeDocument/2006/relationships/slide" Target="../slides/slide39.xml" Id="R4dce93eb301d421d" /><ns0:Relationship Type="http://schemas.openxmlformats.org/officeDocument/2006/relationships/notesMaster" Target="../notesMasters/d1_d0_notesMaster1.xml" Id="Rb1eb63c2300f40e5" /></ns0:Relationships>
</file>

<file path=ppt/notesSlides/_rels/d1_d0_notesSlide15.xml.rels><?xml version='1.0' encoding='utf-8'?>
<ns0:Relationships xmlns:ns0="http://schemas.openxmlformats.org/package/2006/relationships"><ns0:Relationship Type="http://schemas.openxmlformats.org/officeDocument/2006/relationships/slide" Target="../slides/slide40.xml" Id="R89796e0ed8b74b7a" /><ns0:Relationship Type="http://schemas.openxmlformats.org/officeDocument/2006/relationships/notesMaster" Target="../notesMasters/d1_d0_notesMaster1.xml" Id="R1396fb30382a42d9" /></ns0:Relationships>
</file>

<file path=ppt/notesSlides/_rels/d1_d0_notesSlide16.xml.rels><?xml version='1.0' encoding='utf-8'?>
<ns0:Relationships xmlns:ns0="http://schemas.openxmlformats.org/package/2006/relationships"><ns0:Relationship Type="http://schemas.openxmlformats.org/officeDocument/2006/relationships/slide" Target="../slides/d1_slide26.xml" Id="R09569399f4dc4bad" /><ns0:Relationship Type="http://schemas.openxmlformats.org/officeDocument/2006/relationships/notesMaster" Target="../notesMasters/d1_d0_notesMaster1.xml" Id="R48c3c43beda44e0f" /></ns0:Relationships>
</file>

<file path=ppt/notesSlides/_rels/d1_d1_notesSlide1.xml.rels><?xml version='1.0' encoding='utf-8'?>
<ns0:Relationships xmlns:ns0="http://schemas.openxmlformats.org/package/2006/relationships"><ns0:Relationship Type="http://schemas.openxmlformats.org/officeDocument/2006/relationships/slide" Target="../slides/d1_slide9.xml" Id="R994512da86944f7e" /><ns0:Relationship Type="http://schemas.openxmlformats.org/officeDocument/2006/relationships/notesMaster" Target="../notesMasters/d1_d1_notesMaster1.xml" Id="R9313a5a6978c439b" /></ns0:Relationships>
</file>

<file path=ppt/notesSlides/_rels/d1_d1_notesSlide2.xml.rels><?xml version='1.0' encoding='utf-8'?>
<ns0:Relationships xmlns:ns0="http://schemas.openxmlformats.org/package/2006/relationships"><ns0:Relationship Type="http://schemas.openxmlformats.org/officeDocument/2006/relationships/slide" Target="../slides/slide10.xml" Id="R86af2b4097bc4fc8" /><ns0:Relationship Type="http://schemas.openxmlformats.org/officeDocument/2006/relationships/notesMaster" Target="../notesMasters/d1_d1_notesMaster1.xml" Id="R78a71fdf8f9b452c" /></ns0:Relationships>
</file>

<file path=ppt/notesSlides/_rels/d1_d1_notesSlide3.xml.rels><?xml version='1.0' encoding='utf-8'?>
<ns0:Relationships xmlns:ns0="http://schemas.openxmlformats.org/package/2006/relationships"><ns0:Relationship Type="http://schemas.openxmlformats.org/officeDocument/2006/relationships/slide" Target="../slides/slide11.xml" Id="R9b9350b00fa64c68" /><ns0:Relationship Type="http://schemas.openxmlformats.org/officeDocument/2006/relationships/notesMaster" Target="../notesMasters/d1_d1_notesMaster1.xml" Id="R3f79f45a52cf46d7" /></ns0:Relationships>
</file>

<file path=ppt/notesSlides/_rels/d1_d1_notesSlide4.xml.rels><?xml version='1.0' encoding='utf-8'?>
<ns0:Relationships xmlns:ns0="http://schemas.openxmlformats.org/package/2006/relationships"><ns0:Relationship Type="http://schemas.openxmlformats.org/officeDocument/2006/relationships/slide" Target="../slides/slide12.xml" Id="Red6055c1c51c49db" /><ns0:Relationship Type="http://schemas.openxmlformats.org/officeDocument/2006/relationships/notesMaster" Target="../notesMasters/d1_d1_notesMaster1.xml" Id="R7e9533e46a774de6" /></ns0:Relationships>
</file>

<file path=ppt/notesSlides/_rels/d1_d1_notesSlide5.xml.rels><?xml version='1.0' encoding='utf-8'?>
<ns0:Relationships xmlns:ns0="http://schemas.openxmlformats.org/package/2006/relationships"><ns0:Relationship Type="http://schemas.openxmlformats.org/officeDocument/2006/relationships/slide" Target="../slides/slide13.xml" Id="Rec8c817eb4bc4dd7" /><ns0:Relationship Type="http://schemas.openxmlformats.org/officeDocument/2006/relationships/notesMaster" Target="../notesMasters/d1_d1_notesMaster1.xml" Id="Rc0b7133919ac447d" /></ns0:Relationships>
</file>

<file path=ppt/notesSlides/_rels/d1_d1_notesSlide6.xml.rels><?xml version='1.0' encoding='utf-8'?>
<ns0:Relationships xmlns:ns0="http://schemas.openxmlformats.org/package/2006/relationships"><ns0:Relationship Type="http://schemas.openxmlformats.org/officeDocument/2006/relationships/slide" Target="../slides/slide14.xml" Id="R686ad3549b4a41c3" /><ns0:Relationship Type="http://schemas.openxmlformats.org/officeDocument/2006/relationships/notesMaster" Target="../notesMasters/d1_d1_notesMaster1.xml" Id="Rec0e143dd786464d" /></ns0:Relationships>
</file>

<file path=ppt/notesSlides/_rels/d1_d1_notesSlide7.xml.rels><?xml version='1.0' encoding='utf-8'?>
<ns0:Relationships xmlns:ns0="http://schemas.openxmlformats.org/package/2006/relationships"><ns0:Relationship Type="http://schemas.openxmlformats.org/officeDocument/2006/relationships/slide" Target="../slides/slide15.xml" Id="Ra3d379bbf23f470b" /><ns0:Relationship Type="http://schemas.openxmlformats.org/officeDocument/2006/relationships/notesMaster" Target="../notesMasters/d1_d1_notesMaster1.xml" Id="R6017407e286241f1" /></ns0:Relationships>
</file>

<file path=ppt/notesSlides/_rels/d1_d1_notesSlide8.xml.rels><?xml version='1.0' encoding='utf-8'?>
<ns0:Relationships xmlns:ns0="http://schemas.openxmlformats.org/package/2006/relationships"><ns0:Relationship Type="http://schemas.openxmlformats.org/officeDocument/2006/relationships/slide" Target="../slides/slide16.xml" Id="Red3e3d4dc3504d24" /><ns0:Relationship Type="http://schemas.openxmlformats.org/officeDocument/2006/relationships/notesMaster" Target="../notesMasters/d1_d1_notesMaster1.xml" Id="Rbe993927fbc14652" /></ns0:Relationships>
</file>

<file path=ppt/notesSlides/_rels/d1_d1_notesSlide9.xml.rels><?xml version='1.0' encoding='utf-8'?>
<ns0:Relationships xmlns:ns0="http://schemas.openxmlformats.org/package/2006/relationships"><ns0:Relationship Type="http://schemas.openxmlformats.org/officeDocument/2006/relationships/slide" Target="../slides/slide17.xml" Id="R4afaa42628fb4279" /><ns0:Relationship Type="http://schemas.openxmlformats.org/officeDocument/2006/relationships/notesMaster" Target="../notesMasters/d1_d1_notesMaster1.xml" Id="R13d7145f978a46d5" /></ns0:Relationships>
</file>

<file path=ppt/notesSlides/_rels/d1_d1_notesSlide10.xml.rels><?xml version='1.0' encoding='utf-8'?>
<ns0:Relationships xmlns:ns0="http://schemas.openxmlformats.org/package/2006/relationships"><ns0:Relationship Type="http://schemas.openxmlformats.org/officeDocument/2006/relationships/slide" Target="../slides/slide18.xml" Id="Rbed25a394f6c4064" /><ns0:Relationship Type="http://schemas.openxmlformats.org/officeDocument/2006/relationships/notesMaster" Target="../notesMasters/d1_d1_notesMaster1.xml" Id="Rac8005d8e3d74407" /></ns0:Relationships>
</file>

<file path=ppt/notesSlides/_rels/d1_d2_notesSlide1.xml.rels><?xml version='1.0' encoding='utf-8'?>
<ns0:Relationships xmlns:ns0="http://schemas.openxmlformats.org/package/2006/relationships"><ns0:Relationship Type="http://schemas.openxmlformats.org/officeDocument/2006/relationships/slide" Target="../slides/slide42.xml" Id="Ra55e599b921b4243" /><ns0:Relationship Type="http://schemas.openxmlformats.org/officeDocument/2006/relationships/notesMaster" Target="../notesMasters/d1_d2_notesMaster1.xml" Id="R5852f7421a404b80" /></ns0:Relationships>
</file>

<file path=ppt/notesSlides/_rels/d1_d2_notesSlide2.xml.rels><?xml version='1.0' encoding='utf-8'?>
<ns0:Relationships xmlns:ns0="http://schemas.openxmlformats.org/package/2006/relationships"><ns0:Relationship Type="http://schemas.openxmlformats.org/officeDocument/2006/relationships/slide" Target="../slides/slide43.xml" Id="R02cfb02288824a3b" /><ns0:Relationship Type="http://schemas.openxmlformats.org/officeDocument/2006/relationships/notesMaster" Target="../notesMasters/d1_d2_notesMaster1.xml" Id="R4af752b044e64ef1" /></ns0:Relationships>
</file>

<file path=ppt/notesSlides/_rels/d1_d2_notesSlide3.xml.rels><?xml version='1.0' encoding='utf-8'?>
<ns0:Relationships xmlns:ns0="http://schemas.openxmlformats.org/package/2006/relationships"><ns0:Relationship Type="http://schemas.openxmlformats.org/officeDocument/2006/relationships/slide" Target="../slides/slide44.xml" Id="R8be631fec7274751" /><ns0:Relationship Type="http://schemas.openxmlformats.org/officeDocument/2006/relationships/notesMaster" Target="../notesMasters/d1_d2_notesMaster1.xml" Id="Rea40f63f5ee94928" /></ns0:Relationships>
</file>

<file path=ppt/notesSlides/_rels/d1_d2_notesSlide4.xml.rels><?xml version='1.0' encoding='utf-8'?>
<ns0:Relationships xmlns:ns0="http://schemas.openxmlformats.org/package/2006/relationships"><ns0:Relationship Type="http://schemas.openxmlformats.org/officeDocument/2006/relationships/slide" Target="../slides/slide45.xml" Id="R85f966cc589d4a5d" /><ns0:Relationship Type="http://schemas.openxmlformats.org/officeDocument/2006/relationships/notesMaster" Target="../notesMasters/d1_d2_notesMaster1.xml" Id="R30b7674b437d4291" /></ns0:Relationships>
</file>

<file path=ppt/notesSlides/_rels/d1_d2_notesSlide5.xml.rels><?xml version='1.0' encoding='utf-8'?>
<ns0:Relationships xmlns:ns0="http://schemas.openxmlformats.org/package/2006/relationships"><ns0:Relationship Type="http://schemas.openxmlformats.org/officeDocument/2006/relationships/slide" Target="../slides/slide46.xml" Id="R369117b075c44fb7" /><ns0:Relationship Type="http://schemas.openxmlformats.org/officeDocument/2006/relationships/notesMaster" Target="../notesMasters/d1_d2_notesMaster1.xml" Id="Re3768277ed4a4c6d" /></ns0:Relationships>
</file>

<file path=ppt/notesSlides/_rels/d1_d2_notesSlide6.xml.rels><?xml version='1.0' encoding='utf-8'?>
<ns0:Relationships xmlns:ns0="http://schemas.openxmlformats.org/package/2006/relationships"><ns0:Relationship Type="http://schemas.openxmlformats.org/officeDocument/2006/relationships/slide" Target="../slides/slide47.xml" Id="R3f335dec658f4b43" /><ns0:Relationship Type="http://schemas.openxmlformats.org/officeDocument/2006/relationships/notesMaster" Target="../notesMasters/d1_d2_notesMaster1.xml" Id="R636f020198dc40ee" /></ns0:Relationships>
</file>

<file path=ppt/notesSlides/_rels/d1_d2_notesSlide7.xml.rels><?xml version='1.0' encoding='utf-8'?>
<ns0:Relationships xmlns:ns0="http://schemas.openxmlformats.org/package/2006/relationships"><ns0:Relationship Type="http://schemas.openxmlformats.org/officeDocument/2006/relationships/slide" Target="../slides/slide48.xml" Id="R8b12f76ce7254d86" /><ns0:Relationship Type="http://schemas.openxmlformats.org/officeDocument/2006/relationships/notesMaster" Target="../notesMasters/d1_d2_notesMaster1.xml" Id="R1f0ae41cfa5e489a" /></ns0:Relationships>
</file>

<file path=ppt/notesSlides/_rels/d1_d2_notesSlide8.xml.rels><?xml version='1.0' encoding='utf-8'?>
<ns0:Relationships xmlns:ns0="http://schemas.openxmlformats.org/package/2006/relationships"><ns0:Relationship Type="http://schemas.openxmlformats.org/officeDocument/2006/relationships/slide" Target="../slides/slide49.xml" Id="Ra83aaa8fffc2426f" /><ns0:Relationship Type="http://schemas.openxmlformats.org/officeDocument/2006/relationships/notesMaster" Target="../notesMasters/d1_d2_notesMaster1.xml" Id="Rf12e6984eff04dfe" /></ns0:Relationships>
</file>

<file path=ppt/notesSlides/_rels/d1_d2_notesSlide9.xml.rels><?xml version='1.0' encoding='utf-8'?>
<ns0:Relationships xmlns:ns0="http://schemas.openxmlformats.org/package/2006/relationships"><ns0:Relationship Type="http://schemas.openxmlformats.org/officeDocument/2006/relationships/slide" Target="../slides/slide50.xml" Id="R4023863cb7b74fca" /><ns0:Relationship Type="http://schemas.openxmlformats.org/officeDocument/2006/relationships/notesMaster" Target="../notesMasters/d1_d2_notesMaster1.xml" Id="Rf664f80702b74785" /></ns0:Relationships>
</file>

<file path=ppt/notesSlides/_rels/d1_d2_notesSlide10.xml.rels><?xml version='1.0' encoding='utf-8'?>
<ns0:Relationships xmlns:ns0="http://schemas.openxmlformats.org/package/2006/relationships"><ns0:Relationship Type="http://schemas.openxmlformats.org/officeDocument/2006/relationships/slide" Target="../slides/slide51.xml" Id="Rb7e5c109071b4324" /><ns0:Relationship Type="http://schemas.openxmlformats.org/officeDocument/2006/relationships/notesMaster" Target="../notesMasters/d1_d2_notesMaster1.xml" Id="R11347d24dfdf40ec" /></ns0:Relationships>
</file>

<file path=ppt/notesSlides/_rels/d1_d2_notesSlide11.xml.rels><?xml version='1.0' encoding='utf-8'?>
<ns0:Relationships xmlns:ns0="http://schemas.openxmlformats.org/package/2006/relationships"><ns0:Relationship Type="http://schemas.openxmlformats.org/officeDocument/2006/relationships/slide" Target="../slides/slide52.xml" Id="R096c701a6548448e" /><ns0:Relationship Type="http://schemas.openxmlformats.org/officeDocument/2006/relationships/notesMaster" Target="../notesMasters/d1_d2_notesMaster1.xml" Id="Rd5df8e71cd454b6a" /></ns0:Relationships>
</file>

<file path=ppt/notesSlides/_rels/d1_d2_notesSlide12.xml.rels><?xml version='1.0' encoding='utf-8'?>
<ns0:Relationships xmlns:ns0="http://schemas.openxmlformats.org/package/2006/relationships"><ns0:Relationship Type="http://schemas.openxmlformats.org/officeDocument/2006/relationships/slide" Target="../slides/slide53.xml" Id="Rd01828fc7d3f41ad" /><ns0:Relationship Type="http://schemas.openxmlformats.org/officeDocument/2006/relationships/notesMaster" Target="../notesMasters/d1_d2_notesMaster1.xml" Id="R5b33cbe1ed1f4db9" /></ns0:Relationships>
</file>

<file path=ppt/notesSlides/_rels/d1_d2_notesSlide13.xml.rels><?xml version='1.0' encoding='utf-8'?>
<ns0:Relationships xmlns:ns0="http://schemas.openxmlformats.org/package/2006/relationships"><ns0:Relationship Type="http://schemas.openxmlformats.org/officeDocument/2006/relationships/slide" Target="../slides/slide54.xml" Id="R88764c1f3ff046cc" /><ns0:Relationship Type="http://schemas.openxmlformats.org/officeDocument/2006/relationships/notesMaster" Target="../notesMasters/d1_d2_notesMaster1.xml" Id="R797a780e16cd455f" /></ns0:Relationships>
</file>

<file path=ppt/notesSlides/_rels/d1_d2_notesSlide14.xml.rels><?xml version='1.0' encoding='utf-8'?>
<ns0:Relationships xmlns:ns0="http://schemas.openxmlformats.org/package/2006/relationships"><ns0:Relationship Type="http://schemas.openxmlformats.org/officeDocument/2006/relationships/slide" Target="../slides/slide55.xml" Id="R2e7aa52efac84103" /><ns0:Relationship Type="http://schemas.openxmlformats.org/officeDocument/2006/relationships/notesMaster" Target="../notesMasters/d1_d2_notesMaster1.xml" Id="R1437920cd29b47a8" /></ns0:Relationships>
</file>

<file path=ppt/notesSlides/_rels/d1_d2_notesSlide15.xml.rels><?xml version='1.0' encoding='utf-8'?>
<ns0:Relationships xmlns:ns0="http://schemas.openxmlformats.org/package/2006/relationships"><ns0:Relationship Type="http://schemas.openxmlformats.org/officeDocument/2006/relationships/slide" Target="../slides/slide56.xml" Id="R6017249d328248c7" /><ns0:Relationship Type="http://schemas.openxmlformats.org/officeDocument/2006/relationships/notesMaster" Target="../notesMasters/d1_d2_notesMaster1.xml" Id="Raa716459dff04188" /></ns0:Relationships>
</file>

<file path=ppt/notesSlides/_rels/d1_d2_notesSlide16.xml.rels><?xml version='1.0' encoding='utf-8'?>
<ns0:Relationships xmlns:ns0="http://schemas.openxmlformats.org/package/2006/relationships"><ns0:Relationship Type="http://schemas.openxmlformats.org/officeDocument/2006/relationships/slide" Target="../slides/slide57.xml" Id="R00452d8e76714e27" /><ns0:Relationship Type="http://schemas.openxmlformats.org/officeDocument/2006/relationships/notesMaster" Target="../notesMasters/d1_d2_notesMaster1.xml" Id="R2bbc87ee17134e9e" /></ns0:Relationships>
</file>

<file path=ppt/notesSlides/_rels/d1_d2_notesSlide17.xml.rels><?xml version='1.0' encoding='utf-8'?>
<ns0:Relationships xmlns:ns0="http://schemas.openxmlformats.org/package/2006/relationships"><ns0:Relationship Type="http://schemas.openxmlformats.org/officeDocument/2006/relationships/slide" Target="../slides/slide59.xml" Id="R92574a47e60d48a0" /><ns0:Relationship Type="http://schemas.openxmlformats.org/officeDocument/2006/relationships/notesMaster" Target="../notesMasters/d1_d2_notesMaster1.xml" Id="Rcf37176061b9402d" /></ns0:Relationships>
</file>

<file path=ppt/notesSlides/_rels/d1_d2_notesSlide18.xml.rels><?xml version='1.0' encoding='utf-8'?>
<ns0:Relationships xmlns:ns0="http://schemas.openxmlformats.org/package/2006/relationships"><ns0:Relationship Type="http://schemas.openxmlformats.org/officeDocument/2006/relationships/slide" Target="../slides/slide60.xml" Id="R9d5e4f5b39a94c13" /><ns0:Relationship Type="http://schemas.openxmlformats.org/officeDocument/2006/relationships/notesMaster" Target="../notesMasters/d1_d2_notesMaster1.xml" Id="Rf0867be4872c416e" /></ns0:Relationships>
</file>

<file path=ppt/notesSlides/_rels/d1_d2_notesSlide19.xml.rels><?xml version='1.0' encoding='utf-8'?>
<ns0:Relationships xmlns:ns0="http://schemas.openxmlformats.org/package/2006/relationships"><ns0:Relationship Type="http://schemas.openxmlformats.org/officeDocument/2006/relationships/slide" Target="../slides/slide61.xml" Id="Raa181f645adf4592" /><ns0:Relationship Type="http://schemas.openxmlformats.org/officeDocument/2006/relationships/notesMaster" Target="../notesMasters/d1_d2_notesMaster1.xml" Id="R012d4949bae24c1f" /></ns0:Relationships>
</file>

<file path=ppt/notesSlides/_rels/d1_d2_notesSlide20.xml.rels><?xml version='1.0' encoding='utf-8'?>
<ns0:Relationships xmlns:ns0="http://schemas.openxmlformats.org/package/2006/relationships"><ns0:Relationship Type="http://schemas.openxmlformats.org/officeDocument/2006/relationships/slide" Target="../slides/slide62.xml" Id="Rb470f4fb7ffe4cb7" /><ns0:Relationship Type="http://schemas.openxmlformats.org/officeDocument/2006/relationships/notesMaster" Target="../notesMasters/d1_d2_notesMaster1.xml" Id="R28bdf54998bd4c62" /></ns0:Relationships>
</file>

<file path=ppt/notesSlides/_rels/d1_d2_notesSlide21.xml.rels><?xml version='1.0' encoding='utf-8'?>
<ns0:Relationships xmlns:ns0="http://schemas.openxmlformats.org/package/2006/relationships"><ns0:Relationship Type="http://schemas.openxmlformats.org/officeDocument/2006/relationships/slide" Target="../slides/slide63.xml" Id="Rfde245f226354b56" /><ns0:Relationship Type="http://schemas.openxmlformats.org/officeDocument/2006/relationships/notesMaster" Target="../notesMasters/d1_d2_notesMaster1.xml" Id="Ree8b57f96b6044ee" /></ns0:Relationships>
</file>

<file path=ppt/notesSlides/_rels/d1_d2_notesSlide22.xml.rels><?xml version='1.0' encoding='utf-8'?>
<ns0:Relationships xmlns:ns0="http://schemas.openxmlformats.org/package/2006/relationships"><ns0:Relationship Type="http://schemas.openxmlformats.org/officeDocument/2006/relationships/slide" Target="../slides/slide64.xml" Id="R1fd19a3cc7b44d4d" /><ns0:Relationship Type="http://schemas.openxmlformats.org/officeDocument/2006/relationships/notesMaster" Target="../notesMasters/d1_d2_notesMaster1.xml" Id="R20e76a4b566843b2" /></ns0:Relationships>
</file>

<file path=ppt/notesSlides/_rels/d1_d2_notesSlide23.xml.rels><?xml version='1.0' encoding='utf-8'?>
<ns0:Relationships xmlns:ns0="http://schemas.openxmlformats.org/package/2006/relationships"><ns0:Relationship Type="http://schemas.openxmlformats.org/officeDocument/2006/relationships/slide" Target="../slides/slide65.xml" Id="Ra72aed5b7f5a407a" /><ns0:Relationship Type="http://schemas.openxmlformats.org/officeDocument/2006/relationships/notesMaster" Target="../notesMasters/d1_d2_notesMaster1.xml" Id="Rbdce0d51ac3b452c" /></ns0:Relationships>
</file>

<file path=ppt/notesSlides/_rels/d1_d2_notesSlide24.xml.rels><?xml version='1.0' encoding='utf-8'?>
<ns0:Relationships xmlns:ns0="http://schemas.openxmlformats.org/package/2006/relationships"><ns0:Relationship Type="http://schemas.openxmlformats.org/officeDocument/2006/relationships/slide" Target="../slides/slide66.xml" Id="Rfc86539d0c384e56" /><ns0:Relationship Type="http://schemas.openxmlformats.org/officeDocument/2006/relationships/notesMaster" Target="../notesMasters/d1_d2_notesMaster1.xml" Id="R9781de619c86438e" /></ns0:Relationships>
</file>

<file path=ppt/notesSlides/_rels/d1_d2_notesSlide25.xml.rels><?xml version='1.0' encoding='utf-8'?>
<ns0:Relationships xmlns:ns0="http://schemas.openxmlformats.org/package/2006/relationships"><ns0:Relationship Type="http://schemas.openxmlformats.org/officeDocument/2006/relationships/slide" Target="../slides/slide67.xml" Id="R557cf3a7e5f749c2" /><ns0:Relationship Type="http://schemas.openxmlformats.org/officeDocument/2006/relationships/notesMaster" Target="../notesMasters/d1_d2_notesMaster1.xml" Id="R84ff9c1634f544a9" /></ns0:Relationships>
</file>

<file path=ppt/notesSlides/_rels/d1_d2_notesSlide26.xml.rels><?xml version='1.0' encoding='utf-8'?>
<ns0:Relationships xmlns:ns0="http://schemas.openxmlformats.org/package/2006/relationships"><ns0:Relationship Type="http://schemas.openxmlformats.org/officeDocument/2006/relationships/slide" Target="../slides/slide68.xml" Id="R51b2360b8e4b4b57" /><ns0:Relationship Type="http://schemas.openxmlformats.org/officeDocument/2006/relationships/notesMaster" Target="../notesMasters/d1_d2_notesMaster1.xml" Id="R0ccd33487b11486f" /></ns0:Relationships>
</file>

<file path=ppt/notesSlides/_rels/d1_d2_notesSlide27.xml.rels><?xml version='1.0' encoding='utf-8'?>
<ns0:Relationships xmlns:ns0="http://schemas.openxmlformats.org/package/2006/relationships"><ns0:Relationship Type="http://schemas.openxmlformats.org/officeDocument/2006/relationships/slide" Target="../slides/slide69.xml" Id="R9ec0fa46c11d407f" /><ns0:Relationship Type="http://schemas.openxmlformats.org/officeDocument/2006/relationships/notesMaster" Target="../notesMasters/d1_d2_notesMaster1.xml" Id="R170344bd957e4582" /></ns0:Relationships>
</file>

<file path=ppt/notesSlides/_rels/d1_d2_notesSlide28.xml.rels><?xml version='1.0' encoding='utf-8'?>
<ns0:Relationships xmlns:ns0="http://schemas.openxmlformats.org/package/2006/relationships"><ns0:Relationship Type="http://schemas.openxmlformats.org/officeDocument/2006/relationships/slide" Target="../slides/slide70.xml" Id="Rc13accd2b6b244a4" /><ns0:Relationship Type="http://schemas.openxmlformats.org/officeDocument/2006/relationships/notesMaster" Target="../notesMasters/d1_d2_notesMaster1.xml" Id="R88a97d3c05f7423f" /></ns0:Relationships>
</file>

<file path=ppt/notesSlides/_rels/d1_d2_notesSlide29.xml.rels><?xml version='1.0' encoding='utf-8'?>
<ns0:Relationships xmlns:ns0="http://schemas.openxmlformats.org/package/2006/relationships"><ns0:Relationship Type="http://schemas.openxmlformats.org/officeDocument/2006/relationships/slide" Target="../slides/slide71.xml" Id="R66ea4f95f4f34fb5" /><ns0:Relationship Type="http://schemas.openxmlformats.org/officeDocument/2006/relationships/notesMaster" Target="../notesMasters/d1_d2_notesMaster1.xml" Id="Rc1966388fff34692" /></ns0:Relationships>
</file>

<file path=ppt/notesSlides/_rels/d1_d2_notesSlide30.xml.rels><?xml version='1.0' encoding='utf-8'?>
<ns0:Relationships xmlns:ns0="http://schemas.openxmlformats.org/package/2006/relationships"><ns0:Relationship Type="http://schemas.openxmlformats.org/officeDocument/2006/relationships/slide" Target="../slides/slide72.xml" Id="Rbca93c2c15c44625" /><ns0:Relationship Type="http://schemas.openxmlformats.org/officeDocument/2006/relationships/notesMaster" Target="../notesMasters/d1_d2_notesMaster1.xml" Id="R1b3cd4b3430440a0" /></ns0:Relationships>
</file>

<file path=ppt/notesSlides/_rels/d1_d2_notesSlide31.xml.rels><?xml version='1.0' encoding='utf-8'?>
<ns0:Relationships xmlns:ns0="http://schemas.openxmlformats.org/package/2006/relationships"><ns0:Relationship Type="http://schemas.openxmlformats.org/officeDocument/2006/relationships/slide" Target="../slides/slide73.xml" Id="Rf8cb3204f0554b74" /><ns0:Relationship Type="http://schemas.openxmlformats.org/officeDocument/2006/relationships/notesMaster" Target="../notesMasters/d1_d2_notesMaster1.xml" Id="R42dbf8d19e614e67" /></ns0:Relationships>
</file>

<file path=ppt/notesSlides/_rels/d1_d2_notesSlide32.xml.rels><?xml version='1.0' encoding='utf-8'?>
<ns0:Relationships xmlns:ns0="http://schemas.openxmlformats.org/package/2006/relationships"><ns0:Relationship Type="http://schemas.openxmlformats.org/officeDocument/2006/relationships/slide" Target="../slides/slide75.xml" Id="Rddb4b0a590dc43cc" /><ns0:Relationship Type="http://schemas.openxmlformats.org/officeDocument/2006/relationships/notesMaster" Target="../notesMasters/d1_d2_notesMaster1.xml" Id="R79cb34b74c4947d5" /></ns0:Relationships>
</file>

<file path=ppt/notesSlides/_rels/d1_d2_notesSlide33.xml.rels><?xml version='1.0' encoding='utf-8'?>
<ns0:Relationships xmlns:ns0="http://schemas.openxmlformats.org/package/2006/relationships"><ns0:Relationship Type="http://schemas.openxmlformats.org/officeDocument/2006/relationships/slide" Target="../slides/slide76.xml" Id="Ra908b06d2bf54401" /><ns0:Relationship Type="http://schemas.openxmlformats.org/officeDocument/2006/relationships/notesMaster" Target="../notesMasters/d1_d2_notesMaster1.xml" Id="R6828eea721894a51" /></ns0:Relationships>
</file>

<file path=ppt/notesSlides/_rels/d1_d2_notesSlide34.xml.rels><?xml version='1.0' encoding='utf-8'?>
<ns0:Relationships xmlns:ns0="http://schemas.openxmlformats.org/package/2006/relationships"><ns0:Relationship Type="http://schemas.openxmlformats.org/officeDocument/2006/relationships/slide" Target="../slides/slide77.xml" Id="R6b03f5644ca44c87" /><ns0:Relationship Type="http://schemas.openxmlformats.org/officeDocument/2006/relationships/notesMaster" Target="../notesMasters/d1_d2_notesMaster1.xml" Id="Ra2c7c1465a074281" /></ns0:Relationships>
</file>

<file path=ppt/notesSlides/_rels/d1_d2_notesSlide35.xml.rels><?xml version='1.0' encoding='utf-8'?>
<ns0:Relationships xmlns:ns0="http://schemas.openxmlformats.org/package/2006/relationships"><ns0:Relationship Type="http://schemas.openxmlformats.org/officeDocument/2006/relationships/slide" Target="../slides/slide20.xml" Id="R0e8893263d524323" /><ns0:Relationship Type="http://schemas.openxmlformats.org/officeDocument/2006/relationships/notesMaster" Target="../notesMasters/d1_d2_notesMaster1.xml" Id="Rde0637f262144b7c" /></ns0:Relationships>
</file>

<file path=ppt/notesSlides/_rels/d1_d2_notesSlide36.xml.rels><?xml version='1.0' encoding='utf-8'?>
<ns0:Relationships xmlns:ns0="http://schemas.openxmlformats.org/package/2006/relationships"><ns0:Relationship Type="http://schemas.openxmlformats.org/officeDocument/2006/relationships/slide" Target="../slides/slide21.xml" Id="R0d23dbf6c4b04ef4" /><ns0:Relationship Type="http://schemas.openxmlformats.org/officeDocument/2006/relationships/notesMaster" Target="../notesMasters/d1_d2_notesMaster1.xml" Id="Read005d43fb74508" /></ns0:Relationships>
</file>

<file path=ppt/notesSlides/_rels/d1_d2_notesSlide37.xml.rels><?xml version='1.0' encoding='utf-8'?>
<ns0:Relationships xmlns:ns0="http://schemas.openxmlformats.org/package/2006/relationships"><ns0:Relationship Type="http://schemas.openxmlformats.org/officeDocument/2006/relationships/slide" Target="../slides/slide22.xml" Id="R9e3b08f1295e48bd" /><ns0:Relationship Type="http://schemas.openxmlformats.org/officeDocument/2006/relationships/notesMaster" Target="../notesMasters/d1_d2_notesMaster1.xml" Id="R49be2c1050554f95" /></ns0:Relationships>
</file>

<file path=ppt/notesSlides/_rels/d1_d2_notesSlide38.xml.rels><?xml version='1.0' encoding='utf-8'?>
<ns0:Relationships xmlns:ns0="http://schemas.openxmlformats.org/package/2006/relationships"><ns0:Relationship Type="http://schemas.openxmlformats.org/officeDocument/2006/relationships/slide" Target="../slides/slide23.xml" Id="R8f02fe4a55464ec2" /><ns0:Relationship Type="http://schemas.openxmlformats.org/officeDocument/2006/relationships/notesMaster" Target="../notesMasters/d1_d2_notesMaster1.xml" Id="R81b48614a1be464b" /></ns0:Relationships>
</file>

<file path=ppt/notesSlides/_rels/d1_d2_notesSlide39.xml.rels><?xml version='1.0' encoding='utf-8'?>
<ns0:Relationships xmlns:ns0="http://schemas.openxmlformats.org/package/2006/relationships"><ns0:Relationship Type="http://schemas.openxmlformats.org/officeDocument/2006/relationships/slide" Target="../slides/slide24.xml" Id="R86d6db28897d4e0a" /><ns0:Relationship Type="http://schemas.openxmlformats.org/officeDocument/2006/relationships/notesMaster" Target="../notesMasters/d1_d2_notesMaster1.xml" Id="R427e1b19caa54de9" /></ns0:Relationships>
</file>

<file path=ppt/notesSlides/_rels/d1_d2_notesSlide40.xml.rels><?xml version='1.0' encoding='utf-8'?>
<ns0:Relationships xmlns:ns0="http://schemas.openxmlformats.org/package/2006/relationships"><ns0:Relationship Type="http://schemas.openxmlformats.org/officeDocument/2006/relationships/slide" Target="../slides/slide25.xml" Id="R5bf4f6c1bd404c8f" /><ns0:Relationship Type="http://schemas.openxmlformats.org/officeDocument/2006/relationships/notesMaster" Target="../notesMasters/d1_d2_notesMaster1.xml" Id="R88cded902ee34995" /></ns0:Relationships>
</file>

<file path=ppt/notesSlides/_rels/d1_d2_notesSlide41.xml.rels><?xml version='1.0' encoding='utf-8'?>
<ns0:Relationships xmlns:ns0="http://schemas.openxmlformats.org/package/2006/relationships"><ns0:Relationship Type="http://schemas.openxmlformats.org/officeDocument/2006/relationships/slide" Target="../slides/slide26.xml" Id="R89632c56773f4882" /><ns0:Relationship Type="http://schemas.openxmlformats.org/officeDocument/2006/relationships/notesMaster" Target="../notesMasters/d1_d2_notesMaster1.xml" Id="R46b8acfc40b54f15" /></ns0:Relationships>
</file>

<file path=ppt/notesSlides/_rels/d1_d2_notesSlide42.xml.rels><?xml version='1.0' encoding='utf-8'?>
<ns0:Relationships xmlns:ns0="http://schemas.openxmlformats.org/package/2006/relationships"><ns0:Relationship Type="http://schemas.openxmlformats.org/officeDocument/2006/relationships/slide" Target="../slides/slide27.xml" Id="Re49f772c8ff34d38" /><ns0:Relationship Type="http://schemas.openxmlformats.org/officeDocument/2006/relationships/notesMaster" Target="../notesMasters/d1_d2_notesMaster1.xml" Id="Re780953566ac4d90" /></ns0:Relationships>
</file>

<file path=ppt/notesSlides/_rels/d1_d2_notesSlide43.xml.rels><?xml version='1.0' encoding='utf-8'?>
<ns0:Relationships xmlns:ns0="http://schemas.openxmlformats.org/package/2006/relationships"><ns0:Relationship Type="http://schemas.openxmlformats.org/officeDocument/2006/relationships/slide" Target="../slides/slide28.xml" Id="R2ec7cbd8f4ba45e2" /><ns0:Relationship Type="http://schemas.openxmlformats.org/officeDocument/2006/relationships/notesMaster" Target="../notesMasters/d1_d2_notesMaster1.xml" Id="Red5d03ad25ba4f49" /></ns0:Relationships>
</file>

<file path=ppt/notesSlides/_rels/d1_d2_notesSlide44.xml.rels><?xml version='1.0' encoding='utf-8'?>
<ns0:Relationships xmlns:ns0="http://schemas.openxmlformats.org/package/2006/relationships"><ns0:Relationship Type="http://schemas.openxmlformats.org/officeDocument/2006/relationships/slide" Target="../slides/slide29.xml" Id="R0d83513e606e4aba" /><ns0:Relationship Type="http://schemas.openxmlformats.org/officeDocument/2006/relationships/notesMaster" Target="../notesMasters/d1_d2_notesMaster1.xml" Id="R415765664f2c47fb" /></ns0:Relationships>
</file>

<file path=ppt/notesSlides/_rels/d1_d2_notesSlide45.xml.rels><?xml version='1.0' encoding='utf-8'?>
<ns0:Relationships xmlns:ns0="http://schemas.openxmlformats.org/package/2006/relationships"><ns0:Relationship Type="http://schemas.openxmlformats.org/officeDocument/2006/relationships/slide" Target="../slides/slide30.xml" Id="R2ed5a939106a4215" /><ns0:Relationship Type="http://schemas.openxmlformats.org/officeDocument/2006/relationships/notesMaster" Target="../notesMasters/d1_d2_notesMaster1.xml" Id="R9a3fd2f2cc6d40aa" /></ns0:Relationships>
</file>

<file path=ppt/notesSlides/_rels/d1_d2_notesSlide46.xml.rels><?xml version='1.0' encoding='utf-8'?>
<ns0:Relationships xmlns:ns0="http://schemas.openxmlformats.org/package/2006/relationships"><ns0:Relationship Type="http://schemas.openxmlformats.org/officeDocument/2006/relationships/slide" Target="../slides/slide31.xml" Id="R2138f98c540b4793" /><ns0:Relationship Type="http://schemas.openxmlformats.org/officeDocument/2006/relationships/notesMaster" Target="../notesMasters/d1_d2_notesMaster1.xml" Id="R1fdae570a16844d9" /></ns0:Relationships>
</file>

<file path=ppt/notesSlides/_rels/d1_d2_notesSlide47.xml.rels><?xml version='1.0' encoding='utf-8'?>
<ns0:Relationships xmlns:ns0="http://schemas.openxmlformats.org/package/2006/relationships"><ns0:Relationship Type="http://schemas.openxmlformats.org/officeDocument/2006/relationships/slide" Target="../slides/slide32.xml" Id="R749bbe899d324b19" /><ns0:Relationship Type="http://schemas.openxmlformats.org/officeDocument/2006/relationships/notesMaster" Target="../notesMasters/d1_d2_notesMaster1.xml" Id="R7e95a44c196048fe" /></ns0:Relationships>
</file>

<file path=ppt/notesSlides/d0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0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结构导航页。页码指本版实际页码，所有原v3内容完整保留，实测记录沿用2026-09-15历史状态。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 Agent 是产品适配愿景。当前验证范围是 Codex、MYA CLI、手机 Web 与受控演示资源。2026-09-15 汇编。新版正文优先于附录中的历史产品判断。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来源：用户在本会话提供的截图 codex-clipboard-de773119-aad6-458c-9f31-bcf3f039e4a0.png。此页为脱敏文字摘录，非原始截图。截图只能证明该会话要求重新绑定，不能证明平台缺陷或其根因。二维码的产品启发为本次分析，不推断原系统设计者动机。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依据用户所述体验归纳。不能仅由截图确认令牌失效、会话隔离等具体原因。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无需平台授权时，用户签发的适用凭证经钱包出示后可直接重试。平台授权是必要时的独立分支，不能由MYA批准自动替代。通用第三方适配与完成状态回调尚未实现。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示例为产品设计，尚未接入飞书真实权限下发。自然语言用于帮助理解，不能独自承担执行端授权约束。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概念架构。强制约束要求资源方或受保护网关验证，且关键资源不存在绕过路径。Skill本身是协作能力，不是安全隔离边界。MYA提供可验证的用户授权，业务系统掌握执行权。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用户侧调查不能仅复述工作Agent摘要；需要独立证据来源及权限隔离。辅助建议不等于批准。反诈场景的效果尚未验证。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本版含8页开场、10页架构、7页研究、1页附录说明、47页原完整版，共73页。各章节来源记录于演讲者备注。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AgentBee官网明确声明其属于AgentPass生态并由CyberSecAI Ltd提供。</a:t>
            </a:r>
          </a:p>
          <a:p xmlns:a="http://schemas.openxmlformats.org/drawingml/2006/main">
            <a:r>
              <a:t>https://agentbee.co.uk/</a:t>
            </a:r>
          </a:p>
          <a:p xmlns:a="http://schemas.openxmlformats.org/drawingml/2006/main">
            <a:r>
              <a:t>https://agentpass.co.uk/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查阅：2026-09-15。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来源：https://agentpass.co.uk/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查阅2026-09-15。官网声称Secure Enclave签名、二维码注册、设备撤销。未实测，未核实App Store上架。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来源：https://agentbee.co.uk/</a:t>
            </a:r>
          </a:p>
          <a:p xmlns:a="http://schemas.openxmlformats.org/drawingml/2006/main">
            <a:r>
              <a:t>查阅2026-09-15。1.47英寸LCD、USB与P256签名为厂商声明。Flash Encryption / Secure Boot描述不足以证明独立安全认证。单笔/每日支付限额标为roadmap。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登记来源：</a:t>
            </a:r>
          </a:p>
          <a:p xmlns:a="http://schemas.openxmlformats.org/drawingml/2006/main">
            <a:r>
              <a:t>https://find-and-update.company-information.service.gov.uk/company/16837162</a:t>
            </a:r>
          </a:p>
          <a:p xmlns:a="http://schemas.openxmlformats.org/drawingml/2006/main">
            <a:r>
              <a:t>https://find-and-update.company-information.service.gov.uk/company/16837162/officers</a:t>
            </a:r>
          </a:p>
          <a:p xmlns:a="http://schemas.openxmlformats.org/drawingml/2006/main">
            <a:r>
              <a:t>https://find-and-update.company-information.service.gov.uk/company/16837162/persons-with-significant-control</a:t>
            </a:r>
          </a:p>
          <a:p xmlns:a="http://schemas.openxmlformats.org/drawingml/2006/main">
            <a:r>
              <a:t>履历自述：https://cybere2e.co.uk/</a:t>
            </a:r>
          </a:p>
          <a:p xmlns:a="http://schemas.openxmlformats.org/drawingml/2006/main">
            <a:r>
              <a:t>2026-09-15查阅公开索引。未展示私人住址、生日等不必要信息。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来源：https://agentpass.co.uk/</a:t>
            </a:r>
          </a:p>
          <a:p xmlns:a="http://schemas.openxmlformats.org/drawingml/2006/main">
            <a:r>
              <a:t>https://agentbee.co.uk/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2026-09-15。公司融资/收入为本次调查未核实项，非断言没有融资或客户。官网FCA sandbox applicant、SOC2/PCI mapped不得表述为通过。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比较依据：MYA本次演示记录；https://agentpass.co.uk/authenticator.html；https://agentbee.co.uk/。用户任务逻辑与试点评价指标为本次方案设计。MYA手机Web密钥、PC钱包文件与独立硬件安全边界不同。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试点方案与建议指标，不是已经完成的测试结果。场景价值与反诈效果需要用户研究和业务验证。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0_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原件：MYA_AI_Authenticator_完整演示与Hook验收_v3_20260915.pptx。附录包含较早措辞与实现状态，若与正文冲突，采用正文。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 Agent是适配愿景；当前真实集成为Codex、MYA CLI和受控演示资源。分析和指纹交互为模拟，签名、加密与执行授权真实运行。架构及演示依据仓库1c7fddc；既有47页研究与完整记录保留在v3。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图按逻辑职责与控制权划分，不将物理Oracle位置当作信任域。资源侧可以自有验证组件或使用其信任的验证服务，接受凭证与执行策略最终由资源方决定。当前示例见证、转发、验证、执行同Oracle进程；手机代码仍由该服务分发，独立部署/钱包隔离尚待实现。Agent遇到受支持授权要求后自主选择调用Skill，Skill是钱包使用能力，不是拦截器自动替Agent调用的固定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凭证覆盖双方公钥、binding_id、范围和有效期。手机签关系，Agent签PairConfirmation，见证签BindingWitnessCredential；见证交付双方。横跨两端的第③步为用户核对步骤，不代表手机直接绕过转发服务发送网络消息。配对码与SAS短码职责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图片是此前真实测试截图，两端P4PR N4RW一致。真人后续曾遇到未配对和远程浏览器打不开PC回环地址，重新配对时用户明确授权Agent代点PC确认；手机由用户确认。正常流程仍要求用户自己核对两端。本页不宣称该隔离截图是最新真人身份。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本报告真人修改闭环已完成。修改生成新request_id及supersedes_request_id，不能在原授权下偷换冻结内容。图中闭环返回手机审阅，实际由Agent创建新请求并经转发服务送达。审批侧当前建议为模拟；自由往返会话和独立调查Agent属于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挑战最长120秒，持钥证明最长30秒；present不执行。execute-verified读取服务端保存交易并再次验证。当前验证与执行模块位于同一Oracle服务，图按职责分列。HTTPS不代替挑战签名与origin校验；出示既有凭证而非Agent自签用户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关联示意不是凭证签发依赖的完整DAG：grant关联关系/request；proof摘要覆盖既有credential集合且绑定challenge；receipt关联grant/request与实际payload。agent不能伪造手机授权，但同机钱包文件保护有限。真人request 5a0ad59f-2c45-4130-b343-c65bf977e1b8；execution 21a6627c-b7da-4f37-8f57-80b9fc00634e。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入口分别是外部业务资源反馈授权要求，以及运行环境内部PreToolUse检查点。Agent自主识别并调用Skill，Skill通过钱包发起审批或出示现有适用凭证，持续等待结果并重试原行动。已有有效且适用凭证时可直接按受信挑战出示，不必重复申请；缺失、过期或范围变化时请求新授权。手机不能直接调用业务执行，图中右侧连线表示手机授权经钱包出示后重试。两种触发入口可以分别使用或共同部署，并非每项请求必须依次经过两次拦截。无缝融入既有流程是集成目标，要求Agent识别协议和系统提供受控验证入口。现有CLI支持预配置MYA挑战，不支持任意未知返回端点；当前Hook原生热插入尚未验收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继承关系资格、具体行动授权和资源端执行分离。组织凭证不能替代用户单次批准或业务策略。审批侧Agent需要独立证据与权限隔离，不能仅重复工作Agent摘要。关于竞品差异的完整官方来源及边界见保留的v3第22–29页；本图不宣称远程确认或密码学绑定为MYA独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1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详细操作与全部历史证据见 docs/DEMO_WALKTHROUGH.md、docs/CODEX_HOOK.md，以及47页v3。最新真人执行2026-09-15 15:45:51中国时间。未经本次真人单独启用规则，不把单次同意当长期委托。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服务0240f65、Hook与演示1c7fddc。2026-09-15 验证记录。</a:t>
            </a:r>
          </a:p>
          <a:p xmlns:a="http://schemas.openxmlformats.org/drawingml/2006/main">
            <a:r>
              <a:t>https://github.com/seanzhang9999/mya_demo/tree/1c7fddc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MYA 面向多种 Agent 提供用户侧授权入口。当前已验证 Codex 与 MYA CLI，其他 Agent 需实现适配并接入受控资源接口。真实调查 Agent 属于规划。封面为概念插图。讲解首先展示绑定和远程授权，再解释独立决策分支及业务价值。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远程表示无需与执行端同处一地，当前公网 HTTPS Demo 已实测。可信表示满足已实现的签名、绑定与授权检查，不代表网页代码经过可信执行证明或用户真实生物识别。基础密码学已实现。多轮调查伙伴仍是规划。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先通过已知可信路径核验见证指纹。本次部署通过 SSH 核验。二维码用于加入邀请，不能独立证明真实组织身份。演示邀请来自 Oracle 服务，截图完成后已撤销临时关系，当前真实用户绑定不受影响。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此页展示同一次隔离配对的两端实图。SAS 由同一 RelationshipCredential 内容哈希得到，不是短信验证码，也不是首次加入所用的八位配对码。双端人类核对降低错误配对风险。它不等于真实身份认证或对恶意端点的安全证明。截图内绑定已撤销。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RelationshipCredential 由手机用户密钥签署，Agent 另签 PairConfirmation。见证服务验证关系和确认后签署 BindingWitnessCredential。初始核验见证公钥十分关键。见证证明材料一致，不证明法定身份、企业雇佣关系或 Agent 代码可信。图为临时测试关系，已撤销。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消息使用 JWS 签名与 JWE 加密。已实现 P-256、ES256、ECDH-ES+A256KW 和 A256GCM，不能因采用标准算法就宣称协议已获独立安全认证。TLS 与应用消息加密的信任边界不同。当前同一 Oracle 服务仍能更新手机网页代码，因此 E2EE 不能抵抗恶意前端更新。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仓库状态文档的Oracle与真实Codex未验证条目早于本次部署，不能直接当当前状态。本次会话已经完成Oracle HTTPS部署、Codex Skill安装、真实手机配对和修改审批。自动规则在浏览器自动测试中验证，不能说用户已经亲自启用。多绑定数据结构和列表界面存在，但没有在本次用同一真人手机验证多个Agent并发治理。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见证、转发和资源服务同部署在Oracle，角色逻辑分离不等于运营信任域已经分离。手机私钥在浏览器，服务端仍能更新网页代码。未来企业集成可以让资源端由企业持有，审批侧由用户或授权组织控制。关系、授权、执行证据需要分别验证，任何一种都不能替代另外两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真人测试先有一份成本报告被用户直接批准，因此执行了含合成成本的报告。这说明系统确实服从有效用户决定，而不是按预设演示剧情拦截。第二次请求5fdd1ce3收到changes_requested，新请求bd4ba443关联原请求，获得批准后执行，执行编号1f2e3e8b-32d5-48d5-b092-a1300a717bac，独立查询结果为delivered_to_demo_inbox。右图为同部署下临时身份自动测试截图，并非用户手机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只允许受限结构化进度模板自动批准，不能对任意自由文本依赖模型判断后放行。批准次数与实际执行次数分别记录。规则修改采用暂停旧规则后新建委托，授权范围不能静默扩大。用户清除浏览器数据会失去身份和历史，恢复能力尚未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可旁路是系统边界属性，需要最小权限、凭据隔离、统一执行入口及审计覆盖，不能由Skill文字约定实现。当前Codex有其他工具和SSH能力，MYA仅控制演示资源API。NIST指出带外身份验证不天然具备抗钓鱼能力，这里用来提醒概念边界，不把本Demo等同于其认证合规方案。手机批准真实但仍可能批准错误对象，因此必须把精确内容清楚呈现给用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观点最有潜力的产品化方向。主会话需要保留执行所需上下文，不必承载所有私人顾虑、调查过程和长篇讨论。不能承诺完全不影响主上下文，因为用户约束和授权结果必须回传。应把request_id、supersedes_request_id、证据引用、反建议和最终选择组织成小型决策空间。聊天同意不应自动当成签署，草案也不能被当成正式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Agent可能共享模型偏差、同一错误数据源，也可能同时遭受提示注入。审批侧应默认只读取必要数据，高风险结论引用权威或经核验的独立来源，不从可疑消息里的链接或电话号码自行证明其真实性。反建议可以提升决策质量和效率，但必须通过对照试验评估误批、漏报与用户耗时，不能先假定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人绑定多个Agent并不等于多个人共同审批。后者还需要审批路由、角色解析、代理与分权、顺序及并行规则。用户侧可承载个人关系和组织角色，但应显示当前以哪个身份决策。需要防止供应商Agent冒充企业内部Agent，以及一个旧关系被错误继承到新设备或人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C验证可证明凭证来源和完整性，不能自动证明所有声明真实，也不意味着法律身份已核验。可信度取决于签发方资格、验证者的信任策略、撤销状态和持有者绑定。部署可以先对接现有企业SSO及角色目录，无需把DID设为所有客户的前置条件。恢复、最小披露与跨场景可关联性也需要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W3C，Verifiable Credentials Data Model v2.0。Recommendation，2025-05-15。</a:t>
            </a:r>
          </a:p>
          <a:p xmlns:a="http://schemas.openxmlformats.org/drawingml/2006/main">
            <a:r>
              <a:t>https://www.w3.org/TR/vc-data-model-2.0/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Automate等系统已经有顺序审批能力。MYA可提供Agent动作规范化、用户侧决策伙伴和授权证据，不必重做每一种审批引擎。真正难点是批准条件与资源权限一致、审批版本更改后重新签署、跨系统取消与撤销、失败后查结果以及审计留存政策。审批API可用并不代表业务执行端可以接受新的授权凭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伙伴关注当前生产状态和变更风险，与执行Agent的实现目标不同。它可以查监控和变更平台，但不应拿到任意生产写权限。试点适合从报告外发、发布审批和有限变更开始，避免一开始纳入所有shell命令。关键验证指标包括越界执行拦截、回滚可验证性和审批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场景是产品假设，不构成银行合规结论。审批Agent只能在授权数据范围内查账和查制度，不应让模型决定法定或机构规定的最终审批权。银行运营与被服务企业客户的授权属于不同责任主体，应分别保留身份与审计记录。先在非资金执行的工单复核场景试点更易观察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级审批伙伴应服务于各自的授权主体。服务提供方、银行和企业客户的利益未必一致，不能把提供服务的Agent当成客户的独立审阅者。敏感合同与内部预算应最小披露，跨组织只共享必要证明和结论。流程需要区分同意商业事项、企业付款授权以及银行支付放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反诈辅助设计，不是经过验证的拦诈产品。模型无法凭不充分信息判定全部真伪。需要独立官方渠道、可靠风险数据、可解释证据、清晰的取消与求助入口，并避免向未获授权的家人或第三方泄露信息。普通购买和敏感信息分享可以先试，转账拦截需要金融机构或支付方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生成式AI风险资料讨论了自动化偏见和过度依赖的风险。这意味着第二Agent不能作为自动安全证明。应保留人工决定权，禁止建议组件直接提升授权范围，单次决定不能静默训练成自动规则。企业部署还需要明确审阅日志的法律责任与访问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可信审批和密码学绑定适合放在产品开场，但无法支持其他方案均不具备或市场唯一的结论。流程中间件的默认能力与可扩展平台能力要分开。直接相邻产品已经出现，用户侧决策伙伴的差异化仍要通过真实实现及试点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LangChain 的 checkpoint 和 resume 已解决人工介入的状态延续，MYA 应达到同等体验。n8n 能使用外部远程渠道，所以不能声称其只支持主会话内批准。Power Automate 可以使用平台身份安全措施，本文没有对整个 Microsoft 身份栈作缺失判断。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  <a:p xmlns:a="http://schemas.openxmlformats.org/drawingml/2006/main">
            <a:r>
              <a:t>n8n，Production AI Playbook: Human Oversight。动态页面，2026-09-15 查阅。</a:t>
            </a:r>
          </a:p>
          <a:p xmlns:a="http://schemas.openxmlformats.org/drawingml/2006/main">
            <a:r>
              <a:t>https://blog.n8n.io/production-ai-playbook-human-oversight/</a:t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Guardian.swift 固定提交5e073dce的RSAAuthentication.resolve把challenge、设备标识、audience、时效和accepted状态装入签名JWT。这是明确的签名确认反例。不能据此声称它直接对任意报告字节做手机签名。CIBA本身的认证设备通道由提供方选择，未定义通用的Agent与用户审批聊天E2EE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Auth0，Guardian.swift README。SDK 文档，2026-09-15 查阅。</a:t>
            </a:r>
          </a:p>
          <a:p xmlns:a="http://schemas.openxmlformats.org/drawingml/2006/main">
            <a:r>
              <a:t>https://github.com/auth0/Guardian.swift</a:t>
            </a:r>
          </a:p>
          <a:p xmlns:a="http://schemas.openxmlformats.org/drawingml/2006/main">
            <a:r>
              <a:t>Auth0，Guardian/Authentication/Authentication.swift。固定提交 5e073dce，2026-09-15 核验。</a:t>
            </a:r>
          </a:p>
          <a:p xmlns:a="http://schemas.openxmlformats.org/drawingml/2006/main">
            <a:r>
              <a:t>https://github.com/auth0/Guardian.swift/blob/5e073dce247f46581942b5f1d6e0c045baff9e9d/Guardian/Authentication/Authentication.swift</a:t>
            </a:r>
          </a:p>
          <a:p xmlns:a="http://schemas.openxmlformats.org/drawingml/2006/main">
            <a:r>
              <a:t>Auth0，Configure Rich Authorization Requests (RAR)。动态文档，2026-09-15 查阅。</a:t>
            </a:r>
          </a:p>
          <a:p xmlns:a="http://schemas.openxmlformats.org/drawingml/2006/main">
            <a:r>
              <a:t>https://auth0.com/docs/get-started/apis/configure-rich-authorization-requests</a:t>
            </a:r>
          </a:p>
          <a:p xmlns:a="http://schemas.openxmlformats.org/drawingml/2006/main">
            <a:r>
              <a:t>OpenID Foundation，CIBA Core 1.0。Final，2021-09-01。</a:t>
            </a:r>
          </a:p>
          <a:p xmlns:a="http://schemas.openxmlformats.org/drawingml/2006/main">
            <a:r>
              <a:t>https://openid.net/specs/openid-client-initiated-backchannel-authentication-core-1_0.html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OneSpan材料为MAS5.5.0产品说明，2025-11-25更新。FIDO FAQ明确CTAP2.2 hybrid使用BLE验证接近性，并使用额外密码学保护数据。SPC是2026-07-02 Candidate Recommendation Draft，不能作为最终Recommendation介绍。AP2官方发布说明区分用户在场和预先委托的签署授权。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FIDO Alliance，Passkeys FAQ。CTAP 2.2 跨设备说明，2026-09-15 查阅。</a:t>
            </a:r>
          </a:p>
          <a:p xmlns:a="http://schemas.openxmlformats.org/drawingml/2006/main">
            <a:r>
              <a:t>https://fidoalliance.org/passkeys/</a:t>
            </a:r>
          </a:p>
          <a:p xmlns:a="http://schemas.openxmlformats.org/drawingml/2006/main">
            <a:r>
              <a:t>W3C，Secure Payment Confirmation。Candidate Recommendation Draft，2026-07-02。</a:t>
            </a:r>
          </a:p>
          <a:p xmlns:a="http://schemas.openxmlformats.org/drawingml/2006/main">
            <a:r>
              <a:t>https://www.w3.org/TR/2026/CRD-secure-payment-confirmation-20260702/</a:t>
            </a:r>
          </a:p>
          <a:p xmlns:a="http://schemas.openxmlformats.org/drawingml/2006/main">
            <a:r>
              <a:t>Google Cloud，Powering AI commerce with the new Agent Payments Protocol (AP2)。2025-09-16。</a:t>
            </a:r>
          </a:p>
          <a:p xmlns:a="http://schemas.openxmlformats.org/drawingml/2006/main">
            <a:r>
              <a:t>https://cloud.google.com/blog/products/ai-machine-learning/announcing-agents-to-payments-ap2-protocol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AgentPair SPEC为1.0-draft，代码和规范可读但本次未运行其实现。不能说配对加密的持续关系从未出现。AgentPass页面自称生产可用，同时标注App Store即将提供。本文仅把它视为公开定位及能力声明证据，不重复其全球首创或专利范围主张。所查页面不足以确认它有用户与Agent双向E2EE审批分支，也不足以否认其能够实现。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差异化是假设，不是已被穷尽证明的市场独占。端点可信、受控执行、身份治理及独立证据决定组合能否成立。真正可积累的是用户关系、业务字段与校验知识、可复用连接器和可靠决策记录。多一个模型或采用DID本身不足以形成持续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序依据接入可控性和验证成本，是规划假设。用户价值与商业客户未必相同：研发场景付款方可能是平台或企业安全团队，企业审批可能由流程平台或金融服务方采购，2C可能需要机构分发而非独立App获客。不要用宽泛AI市场规模代替MYA可服务市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测试暴露了智能体提前结束轮询、要求用户再次回复已批准的问题。技术上单次20秒等待不等于流程终止。产品应维护持久状态，支持限时轮询、重连和回调，批准后恢复执行，超时或失联时显式暂停。不要无限忙轮询，也不能把用户沉默当作批准。等待应有业务截止时间、用户取消和后台恢复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顺序是产品建议，不代表排期承诺。优先把这次暴露的等待体验做成系统能力，而不是仅靠Skill提示。真实决策Agent可以先只读接入合同或监控信息，保留人工签署。银行和2C反诈应待受控场景的质量与可靠性得到证据后再扩大。恢复机制需防止换机或身份变更产生旧授权继续有效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这个标题便于跨业务理解，但并不自动表达审批侧Agent的调查能力。建议副标题说明远程可信审批、密码学关系绑定与行动授权。Any Agent是兼容性愿景，不表示无需接入即可拦截任何工具。AgentPass已采用类似类别名称，不能把该短语当作MYA独有概念。本次没有进行商标或专利法律检索。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用于第 1、2、3、4、5、6、7、8、9、10、11、12、14、15、16、17、18、19、20、23、27、28、29、30、31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  <a:p xmlns:a="http://schemas.openxmlformats.org/drawingml/2006/main">
            <a:r>
              <a:t>用于第 22、23、29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n8n，Production AI Playbook: Human Oversight。动态页面，2026-09-15 查阅。</a:t>
            </a:r>
          </a:p>
          <a:p xmlns:a="http://schemas.openxmlformats.org/drawingml/2006/main">
            <a:r>
              <a:t>https://blog.n8n.io/production-ai-playbook-human-oversight/</a:t>
            </a:r>
          </a:p>
          <a:p xmlns:a="http://schemas.openxmlformats.org/drawingml/2006/main">
            <a:r>
              <a:t>用于第 23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Auth0，Configure Rich Authorization Requests (RAR)。动态文档，2026-09-15 查阅。</a:t>
            </a:r>
          </a:p>
          <a:p xmlns:a="http://schemas.openxmlformats.org/drawingml/2006/main">
            <a:r>
              <a:t>https://auth0.com/docs/get-started/apis/configure-rich-authorization-requests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用于第 16、23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W3C，Verifiable Credentials Data Model v2.0。Recommendation，2025-05-15。</a:t>
            </a:r>
          </a:p>
          <a:p xmlns:a="http://schemas.openxmlformats.org/drawingml/2006/main">
            <a:r>
              <a:t>https://www.w3.org/TR/vc-data-model-2.0/</a:t>
            </a:r>
          </a:p>
          <a:p xmlns:a="http://schemas.openxmlformats.org/drawingml/2006/main">
            <a:r>
              <a:t>用于第 15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  <a:p xmlns:a="http://schemas.openxmlformats.org/drawingml/2006/main">
            <a:r>
              <a:t>用于第 11、21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Cloud，Powering AI commerce with the new Agent Payments Protocol (AP2)。2025-09-16。</a:t>
            </a:r>
          </a:p>
          <a:p xmlns:a="http://schemas.openxmlformats.org/drawingml/2006/main">
            <a:r>
              <a:t>https://cloud.google.com/blog/products/ai-machine-learning/announcing-agents-to-payments-ap2-protocol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  <a:p xmlns:a="http://schemas.openxmlformats.org/drawingml/2006/main">
            <a:r>
              <a:t>用于第 13、21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用于第 22、24、27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OpenID Foundation，CIBA Core 1.0。Final，2021-09-01。</a:t>
            </a:r>
          </a:p>
          <a:p xmlns:a="http://schemas.openxmlformats.org/drawingml/2006/main">
            <a:r>
              <a:t>https://openid.net/specs/openid-client-initiated-backchannel-authentication-core-1_0.html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Auth0，Guardian.swift README。SDK 文档，2026-09-15 查阅。</a:t>
            </a:r>
          </a:p>
          <a:p xmlns:a="http://schemas.openxmlformats.org/drawingml/2006/main">
            <a:r>
              <a:t>https://github.com/auth0/Guardian.swift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Auth0，Guardian/Authentication/Authentication.swift。固定提交 5e073dce，2026-09-15 核验。</a:t>
            </a:r>
          </a:p>
          <a:p xmlns:a="http://schemas.openxmlformats.org/drawingml/2006/main">
            <a:r>
              <a:t>https://github.com/auth0/Guardian.swift/blob/5e073dce247f46581942b5f1d6e0c045baff9e9d/Guardian/Authentication/Authentication.swift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用于第 22、25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FIDO Alliance，Passkeys FAQ。CTAP 2.2 跨设备说明，2026-09-15 查阅。</a:t>
            </a:r>
          </a:p>
          <a:p xmlns:a="http://schemas.openxmlformats.org/drawingml/2006/main">
            <a:r>
              <a:t>https://fidoalliance.org/passkeys/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W3C，Secure Payment Confirmation。Candidate Recommendation Draft，2026-07-02。</a:t>
            </a:r>
          </a:p>
          <a:p xmlns:a="http://schemas.openxmlformats.org/drawingml/2006/main">
            <a:r>
              <a:t>https://www.w3.org/TR/2026/CRD-secure-payment-confirmation-20260702/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用于第 26、27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用于第 22、26、27、31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 34 页保留此前的产品、绑定演示与竞品调查；本补充记录钱包升级后真实手机流程和本轮Hook试验。Hook当前进程热插入失败，后续原生拦截和批准放行尚待验收。完整操作脚本见仓库 docs/DEMO_WALKTHROUGH.md 与 docs/CODEX_HOOK.md。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已核对 PC 配置与 Oracle 公钥，公开 mobile/app.js 内容摘要与部署文件一致。手机浏览器私钥存于该来源和浏览器的 IndexedDB；没有证据将其缺失归因于某次清理或特定浏览器故障。当前主任务由 ChatGPT.app 内置 Codex 运行，独立 CLI 为旧版。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第一轮新邀请因未加入而过期；第二轮真人绑定 4d0d828c-39d7-41a2-8148-39805e48dcc1 完成。旧关系没有删除。真实手机与 PC 的短码为 1DG1 JHD7；历史邀请和代码已消费，不用于现场重新扫码。PC代确认是用户明确指令的例外，不能声称用户亲自点击了两端。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真人原请求 5fdd1ce3-3d41-4de0-a8c4-5d71a245eded，修订 bd4ba443-b85b-44e3-bf83-19e1057b1a7e，执行 1f2e3e8b-32d5-48d5-b092-a1300a717bac。输入示例 fixtures/request-cost.json 和 fixtures/request-safe.json。审批分析当前为模拟，不应声称模型已独立调查合同或成本。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真实请求 5a0ad59f-2c45-4130-b343-c65bf977e1b8。批准与执行发生在手机授权消息被Agent轮询收到之后，聊天消息不是授权来源。安装的 mya-approval Skill 要求持续轮询；等待过程中有进度汇报，不要求重复确认。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分步模式：mya challenge --request ID --out challenge.json；mya present --request ID --challenge challenge.json。present本身不执行。挑战不超过120秒，holder proof不超过30秒。当前只支持预配置MYA服务器及固定验证端点，不是通用OpenID4VP互操作。凭证虽可明文给被授权验证方读取，仍须限制隐私披露。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当时检查时间为2026-09-15 15:46:09中国时间，13项全通过。挑战出示另有9类检查：关系见证、holder签名、交易nonce、验证者端点、凭证摘要、请求行动、批准签名范围、当前时效、关系规则状态。本轮脚本读取旧请求得到grant_time失败，正确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verification_id为8db2e11c-44a2-4525-996d-3ff2189c8370；grant_id为1cec6c0c-6586-4d01-a812-b9c8886a0cce。已验证请求、授权、挑战、执行及签名回执关联。PPT只记录元数据，不包含私钥或原始授权JWS。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规则及例外由隔离浏览器与协议自动测试验证。组织多级审批、银行运营和2C反诈仍是应用场景假设，不属于真实业务上线。未来审批侧调查Agent需独立数据来源、权限隔离和可追溯证据。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脚本 scripts/codex-approval-hook.mjs 只匹配严格 mya execute --request UUID --presentation（可带mya绝对路径）。复杂shell、node直接调用、curl和已有exec会话输入不在此窄适配器范围内。当前钱包与hook脚本同本机用户权限，尚无独立安全域。企业应隔离业务凭证与配置权限，并优先结构化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实际运行引擎是ChatGPT.app内置codex-cli 0.154.0-alpha.6.2。写配置后首次canary执行；通过原生CLI审阅该唯一Hook为Trusted后，当前会话再次执行canary仍写文件。结论是本会话当前工具路径未验证到热加载，不能扩大断言为所有Codex版本不支持Hook。直接处理函数调用标签manual-handler-test-not-native；grant_time拒绝旧真人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完整标准见 docs/CODEX_HOOK.md。已有旧标记文件需先记录时间或归档，不能仅凭存在就误判新一次执行。脚本拒绝码完整为MYA_HOOK_CANARY_BLOCKED与MYA_APPROVAL_REQUIRED。下一轮须在目标会话重新加载后实测，不保证重启一定解决。批准后原生放行目前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d1_d2_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与命令：https://github.com/seanzhang9999/mya_demo/blob/main/docs/DEMO_WALKTHROUGH.md；Hook方案：https://github.com/seanzhang9999/mya_demo/blob/main/docs/CODEX_HOOK.md。演示现场必须新建邀请和请求；历史截图与授权不可重用。当前未完成原生hook放行，真实用户单独启用自动规则也未在本轮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d0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0_slideMaster1.xml" Id="Re392cc872fc94c6f" /></ns0:Relationships>
</file>

<file path=ppt/slideLayouts/_rels/d1_d0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1_d0_slideMaster1.xml" Id="R5c7713690e3e4888" /></ns0:Relationships>
</file>

<file path=ppt/slideLayouts/_rels/d1_d1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1_d1_slideMaster1.xml" Id="Ra1b3f4682ecf4b0a" /></ns0:Relationships>
</file>

<file path=ppt/slideLayouts/_rels/d1_d2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1_d2_slideMaster1.xml" Id="Re2349a57aff44eae" /></ns0:Relationships>
</file>

<file path=ppt/slideLayouts/d0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d1_d0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d1_d1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d1_d2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d0_slideMaster1.xml.rels><?xml version='1.0' encoding='utf-8'?>
<ns0:Relationships xmlns:ns0="http://schemas.openxmlformats.org/package/2006/relationships"><ns0:Relationship Type="http://schemas.openxmlformats.org/officeDocument/2006/relationships/theme" Target="theme/d0_theme2.xml" Id="R11d229c1f669442c" /><ns0:Relationship Type="http://schemas.openxmlformats.org/officeDocument/2006/relationships/slideLayout" Target="../slideLayouts/d0_slideLayout1.xml" Id="R91707cf7b3e94f97" /></ns0:Relationships>
</file>

<file path=ppt/slideMasters/_rels/d1_d0_slideMaster1.xml.rels><?xml version='1.0' encoding='utf-8'?>
<ns0:Relationships xmlns:ns0="http://schemas.openxmlformats.org/package/2006/relationships"><ns0:Relationship Type="http://schemas.openxmlformats.org/officeDocument/2006/relationships/theme" Target="theme/d1_d0_theme2.xml" Id="R3623c0ba5b6841d7" /><ns0:Relationship Type="http://schemas.openxmlformats.org/officeDocument/2006/relationships/slideLayout" Target="../slideLayouts/d1_d0_slideLayout1.xml" Id="R9f7d8e52a6c94f90" /></ns0:Relationships>
</file>

<file path=ppt/slideMasters/_rels/d1_d1_slideMaster1.xml.rels><?xml version='1.0' encoding='utf-8'?>
<ns0:Relationships xmlns:ns0="http://schemas.openxmlformats.org/package/2006/relationships"><ns0:Relationship Type="http://schemas.openxmlformats.org/officeDocument/2006/relationships/theme" Target="theme/d1_d1_theme2.xml" Id="Rdceb78d34dfa4bad" /><ns0:Relationship Type="http://schemas.openxmlformats.org/officeDocument/2006/relationships/slideLayout" Target="../slideLayouts/d1_d1_slideLayout1.xml" Id="Rd1f4b07935714bc6" /></ns0:Relationships>
</file>

<file path=ppt/slideMasters/_rels/d1_d2_slideMaster1.xml.rels><?xml version='1.0' encoding='utf-8'?>
<ns0:Relationships xmlns:ns0="http://schemas.openxmlformats.org/package/2006/relationships"><ns0:Relationship Type="http://schemas.openxmlformats.org/officeDocument/2006/relationships/theme" Target="theme/d1_d2_theme2.xml" Id="Ra1ad9d2cbce34dbb" /><ns0:Relationship Type="http://schemas.openxmlformats.org/officeDocument/2006/relationships/slideLayout" Target="../slideLayouts/d1_d2_slideLayout1.xml" Id="Ra36b7b3e87794deb" /></ns0:Relationships>
</file>

<file path=ppt/slideMasters/d0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707cf7b3e94f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d1_d0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d8e52a6c94f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d1_d1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f4b0793571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d1_d2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b7b3e87794d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d0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d1_d0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d1_d1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d1_d2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d1_slide8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09ccea0a1ccb48b5" /><ns0:Relationship Type="http://schemas.openxmlformats.org/officeDocument/2006/relationships/notesSlide" Target="../notesSlides/d1_d0_notesSlide8.xml" Id="R39404e503ee14540" /></ns0:Relationships>
</file>

<file path=ppt/slides/_rels/d1_slide9.xml.rels><?xml version='1.0' encoding='utf-8'?>
<ns0:Relationships xmlns:ns0="http://schemas.openxmlformats.org/package/2006/relationships"><ns0:Relationship Type="http://schemas.openxmlformats.org/officeDocument/2006/relationships/slideLayout" Target="../slideLayouts/d1_d1_slideLayout1.xml" Id="Raffa6fef298d47f8" /><ns0:Relationship Type="http://schemas.openxmlformats.org/officeDocument/2006/relationships/image" Target="../media/d1_d1_image.png" Id="Re12bcf3783684735" /><ns0:Relationship Type="http://schemas.openxmlformats.org/officeDocument/2006/relationships/hyperlink" Target="https://github.com/seanzhang9999/mya_demo/tree/1c7fddc" TargetMode="External" Id="R724e2b6fd6704ad8" /><ns0:Relationship Type="http://schemas.openxmlformats.org/officeDocument/2006/relationships/notesSlide" Target="../notesSlides/d1_d1_notesSlide1.xml" Id="R55dd636a8a534ee6" /></ns0:Relationships>
</file>

<file path=ppt/slides/_rels/d1_slide26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ecea30282f0247a4" /><ns0:Relationship Type="http://schemas.openxmlformats.org/officeDocument/2006/relationships/notesSlide" Target="../notesSlides/d1_d0_notesSlide16.xml" Id="R97e8bab28b7b49cd" /></ns0:Relationships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1b91f3d94afe436c" /><ns0:Relationship Type="http://schemas.openxmlformats.org/officeDocument/2006/relationships/notesSlide" Target="../notesSlides/d1_d0_notesSlide1.xml" Id="R08fb9c6d249e4b95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64b95a4d0f8c4e72" /><ns0:Relationship Type="http://schemas.openxmlformats.org/officeDocument/2006/relationships/notesSlide" Target="../notesSlides/d0_notesSlide1.xml" Id="Rf6a5a15609974ff9" /><ns0:Relationship Id="rIdNav1" Type="http://schemas.openxmlformats.org/officeDocument/2006/relationships/slide" Target="slide3.xml" /><ns0:Relationship Id="rIdNav2" Type="http://schemas.openxmlformats.org/officeDocument/2006/relationships/slide" Target="slide9.xml" /><ns0:Relationship Id="rIdNav3" Type="http://schemas.openxmlformats.org/officeDocument/2006/relationships/slide" Target="slide19.xml" /><ns0:Relationship Id="rIdNav4" Type="http://schemas.openxmlformats.org/officeDocument/2006/relationships/slide" Target="slide33.xml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d29cfc31c5d74e60" /><ns0:Relationship Type="http://schemas.openxmlformats.org/officeDocument/2006/relationships/notesSlide" Target="../notesSlides/d1_d0_notesSlide2.xml" Id="Rb77d841382314f97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62f1e520edb54014" /><ns0:Relationship Type="http://schemas.openxmlformats.org/officeDocument/2006/relationships/notesSlide" Target="../notesSlides/d1_d0_notesSlide3.xml" Id="Ra0556833f1b848a3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da317dbf05234a3d" /><ns0:Relationship Type="http://schemas.openxmlformats.org/officeDocument/2006/relationships/notesSlide" Target="../notesSlides/d1_d0_notesSlide4.xml" Id="Rf9de0fc77ddf46b2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9dd525d528cd45f0" /><ns0:Relationship Type="http://schemas.openxmlformats.org/officeDocument/2006/relationships/notesSlide" Target="../notesSlides/d1_d0_notesSlide5.xml" Id="Re1f5164c74934843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066b84fee3fa4c0c" /><ns0:Relationship Type="http://schemas.openxmlformats.org/officeDocument/2006/relationships/notesSlide" Target="../notesSlides/d1_d0_notesSlide6.xml" Id="Raf29f05384f34216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60452d13c63b48cd" /><ns0:Relationship Type="http://schemas.openxmlformats.org/officeDocument/2006/relationships/notesSlide" Target="../notesSlides/d1_d0_notesSlide7.xml" Id="R26387440e2804578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67aa4f63f5fa4b41" /><ns0:Relationship Type="http://schemas.openxmlformats.org/officeDocument/2006/relationships/notesSlide" Target="../notesSlides/d0_notesSlide2.xml" Id="R57827bf8ebf04b58" /><ns0:Relationship Id="rIdNav1" Type="http://schemas.openxmlformats.org/officeDocument/2006/relationships/slide" Target="slide10.xml" /><ns0:Relationship Id="rIdNav2" Type="http://schemas.openxmlformats.org/officeDocument/2006/relationships/slide" Target="slide13.xml" /><ns0:Relationship Id="rIdNav3" Type="http://schemas.openxmlformats.org/officeDocument/2006/relationships/slide" Target="slide16.xml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../slideLayouts/d1_d1_slideLayout1.xml" Id="Rf21e8431dcfc4dfb" /><ns0:Relationship Type="http://schemas.openxmlformats.org/officeDocument/2006/relationships/hyperlink" Target="https://github.com/seanzhang9999/mya_demo/tree/1c7fddc" TargetMode="External" Id="Re23330224acd4455" /><ns0:Relationship Type="http://schemas.openxmlformats.org/officeDocument/2006/relationships/notesSlide" Target="../notesSlides/d1_d1_notesSlide2.xml" Id="R0b329434d3db49fc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../slideLayouts/d1_d1_slideLayout1.xml" Id="R0a4176d488534020" /><ns0:Relationship Type="http://schemas.openxmlformats.org/officeDocument/2006/relationships/hyperlink" Target="https://github.com/seanzhang9999/mya_demo/tree/1c7fddc" TargetMode="External" Id="R6511e0337ecd497a" /><ns0:Relationship Type="http://schemas.openxmlformats.org/officeDocument/2006/relationships/notesSlide" Target="../notesSlides/d1_d1_notesSlide3.xml" Id="Rbde9a6b324ed499d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../slideLayouts/d1_d1_slideLayout1.xml" Id="R19da55e47d82415f" /><ns0:Relationship Type="http://schemas.openxmlformats.org/officeDocument/2006/relationships/image" Target="../media/d1_d1_image2.png" Id="Ra603df70cf6040d2" /><ns0:Relationship Type="http://schemas.openxmlformats.org/officeDocument/2006/relationships/image" Target="../media/d1_d1_image3.png" Id="R7d48fe3640bf4532" /><ns0:Relationship Type="http://schemas.openxmlformats.org/officeDocument/2006/relationships/hyperlink" Target="https://github.com/seanzhang9999/mya_demo/tree/1c7fddc" TargetMode="External" Id="Raad30abd95644194" /><ns0:Relationship Type="http://schemas.openxmlformats.org/officeDocument/2006/relationships/notesSlide" Target="../notesSlides/d1_d1_notesSlide4.xml" Id="Raae99f9700ab4a19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../slideLayouts/d1_d1_slideLayout1.xml" Id="Rb518b74eac484c69" /><ns0:Relationship Type="http://schemas.openxmlformats.org/officeDocument/2006/relationships/hyperlink" Target="https://github.com/seanzhang9999/mya_demo/tree/1c7fddc" TargetMode="External" Id="R186ff80aa7d24466" /><ns0:Relationship Type="http://schemas.openxmlformats.org/officeDocument/2006/relationships/notesSlide" Target="../notesSlides/d1_d1_notesSlide5.xml" Id="R804c42ce02124378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../slideLayouts/d1_d1_slideLayout1.xml" Id="Rba251ae91b434825" /><ns0:Relationship Type="http://schemas.openxmlformats.org/officeDocument/2006/relationships/hyperlink" Target="https://github.com/seanzhang9999/mya_demo/tree/1c7fddc" TargetMode="External" Id="Rbf3634bc6d784c40" /><ns0:Relationship Type="http://schemas.openxmlformats.org/officeDocument/2006/relationships/notesSlide" Target="../notesSlides/d1_d1_notesSlide6.xml" Id="R16a0cccb177045e8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../slideLayouts/d1_d1_slideLayout1.xml" Id="R521d5dba7ebc4d4b" /><ns0:Relationship Type="http://schemas.openxmlformats.org/officeDocument/2006/relationships/hyperlink" Target="https://github.com/seanzhang9999/mya_demo/tree/1c7fddc" TargetMode="External" Id="R99fabd5438b74f18" /><ns0:Relationship Type="http://schemas.openxmlformats.org/officeDocument/2006/relationships/notesSlide" Target="../notesSlides/d1_d1_notesSlide7.xml" Id="R4b067029ca3e4e46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../slideLayouts/d1_d1_slideLayout1.xml" Id="R2ef5c129fefa4181" /><ns0:Relationship Type="http://schemas.openxmlformats.org/officeDocument/2006/relationships/hyperlink" Target="https://github.com/seanzhang9999/mya_demo/tree/1c7fddc" TargetMode="External" Id="Rde6ae29809014767" /><ns0:Relationship Type="http://schemas.openxmlformats.org/officeDocument/2006/relationships/notesSlide" Target="../notesSlides/d1_d1_notesSlide8.xml" Id="R275f83cd4a1f436d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../slideLayouts/d1_d1_slideLayout1.xml" Id="R944338b6b7a34574" /><ns0:Relationship Type="http://schemas.openxmlformats.org/officeDocument/2006/relationships/hyperlink" Target="https://github.com/seanzhang9999/mya_demo/tree/1c7fddc" TargetMode="External" Id="Rd28d30a6fd7c47a3" /><ns0:Relationship Type="http://schemas.openxmlformats.org/officeDocument/2006/relationships/notesSlide" Target="../notesSlides/d1_d1_notesSlide9.xml" Id="R464af5c1dcc74501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../slideLayouts/d1_d1_slideLayout1.xml" Id="Rc60dd2d75aeb4ef6" /><ns0:Relationship Type="http://schemas.openxmlformats.org/officeDocument/2006/relationships/hyperlink" Target="https://github.com/seanzhang9999/mya_demo/tree/1c7fddc" TargetMode="External" Id="R3ff26ea71a244e9e" /><ns0:Relationship Type="http://schemas.openxmlformats.org/officeDocument/2006/relationships/notesSlide" Target="../notesSlides/d1_d1_notesSlide10.xml" Id="Ra3fff6aaf9654877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7ee88427ef854c61" /><ns0:Relationship Type="http://schemas.openxmlformats.org/officeDocument/2006/relationships/notesSlide" Target="../notesSlides/d0_notesSlide3.xml" Id="R701b9f78f06147fd" /><ns0:Relationship Id="rIdNav1" Type="http://schemas.openxmlformats.org/officeDocument/2006/relationships/slide" Target="slide20.xml" /><ns0:Relationship Id="rIdNav2" Type="http://schemas.openxmlformats.org/officeDocument/2006/relationships/slide" Target="slide23.xml" /><ns0:Relationship Id="rIdNav3" Type="http://schemas.openxmlformats.org/officeDocument/2006/relationships/slide" Target="slide28.xml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de4d1a9e82f64930" /><ns0:Relationship Type="http://schemas.openxmlformats.org/officeDocument/2006/relationships/hyperlink" Target="https://github.com/seanzhang9999/mya_demo/tree/0240f65" TargetMode="External" Id="Rb20a999a7dda4d7f" /><ns0:Relationship Type="http://schemas.openxmlformats.org/officeDocument/2006/relationships/hyperlink" Target="https://learn.chatgpt.com/docs/hooks" TargetMode="External" Id="R5a95ca2b7e404159" /><ns0:Relationship Type="http://schemas.openxmlformats.org/officeDocument/2006/relationships/notesSlide" Target="../notesSlides/d1_d2_notesSlide35.xml" Id="Rfd9e5e1f265740b1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daa3ae33e2f84abe" /><ns0:Relationship Type="http://schemas.openxmlformats.org/officeDocument/2006/relationships/hyperlink" Target="https://github.com/seanzhang9999/mya_demo/tree/0240f65" TargetMode="External" Id="R392671b7e46a474d" /><ns0:Relationship Type="http://schemas.openxmlformats.org/officeDocument/2006/relationships/notesSlide" Target="../notesSlides/d1_d2_notesSlide36.xml" Id="R305e1a16383949b7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ac874b2bec634fdb" /><ns0:Relationship Type="http://schemas.openxmlformats.org/officeDocument/2006/relationships/hyperlink" Target="https://github.com/seanzhang9999/mya_demo/tree/0240f65" TargetMode="External" Id="R4a6fac3ea9dc4cc7" /><ns0:Relationship Type="http://schemas.openxmlformats.org/officeDocument/2006/relationships/notesSlide" Target="../notesSlides/d1_d2_notesSlide37.xml" Id="R9d24c9e3c00b45d3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a00e8ea5430f4bf2" /><ns0:Relationship Type="http://schemas.openxmlformats.org/officeDocument/2006/relationships/hyperlink" Target="https://github.com/seanzhang9999/mya_demo/tree/0240f65" TargetMode="External" Id="R34d69d7a04b4466e" /><ns0:Relationship Type="http://schemas.openxmlformats.org/officeDocument/2006/relationships/notesSlide" Target="../notesSlides/d1_d2_notesSlide38.xml" Id="Re0f0216bbd044556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d8e93641d98545c8" /><ns0:Relationship Type="http://schemas.openxmlformats.org/officeDocument/2006/relationships/hyperlink" Target="https://github.com/seanzhang9999/mya_demo/tree/0240f65" TargetMode="External" Id="Rbb21787af3104890" /><ns0:Relationship Type="http://schemas.openxmlformats.org/officeDocument/2006/relationships/notesSlide" Target="../notesSlides/d1_d2_notesSlide39.xml" Id="Ra83f4d146e904951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6e1eba20f9f04769" /><ns0:Relationship Type="http://schemas.openxmlformats.org/officeDocument/2006/relationships/hyperlink" Target="https://github.com/seanzhang9999/mya_demo/tree/0240f65" TargetMode="External" Id="R0ef091b7f9374d71" /><ns0:Relationship Type="http://schemas.openxmlformats.org/officeDocument/2006/relationships/notesSlide" Target="../notesSlides/d1_d2_notesSlide40.xml" Id="Rb977d1724c714959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d4e70c97c13b4480" /><ns0:Relationship Type="http://schemas.openxmlformats.org/officeDocument/2006/relationships/hyperlink" Target="https://github.com/seanzhang9999/mya_demo/tree/0240f65" TargetMode="External" Id="Rd2e9cdbc8b0841c3" /><ns0:Relationship Type="http://schemas.openxmlformats.org/officeDocument/2006/relationships/notesSlide" Target="../notesSlides/d1_d2_notesSlide41.xml" Id="Rb60a60e6a1114f97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1e23bcbe5c3c4b82" /><ns0:Relationship Type="http://schemas.openxmlformats.org/officeDocument/2006/relationships/hyperlink" Target="https://github.com/seanzhang9999/mya_demo/tree/0240f65" TargetMode="External" Id="Rf063ec232e6a4f82" /><ns0:Relationship Type="http://schemas.openxmlformats.org/officeDocument/2006/relationships/notesSlide" Target="../notesSlides/d1_d2_notesSlide42.xml" Id="R36fab20677ea4d49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31d746c5dd704f1f" /><ns0:Relationship Type="http://schemas.openxmlformats.org/officeDocument/2006/relationships/hyperlink" Target="https://github.com/seanzhang9999/mya_demo/tree/0240f65" TargetMode="External" Id="R0227e37980e84376" /><ns0:Relationship Type="http://schemas.openxmlformats.org/officeDocument/2006/relationships/notesSlide" Target="../notesSlides/d1_d2_notesSlide43.xml" Id="Rcbee2c367fdd4ecb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caf2aaa15efb40d7" /><ns0:Relationship Type="http://schemas.openxmlformats.org/officeDocument/2006/relationships/hyperlink" Target="https://github.com/seanzhang9999/mya_demo/tree/0240f65" TargetMode="External" Id="Raa17cdb050b84ae2" /><ns0:Relationship Type="http://schemas.openxmlformats.org/officeDocument/2006/relationships/hyperlink" Target="https://learn.chatgpt.com/docs/hooks" TargetMode="External" Id="Ra2acfcdb9641428d" /><ns0:Relationship Type="http://schemas.openxmlformats.org/officeDocument/2006/relationships/notesSlide" Target="../notesSlides/d1_d2_notesSlide44.xml" Id="R0b320c34f8cf4ff4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1f8fa02240f34387" /><ns0:Relationship Type="http://schemas.openxmlformats.org/officeDocument/2006/relationships/hyperlink" Target="https://learn.chatgpt.com/docs/hooks" TargetMode="External" Id="R4171c16dc4544065" /><ns0:Relationship Type="http://schemas.openxmlformats.org/officeDocument/2006/relationships/hyperlink" Target="https://github.com/seanzhang9999/mya_demo/tree/0240f65" TargetMode="External" Id="R2d02ae995d894215" /><ns0:Relationship Type="http://schemas.openxmlformats.org/officeDocument/2006/relationships/notesSlide" Target="../notesSlides/d1_d2_notesSlide45.xml" Id="Rab8d64150a264cad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ca02ba9e1a8c4abf" /><ns0:Relationship Type="http://schemas.openxmlformats.org/officeDocument/2006/relationships/hyperlink" Target="https://learn.chatgpt.com/docs/hooks" TargetMode="External" Id="R667302cc169c4ea1" /><ns0:Relationship Type="http://schemas.openxmlformats.org/officeDocument/2006/relationships/hyperlink" Target="https://github.com/seanzhang9999/mya_demo/tree/0240f65" TargetMode="External" Id="R3639aff946d8497c" /><ns0:Relationship Type="http://schemas.openxmlformats.org/officeDocument/2006/relationships/notesSlide" Target="../notesSlides/d1_d2_notesSlide46.xml" Id="Rd5930f2fa82d4fa2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f7c769f5144b4399" /><ns0:Relationship Type="http://schemas.openxmlformats.org/officeDocument/2006/relationships/hyperlink" Target="https://github.com/seanzhang9999/mya_demo/tree/0240f65" TargetMode="External" Id="R9caa79e548554867" /><ns0:Relationship Type="http://schemas.openxmlformats.org/officeDocument/2006/relationships/hyperlink" Target="https://learn.chatgpt.com/docs/hooks" TargetMode="External" Id="Ra96ed236c9f64eb3" /><ns0:Relationship Type="http://schemas.openxmlformats.org/officeDocument/2006/relationships/notesSlide" Target="../notesSlides/d1_d2_notesSlide47.xml" Id="R7ebd16a45d83459f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e8bf0645b97c4fc9" /><ns0:Relationship Type="http://schemas.openxmlformats.org/officeDocument/2006/relationships/notesSlide" Target="../notesSlides/d0_notesSlide4.xml" Id="Rbe665c3be6c845d2" /><ns0:Relationship Id="rIdNav1" Type="http://schemas.openxmlformats.org/officeDocument/2006/relationships/slide" Target="slide34.xml" /><ns0:Relationship Id="rIdNav2" Type="http://schemas.openxmlformats.org/officeDocument/2006/relationships/slide" Target="slide37.xml" /><ns0:Relationship Id="rIdNav3" Type="http://schemas.openxmlformats.org/officeDocument/2006/relationships/slide" Target="slide39.xml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86215e0b8ef54740" /><ns0:Relationship Type="http://schemas.openxmlformats.org/officeDocument/2006/relationships/notesSlide" Target="../notesSlides/d1_d0_notesSlide9.xml" Id="Rfde76d1b64a04319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9d5d06ddb3084bd4" /><ns0:Relationship Type="http://schemas.openxmlformats.org/officeDocument/2006/relationships/notesSlide" Target="../notesSlides/d1_d0_notesSlide10.xml" Id="Rd8121a335a9b497c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70f1f94214534022" /><ns0:Relationship Type="http://schemas.openxmlformats.org/officeDocument/2006/relationships/notesSlide" Target="../notesSlides/d1_d0_notesSlide11.xml" Id="R53c69df4d5984098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fdf87d36a1b342dd" /><ns0:Relationship Type="http://schemas.openxmlformats.org/officeDocument/2006/relationships/notesSlide" Target="../notesSlides/d1_d0_notesSlide12.xml" Id="R830e278f9baf4c35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231fdb1f427b4a52" /><ns0:Relationship Type="http://schemas.openxmlformats.org/officeDocument/2006/relationships/notesSlide" Target="../notesSlides/d1_d0_notesSlide13.xml" Id="Ra419c112016d4245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e71540115ef54ce1" /><ns0:Relationship Type="http://schemas.openxmlformats.org/officeDocument/2006/relationships/notesSlide" Target="../notesSlides/d1_d0_notesSlide14.xml" Id="Rdf6a3a149bdc41cb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../slideLayouts/d1_d0_slideLayout1.xml" Id="R7123ffbdb75c480b" /><ns0:Relationship Type="http://schemas.openxmlformats.org/officeDocument/2006/relationships/notesSlide" Target="../notesSlides/d1_d0_notesSlide15.xml" Id="Ra8290c07ef854a46" /></ns0:Relationships>
</file>

<file path=ppt/slides/_rels/slide41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5e8f3d2cf1074c81" /><ns0:Relationship Type="http://schemas.openxmlformats.org/officeDocument/2006/relationships/notesSlide" Target="../notesSlides/d0_notesSlide5.xml" Id="Rf95276ac99cf4cc1" /><ns0:Relationship Id="rIdNav1" Type="http://schemas.openxmlformats.org/officeDocument/2006/relationships/slide" Target="slide42.xml" /><ns0:Relationship Id="rIdNav2" Type="http://schemas.openxmlformats.org/officeDocument/2006/relationships/slide" Target="slide48.xml" /><ns0:Relationship Id="rIdNav3" Type="http://schemas.openxmlformats.org/officeDocument/2006/relationships/slide" Target="slide54.xml" /></ns0:Relationships>
</file>

<file path=ppt/slides/_rels/slide42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9721d74e71aa4b20" /><ns0:Relationship Type="http://schemas.openxmlformats.org/officeDocument/2006/relationships/image" Target="../media/d1_d2_image.png" Id="R15cdde7ad57b4550" /><ns0:Relationship Type="http://schemas.openxmlformats.org/officeDocument/2006/relationships/hyperlink" Target="https://github.com/seanzhang9999/mya_demo/tree/9471309c0572711d92c033ce119e12db4fc76755" TargetMode="External" Id="Rffc1cd3251d34013" /><ns0:Relationship Type="http://schemas.openxmlformats.org/officeDocument/2006/relationships/notesSlide" Target="../notesSlides/d1_d2_notesSlide1.xml" Id="Rec7ee86cca0941d4" /></ns0:Relationships>
</file>

<file path=ppt/slides/_rels/slide43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aba7152c454945c8" /><ns0:Relationship Type="http://schemas.openxmlformats.org/officeDocument/2006/relationships/hyperlink" Target="https://github.com/seanzhang9999/mya_demo/tree/9471309c0572711d92c033ce119e12db4fc76755" TargetMode="External" Id="Ra04b9f5a8cea4863" /><ns0:Relationship Type="http://schemas.openxmlformats.org/officeDocument/2006/relationships/notesSlide" Target="../notesSlides/d1_d2_notesSlide2.xml" Id="Ra2ba24f72a8144bb" /></ns0:Relationships>
</file>

<file path=ppt/slides/_rels/slide44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9b41992d4fd044ee" /><ns0:Relationship Type="http://schemas.openxmlformats.org/officeDocument/2006/relationships/image" Target="../media/d1_d2_image2.png" Id="Ra1773d614b84466a" /><ns0:Relationship Type="http://schemas.openxmlformats.org/officeDocument/2006/relationships/hyperlink" Target="https://github.com/seanzhang9999/mya_demo/tree/9471309c0572711d92c033ce119e12db4fc76755" TargetMode="External" Id="Re1285333e2e446f7" /><ns0:Relationship Type="http://schemas.openxmlformats.org/officeDocument/2006/relationships/notesSlide" Target="../notesSlides/d1_d2_notesSlide3.xml" Id="R61a3d3e633bc4f2e" /></ns0:Relationships>
</file>

<file path=ppt/slides/_rels/slide45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481ab1e230b546a7" /><ns0:Relationship Type="http://schemas.openxmlformats.org/officeDocument/2006/relationships/image" Target="../media/d1_d2_image3.png" Id="Rcae747eb56c64559" /><ns0:Relationship Type="http://schemas.openxmlformats.org/officeDocument/2006/relationships/image" Target="../media/d1_d2_image4.png" Id="Rdc9341979f1e48c0" /><ns0:Relationship Type="http://schemas.openxmlformats.org/officeDocument/2006/relationships/hyperlink" Target="https://github.com/seanzhang9999/mya_demo/tree/9471309c0572711d92c033ce119e12db4fc76755" TargetMode="External" Id="R183bdd25f79541f7" /><ns0:Relationship Type="http://schemas.openxmlformats.org/officeDocument/2006/relationships/notesSlide" Target="../notesSlides/d1_d2_notesSlide4.xml" Id="R18184e707c5d46c6" /></ns0:Relationships>
</file>

<file path=ppt/slides/_rels/slide46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37a48eec90244722" /><ns0:Relationship Type="http://schemas.openxmlformats.org/officeDocument/2006/relationships/image" Target="../media/d1_d2_image5.png" Id="R9fa40b9353d1441e" /><ns0:Relationship Type="http://schemas.openxmlformats.org/officeDocument/2006/relationships/hyperlink" Target="https://github.com/seanzhang9999/mya_demo/tree/9471309c0572711d92c033ce119e12db4fc76755" TargetMode="External" Id="R016ca8829e5642c6" /><ns0:Relationship Type="http://schemas.openxmlformats.org/officeDocument/2006/relationships/notesSlide" Target="../notesSlides/d1_d2_notesSlide5.xml" Id="R9bc4126737324f00" /></ns0:Relationships>
</file>

<file path=ppt/slides/_rels/slide47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7398ce8d74374937" /><ns0:Relationship Type="http://schemas.openxmlformats.org/officeDocument/2006/relationships/hyperlink" Target="https://github.com/seanzhang9999/mya_demo/tree/9471309c0572711d92c033ce119e12db4fc76755" TargetMode="External" Id="R5db886427cea49c7" /><ns0:Relationship Type="http://schemas.openxmlformats.org/officeDocument/2006/relationships/notesSlide" Target="../notesSlides/d1_d2_notesSlide6.xml" Id="Redbe33f0ba79497c" /></ns0:Relationships>
</file>

<file path=ppt/slides/_rels/slide48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d02906b214014dff" /><ns0:Relationship Type="http://schemas.openxmlformats.org/officeDocument/2006/relationships/hyperlink" Target="https://github.com/seanzhang9999/mya_demo/tree/9471309c0572711d92c033ce119e12db4fc76755" TargetMode="External" Id="R0ccb7c6f23294c4e" /><ns0:Relationship Type="http://schemas.openxmlformats.org/officeDocument/2006/relationships/notesSlide" Target="../notesSlides/d1_d2_notesSlide7.xml" Id="R3fce1c49413c4bc7" /></ns0:Relationships>
</file>

<file path=ppt/slides/_rels/slide49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db63373708f14ca0" /><ns0:Relationship Type="http://schemas.openxmlformats.org/officeDocument/2006/relationships/hyperlink" Target="https://github.com/seanzhang9999/mya_demo/tree/9471309c0572711d92c033ce119e12db4fc76755" TargetMode="External" Id="Rb5b26793d2b34525" /><ns0:Relationship Type="http://schemas.openxmlformats.org/officeDocument/2006/relationships/notesSlide" Target="../notesSlides/d1_d2_notesSlide8.xml" Id="Rc89813e3e222461c" /></ns0:Relationships>
</file>

<file path=ppt/slides/_rels/slide50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62c11bbef9b343b3" /><ns0:Relationship Type="http://schemas.openxmlformats.org/officeDocument/2006/relationships/image" Target="../media/d1_d2_image6.png" Id="Rfc5598f3edca4eb8" /><ns0:Relationship Type="http://schemas.openxmlformats.org/officeDocument/2006/relationships/hyperlink" Target="https://github.com/seanzhang9999/mya_demo/tree/9471309c0572711d92c033ce119e12db4fc76755" TargetMode="External" Id="Rc6e3ca76cfb241bf" /><ns0:Relationship Type="http://schemas.openxmlformats.org/officeDocument/2006/relationships/notesSlide" Target="../notesSlides/d1_d2_notesSlide9.xml" Id="R4f0952ae5add44dd" /></ns0:Relationships>
</file>

<file path=ppt/slides/_rels/slide51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98f2cdf44c6d42f6" /><ns0:Relationship Type="http://schemas.openxmlformats.org/officeDocument/2006/relationships/image" Target="../media/d1_d2_image7.png" Id="Rafca4503196341de" /><ns0:Relationship Type="http://schemas.openxmlformats.org/officeDocument/2006/relationships/hyperlink" Target="https://github.com/seanzhang9999/mya_demo/tree/9471309c0572711d92c033ce119e12db4fc76755" TargetMode="External" Id="Ree5fc86efba64cac" /><ns0:Relationship Type="http://schemas.openxmlformats.org/officeDocument/2006/relationships/notesSlide" Target="../notesSlides/d1_d2_notesSlide10.xml" Id="R4673a852ca1f4ef3" /></ns0:Relationships>
</file>

<file path=ppt/slides/_rels/slide52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173ddc33682741a2" /><ns0:Relationship Type="http://schemas.openxmlformats.org/officeDocument/2006/relationships/hyperlink" Target="https://github.com/seanzhang9999/mya_demo/tree/9471309c0572711d92c033ce119e12db4fc76755" TargetMode="External" Id="R475ed7e989384727" /><ns0:Relationship Type="http://schemas.openxmlformats.org/officeDocument/2006/relationships/hyperlink" Target="https://pages.nist.gov/800-63-4/sp800-63b/authenticators/" TargetMode="External" Id="Re28c57745d7d4916" /><ns0:Relationship Type="http://schemas.openxmlformats.org/officeDocument/2006/relationships/notesSlide" Target="../notesSlides/d1_d2_notesSlide11.xml" Id="Rde89b5783c5648ac" /></ns0:Relationships>
</file>

<file path=ppt/slides/_rels/slide53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289cef3b9f2f42ac" /><ns0:Relationship Type="http://schemas.openxmlformats.org/officeDocument/2006/relationships/hyperlink" Target="https://github.com/seanzhang9999/mya_demo/tree/9471309c0572711d92c033ce119e12db4fc76755" TargetMode="External" Id="R85ccaf63b3984f53" /><ns0:Relationship Type="http://schemas.openxmlformats.org/officeDocument/2006/relationships/notesSlide" Target="../notesSlides/d1_d2_notesSlide12.xml" Id="Rc2dbe11d32284f16" /></ns0:Relationships>
</file>

<file path=ppt/slides/_rels/slide54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a80ec38bfcd24aca" /><ns0:Relationship Type="http://schemas.openxmlformats.org/officeDocument/2006/relationships/hyperlink" Target="https://nvlpubs.nist.gov/nistpubs/ai/NIST.AI.600-1.pdf" TargetMode="External" Id="R4d87cfa4c0e74fe1" /><ns0:Relationship Type="http://schemas.openxmlformats.org/officeDocument/2006/relationships/notesSlide" Target="../notesSlides/d1_d2_notesSlide13.xml" Id="R98e81f802c924f89" /></ns0:Relationships>
</file>

<file path=ppt/slides/_rels/slide55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90947bdaeeb947dc" /><ns0:Relationship Type="http://schemas.openxmlformats.org/officeDocument/2006/relationships/hyperlink" Target="https://github.com/seanzhang9999/mya_demo/tree/9471309c0572711d92c033ce119e12db4fc76755" TargetMode="External" Id="R4e2c91934c75421a" /><ns0:Relationship Type="http://schemas.openxmlformats.org/officeDocument/2006/relationships/notesSlide" Target="../notesSlides/d1_d2_notesSlide14.xml" Id="R5b4e64da1a8f4874" /></ns0:Relationships>
</file>

<file path=ppt/slides/_rels/slide56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f85558c285b9453b" /><ns0:Relationship Type="http://schemas.openxmlformats.org/officeDocument/2006/relationships/hyperlink" Target="https://github.com/seanzhang9999/mya_demo/tree/9471309c0572711d92c033ce119e12db4fc76755" TargetMode="External" Id="R3c4ad01990bc4361" /><ns0:Relationship Type="http://schemas.openxmlformats.org/officeDocument/2006/relationships/hyperlink" Target="https://www.w3.org/TR/vc-data-model-2.0/" TargetMode="External" Id="Re288bb2a6dd14d52" /><ns0:Relationship Type="http://schemas.openxmlformats.org/officeDocument/2006/relationships/notesSlide" Target="../notesSlides/d1_d2_notesSlide15.xml" Id="R344cb7ee48ab4e78" /></ns0:Relationships>
</file>

<file path=ppt/slides/_rels/slide57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bfda4a4057214b31" /><ns0:Relationship Type="http://schemas.openxmlformats.org/officeDocument/2006/relationships/hyperlink" Target="https://learn.microsoft.com/en-us/power-automate/set-up-sequential-approvals" TargetMode="External" Id="R8ed6095877064724" /><ns0:Relationship Type="http://schemas.openxmlformats.org/officeDocument/2006/relationships/hyperlink" Target="https://github.com/seanzhang9999/mya_demo/tree/9471309c0572711d92c033ce119e12db4fc76755" TargetMode="External" Id="Rf48ce11209dd4b2f" /><ns0:Relationship Type="http://schemas.openxmlformats.org/officeDocument/2006/relationships/notesSlide" Target="../notesSlides/d1_d2_notesSlide16.xml" Id="R1ab90a435ee84d6f" /></ns0:Relationships>
</file>

<file path=ppt/slides/_rels/slide58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58170a8713514b5d" /><ns0:Relationship Type="http://schemas.openxmlformats.org/officeDocument/2006/relationships/notesSlide" Target="../notesSlides/d0_notesSlide6.xml" Id="R4b96977954224a56" /><ns0:Relationship Id="rIdNav1" Type="http://schemas.openxmlformats.org/officeDocument/2006/relationships/slide" Target="slide59.xml" /><ns0:Relationship Id="rIdNav2" Type="http://schemas.openxmlformats.org/officeDocument/2006/relationships/slide" Target="slide64.xml" /><ns0:Relationship Id="rIdNav3" Type="http://schemas.openxmlformats.org/officeDocument/2006/relationships/slide" Target="slide69.xml" /></ns0:Relationships>
</file>

<file path=ppt/slides/_rels/slide59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f40a361d371b4ef1" /><ns0:Relationship Type="http://schemas.openxmlformats.org/officeDocument/2006/relationships/hyperlink" Target="https://github.com/seanzhang9999/mya_demo/tree/9471309c0572711d92c033ce119e12db4fc76755" TargetMode="External" Id="Rfa4faf2dcd2a4adf" /><ns0:Relationship Type="http://schemas.openxmlformats.org/officeDocument/2006/relationships/notesSlide" Target="../notesSlides/d1_d2_notesSlide17.xml" Id="R9016cc3f2cbe4279" /></ns0:Relationships>
</file>

<file path=ppt/slides/_rels/slide60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6f60f66f72be47e7" /><ns0:Relationship Type="http://schemas.openxmlformats.org/officeDocument/2006/relationships/hyperlink" Target="https://github.com/seanzhang9999/mya_demo/tree/9471309c0572711d92c033ce119e12db4fc76755" TargetMode="External" Id="Rbe415f4d09d546a6" /><ns0:Relationship Type="http://schemas.openxmlformats.org/officeDocument/2006/relationships/notesSlide" Target="../notesSlides/d1_d2_notesSlide18.xml" Id="R7e24a68d1e7c4592" /></ns0:Relationships>
</file>

<file path=ppt/slides/_rels/slide61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03207098983348d1" /><ns0:Relationship Type="http://schemas.openxmlformats.org/officeDocument/2006/relationships/hyperlink" Target="https://github.com/seanzhang9999/mya_demo/tree/9471309c0572711d92c033ce119e12db4fc76755" TargetMode="External" Id="R47fd715e201248ce" /><ns0:Relationship Type="http://schemas.openxmlformats.org/officeDocument/2006/relationships/notesSlide" Target="../notesSlides/d1_d2_notesSlide19.xml" Id="Raeb9b972ccff4cb8" /></ns0:Relationships>
</file>

<file path=ppt/slides/_rels/slide62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bab4dd589588447a" /><ns0:Relationship Type="http://schemas.openxmlformats.org/officeDocument/2006/relationships/hyperlink" Target="https://github.com/seanzhang9999/mya_demo/tree/9471309c0572711d92c033ce119e12db4fc76755" TargetMode="External" Id="Rfdd3fd2d6259433a" /><ns0:Relationship Type="http://schemas.openxmlformats.org/officeDocument/2006/relationships/notesSlide" Target="../notesSlides/d1_d2_notesSlide20.xml" Id="R1b1f7b5a8f9f4d42" /></ns0:Relationships>
</file>

<file path=ppt/slides/_rels/slide63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776b696077d84e29" /><ns0:Relationship Type="http://schemas.openxmlformats.org/officeDocument/2006/relationships/hyperlink" Target="https://nvlpubs.nist.gov/nistpubs/ai/NIST.AI.600-1.pdf" TargetMode="External" Id="Rbd9b27d5eec24be0" /><ns0:Relationship Type="http://schemas.openxmlformats.org/officeDocument/2006/relationships/hyperlink" Target="https://pages.nist.gov/800-63-4/sp800-63b/authenticators/" TargetMode="External" Id="R6122812374264ef4" /><ns0:Relationship Type="http://schemas.openxmlformats.org/officeDocument/2006/relationships/notesSlide" Target="../notesSlides/d1_d2_notesSlide21.xml" Id="R9364b02ce91745a0" /></ns0:Relationships>
</file>

<file path=ppt/slides/_rels/slide64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0b47d00933644008" /><ns0:Relationship Type="http://schemas.openxmlformats.org/officeDocument/2006/relationships/hyperlink" Target="https://auth0.com/docs/get-started/authentication-and-authorization-flow/client-initiated-backchannel-authentication-flow" TargetMode="External" Id="R6c76b084ba0e4fab" /><ns0:Relationship Type="http://schemas.openxmlformats.org/officeDocument/2006/relationships/hyperlink" Target="https://docs.onespan.com/mobile/docs/mas-5-pg-scan-and-sign-via-secure-channel-5-5-0" TargetMode="External" Id="Rea5dc4fb6f234c8d" /><ns0:Relationship Type="http://schemas.openxmlformats.org/officeDocument/2006/relationships/hyperlink" Target="https://agentpass.co.uk/authenticator.html" TargetMode="External" Id="R508060dae45c4efe" /><ns0:Relationship Type="http://schemas.openxmlformats.org/officeDocument/2006/relationships/hyperlink" Target="https://docs.langchain.com/oss/javascript/langchain/human-in-the-loop" TargetMode="External" Id="Ra3de241765c747ee" /><ns0:Relationship Type="http://schemas.openxmlformats.org/officeDocument/2006/relationships/notesSlide" Target="../notesSlides/d1_d2_notesSlide22.xml" Id="R46e81bedb27f4ead" /></ns0:Relationships>
</file>

<file path=ppt/slides/_rels/slide65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c2749146d59c4ef0" /><ns0:Relationship Type="http://schemas.openxmlformats.org/officeDocument/2006/relationships/hyperlink" Target="https://docs.langchain.com/oss/javascript/langchain/human-in-the-loop" TargetMode="External" Id="Rabff94549f7e4932" /><ns0:Relationship Type="http://schemas.openxmlformats.org/officeDocument/2006/relationships/hyperlink" Target="https://blog.n8n.io/production-ai-playbook-human-oversight/" TargetMode="External" Id="Rf4d91417bf2f4a69" /><ns0:Relationship Type="http://schemas.openxmlformats.org/officeDocument/2006/relationships/hyperlink" Target="https://learn.microsoft.com/en-us/power-automate/set-up-sequential-approvals" TargetMode="External" Id="R5f2e509324f5404b" /><ns0:Relationship Type="http://schemas.openxmlformats.org/officeDocument/2006/relationships/hyperlink" Target="https://github.com/seanzhang9999/mya_demo/tree/9471309c0572711d92c033ce119e12db4fc76755" TargetMode="External" Id="R10b3f0355e5b4072" /><ns0:Relationship Type="http://schemas.openxmlformats.org/officeDocument/2006/relationships/notesSlide" Target="../notesSlides/d1_d2_notesSlide23.xml" Id="R617ccffb34fd4ea3" /></ns0:Relationships>
</file>

<file path=ppt/slides/_rels/slide66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8f39ed08ce4d4590" /><ns0:Relationship Type="http://schemas.openxmlformats.org/officeDocument/2006/relationships/hyperlink" Target="https://auth0.com/docs/get-started/authentication-and-authorization-flow/client-initiated-backchannel-authentication-flow" TargetMode="External" Id="R4227e819d1e94a23" /><ns0:Relationship Type="http://schemas.openxmlformats.org/officeDocument/2006/relationships/hyperlink" Target="https://github.com/auth0/Guardian.swift" TargetMode="External" Id="R6909bc067ff8427c" /><ns0:Relationship Type="http://schemas.openxmlformats.org/officeDocument/2006/relationships/hyperlink" Target="https://github.com/auth0/Guardian.swift/blob/5e073dce247f46581942b5f1d6e0c045baff9e9d/Guardian/Authentication/Authentication.swift" TargetMode="External" Id="Rc405481659854c6a" /><ns0:Relationship Type="http://schemas.openxmlformats.org/officeDocument/2006/relationships/hyperlink" Target="https://auth0.com/docs/get-started/apis/configure-rich-authorization-requests" TargetMode="External" Id="R8bf57639f7264de8" /><ns0:Relationship Type="http://schemas.openxmlformats.org/officeDocument/2006/relationships/hyperlink" Target="https://openid.net/specs/openid-client-initiated-backchannel-authentication-core-1_0.html" TargetMode="External" Id="R89ee7827b0c14082" /><ns0:Relationship Type="http://schemas.openxmlformats.org/officeDocument/2006/relationships/notesSlide" Target="../notesSlides/d1_d2_notesSlide24.xml" Id="R40e3b434cfc34221" /></ns0:Relationships>
</file>

<file path=ppt/slides/_rels/slide67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07566465c66748bb" /><ns0:Relationship Type="http://schemas.openxmlformats.org/officeDocument/2006/relationships/hyperlink" Target="https://docs.onespan.com/mobile/docs/mas-5-pg-scan-and-sign-via-secure-channel-5-5-0" TargetMode="External" Id="R0d139a4f26e94a09" /><ns0:Relationship Type="http://schemas.openxmlformats.org/officeDocument/2006/relationships/hyperlink" Target="https://fidoalliance.org/passkeys/" TargetMode="External" Id="Re288c6b7c7da44a4" /><ns0:Relationship Type="http://schemas.openxmlformats.org/officeDocument/2006/relationships/hyperlink" Target="https://www.w3.org/TR/2026/CRD-secure-payment-confirmation-20260702/" TargetMode="External" Id="R4baec6dd95f84f87" /><ns0:Relationship Type="http://schemas.openxmlformats.org/officeDocument/2006/relationships/hyperlink" Target="https://cloud.google.com/blog/products/ai-machine-learning/announcing-agents-to-payments-ap2-protocol" TargetMode="External" Id="R9b5ec102aa494789" /><ns0:Relationship Type="http://schemas.openxmlformats.org/officeDocument/2006/relationships/notesSlide" Target="../notesSlides/d1_d2_notesSlide25.xml" Id="R0517953907494ee6" /></ns0:Relationships>
</file>

<file path=ppt/slides/_rels/slide68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e42ddd3be20b46a5" /><ns0:Relationship Type="http://schemas.openxmlformats.org/officeDocument/2006/relationships/hyperlink" Target="https://github.com/rfxlamia/agent-pair-protocol/blob/main/SPEC.md" TargetMode="External" Id="R35c87b3fccb94b59" /><ns0:Relationship Type="http://schemas.openxmlformats.org/officeDocument/2006/relationships/hyperlink" Target="https://agentpass.co.uk/authenticator.html" TargetMode="External" Id="Rc8a1d14ab8804568" /><ns0:Relationship Type="http://schemas.openxmlformats.org/officeDocument/2006/relationships/notesSlide" Target="../notesSlides/d1_d2_notesSlide26.xml" Id="R5cddc2d262734560" /></ns0:Relationships>
</file>

<file path=ppt/slides/_rels/slide69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ab9d2ca4939f490e" /><ns0:Relationship Type="http://schemas.openxmlformats.org/officeDocument/2006/relationships/hyperlink" Target="https://github.com/seanzhang9999/mya_demo/tree/9471309c0572711d92c033ce119e12db4fc76755" TargetMode="External" Id="Ra8da7c0513a04ca6" /><ns0:Relationship Type="http://schemas.openxmlformats.org/officeDocument/2006/relationships/hyperlink" Target="https://auth0.com/docs/get-started/authentication-and-authorization-flow/client-initiated-backchannel-authentication-flow" TargetMode="External" Id="Ref546c860f5b4c44" /><ns0:Relationship Type="http://schemas.openxmlformats.org/officeDocument/2006/relationships/hyperlink" Target="https://github.com/rfxlamia/agent-pair-protocol/blob/main/SPEC.md" TargetMode="External" Id="R8125396de121466b" /><ns0:Relationship Type="http://schemas.openxmlformats.org/officeDocument/2006/relationships/hyperlink" Target="https://agentpass.co.uk/authenticator.html" TargetMode="External" Id="R5ef61a7cf5884175" /><ns0:Relationship Type="http://schemas.openxmlformats.org/officeDocument/2006/relationships/notesSlide" Target="../notesSlides/d1_d2_notesSlide27.xml" Id="R9184a3a89e164b97" /></ns0:Relationships>
</file>

<file path=ppt/slides/_rels/slide70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74d03b9f3d484251" /><ns0:Relationship Type="http://schemas.openxmlformats.org/officeDocument/2006/relationships/hyperlink" Target="https://github.com/seanzhang9999/mya_demo/tree/9471309c0572711d92c033ce119e12db4fc76755" TargetMode="External" Id="Re96cf37c5e624395" /><ns0:Relationship Type="http://schemas.openxmlformats.org/officeDocument/2006/relationships/notesSlide" Target="../notesSlides/d1_d2_notesSlide28.xml" Id="Re14e682f39d3408b" /></ns0:Relationships>
</file>

<file path=ppt/slides/_rels/slide71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44a20f0ca0c14f9f" /><ns0:Relationship Type="http://schemas.openxmlformats.org/officeDocument/2006/relationships/hyperlink" Target="https://github.com/seanzhang9999/mya_demo/tree/9471309c0572711d92c033ce119e12db4fc76755" TargetMode="External" Id="R15befb3b67ca48d5" /><ns0:Relationship Type="http://schemas.openxmlformats.org/officeDocument/2006/relationships/hyperlink" Target="https://docs.langchain.com/oss/javascript/langchain/human-in-the-loop" TargetMode="External" Id="R3ba17cd3406f4eab" /><ns0:Relationship Type="http://schemas.openxmlformats.org/officeDocument/2006/relationships/notesSlide" Target="../notesSlides/d1_d2_notesSlide29.xml" Id="Rdc36d576d3134667" /></ns0:Relationships>
</file>

<file path=ppt/slides/_rels/slide72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e60b9ac6e1b548d2" /><ns0:Relationship Type="http://schemas.openxmlformats.org/officeDocument/2006/relationships/hyperlink" Target="https://github.com/seanzhang9999/mya_demo/tree/9471309c0572711d92c033ce119e12db4fc76755" TargetMode="External" Id="Re2c8f0a387d64793" /><ns0:Relationship Type="http://schemas.openxmlformats.org/officeDocument/2006/relationships/notesSlide" Target="../notesSlides/d1_d2_notesSlide30.xml" Id="Rf5a2f9e1c78d4543" /></ns0:Relationships>
</file>

<file path=ppt/slides/_rels/slide73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5820bf5a459249ba" /><ns0:Relationship Type="http://schemas.openxmlformats.org/officeDocument/2006/relationships/hyperlink" Target="https://github.com/seanzhang9999/mya_demo/tree/9471309c0572711d92c033ce119e12db4fc76755" TargetMode="External" Id="Rbb3036198ef740b5" /><ns0:Relationship Type="http://schemas.openxmlformats.org/officeDocument/2006/relationships/hyperlink" Target="https://agentpass.co.uk/authenticator.html" TargetMode="External" Id="Rb23a64b4825c478a" /><ns0:Relationship Type="http://schemas.openxmlformats.org/officeDocument/2006/relationships/notesSlide" Target="../notesSlides/d1_d2_notesSlide31.xml" Id="R660ce5d71c8f4b16" /></ns0:Relationships>
</file>

<file path=ppt/slides/_rels/slide74.xml.rels><?xml version='1.0' encoding='utf-8'?>
<ns0:Relationships xmlns:ns0="http://schemas.openxmlformats.org/package/2006/relationships"><ns0:Relationship Type="http://schemas.openxmlformats.org/officeDocument/2006/relationships/slideLayout" Target="../slideLayouts/d0_slideLayout1.xml" Id="R91e76aa1d77e4621" /><ns0:Relationship Type="http://schemas.openxmlformats.org/officeDocument/2006/relationships/notesSlide" Target="../notesSlides/d0_notesSlide7.xml" Id="R93f633a11499490c" /><ns0:Relationship Id="rIdNav1" Type="http://schemas.openxmlformats.org/officeDocument/2006/relationships/slide" Target="slide75.xml" /><ns0:Relationship Id="rIdNav2" Type="http://schemas.openxmlformats.org/officeDocument/2006/relationships/slide" Target="slide76.xml" /><ns0:Relationship Id="rIdNav3" Type="http://schemas.openxmlformats.org/officeDocument/2006/relationships/slide" Target="slide77.xml" /></ns0:Relationships>
</file>

<file path=ppt/slides/_rels/slide75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5cd564125848448b" /><ns0:Relationship Type="http://schemas.openxmlformats.org/officeDocument/2006/relationships/hyperlink" Target="https://github.com/seanzhang9999/mya_demo/tree/9471309c0572711d92c033ce119e12db4fc76755" TargetMode="External" Id="R27c9892e57594c00" /><ns0:Relationship Type="http://schemas.openxmlformats.org/officeDocument/2006/relationships/hyperlink" Target="https://docs.langchain.com/oss/javascript/langchain/human-in-the-loop" TargetMode="External" Id="R14e3d26afa674a3b" /><ns0:Relationship Type="http://schemas.openxmlformats.org/officeDocument/2006/relationships/hyperlink" Target="https://blog.n8n.io/production-ai-playbook-human-oversight/" TargetMode="External" Id="Rcdf9566b88a04dbc" /><ns0:Relationship Type="http://schemas.openxmlformats.org/officeDocument/2006/relationships/hyperlink" Target="https://auth0.com/docs/get-started/apis/configure-rich-authorization-requests" TargetMode="External" Id="R4b25cc454d564dac" /><ns0:Relationship Type="http://schemas.openxmlformats.org/officeDocument/2006/relationships/hyperlink" Target="https://learn.microsoft.com/en-us/power-automate/set-up-sequential-approvals" TargetMode="External" Id="Rfbf41c792974402b" /><ns0:Relationship Type="http://schemas.openxmlformats.org/officeDocument/2006/relationships/hyperlink" Target="https://www.w3.org/TR/vc-data-model-2.0/" TargetMode="External" Id="R224b4c75d16146bc" /><ns0:Relationship Type="http://schemas.openxmlformats.org/officeDocument/2006/relationships/hyperlink" Target="https://pages.nist.gov/800-63-4/sp800-63b/authenticators/" TargetMode="External" Id="R01eaba032cff420a" /><ns0:Relationship Type="http://schemas.openxmlformats.org/officeDocument/2006/relationships/notesSlide" Target="../notesSlides/d1_d2_notesSlide32.xml" Id="R5cb939c0a65c4779" /></ns0:Relationships>
</file>

<file path=ppt/slides/_rels/slide76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e59ebb0faff44ce4" /><ns0:Relationship Type="http://schemas.openxmlformats.org/officeDocument/2006/relationships/hyperlink" Target="https://cloud.google.com/blog/products/ai-machine-learning/announcing-agents-to-payments-ap2-protocol" TargetMode="External" Id="R708f9c8a03fe4e64" /><ns0:Relationship Type="http://schemas.openxmlformats.org/officeDocument/2006/relationships/hyperlink" Target="https://nvlpubs.nist.gov/nistpubs/ai/NIST.AI.600-1.pdf" TargetMode="External" Id="Rc489c739bebf4b04" /><ns0:Relationship Type="http://schemas.openxmlformats.org/officeDocument/2006/relationships/hyperlink" Target="https://auth0.com/docs/get-started/authentication-and-authorization-flow/client-initiated-backchannel-authentication-flow" TargetMode="External" Id="R45fa3c2a70c44da7" /><ns0:Relationship Type="http://schemas.openxmlformats.org/officeDocument/2006/relationships/hyperlink" Target="https://openid.net/specs/openid-client-initiated-backchannel-authentication-core-1_0.html" TargetMode="External" Id="Rb1e74e7201ca4216" /><ns0:Relationship Type="http://schemas.openxmlformats.org/officeDocument/2006/relationships/hyperlink" Target="https://github.com/auth0/Guardian.swift" TargetMode="External" Id="R39351d3f75214ce6" /><ns0:Relationship Type="http://schemas.openxmlformats.org/officeDocument/2006/relationships/hyperlink" Target="https://github.com/auth0/Guardian.swift/blob/5e073dce247f46581942b5f1d6e0c045baff9e9d/Guardian/Authentication/Authentication.swift" TargetMode="External" Id="R906d23d9045045cc" /><ns0:Relationship Type="http://schemas.openxmlformats.org/officeDocument/2006/relationships/hyperlink" Target="https://docs.onespan.com/mobile/docs/mas-5-pg-scan-and-sign-via-secure-channel-5-5-0" TargetMode="External" Id="R9fc82b27697c4928" /><ns0:Relationship Type="http://schemas.openxmlformats.org/officeDocument/2006/relationships/notesSlide" Target="../notesSlides/d1_d2_notesSlide33.xml" Id="Re1402edf3674407d" /></ns0:Relationships>
</file>

<file path=ppt/slides/_rels/slide77.xml.rels><?xml version='1.0' encoding='utf-8'?>
<ns0:Relationships xmlns:ns0="http://schemas.openxmlformats.org/package/2006/relationships"><ns0:Relationship Type="http://schemas.openxmlformats.org/officeDocument/2006/relationships/slideLayout" Target="../slideLayouts/d1_d2_slideLayout1.xml" Id="R314d5ae1546742ad" /><ns0:Relationship Type="http://schemas.openxmlformats.org/officeDocument/2006/relationships/hyperlink" Target="https://fidoalliance.org/passkeys/" TargetMode="External" Id="Red201a0eae784bcd" /><ns0:Relationship Type="http://schemas.openxmlformats.org/officeDocument/2006/relationships/hyperlink" Target="https://www.w3.org/TR/2026/CRD-secure-payment-confirmation-20260702/" TargetMode="External" Id="R48c7ad25488f43d8" /><ns0:Relationship Type="http://schemas.openxmlformats.org/officeDocument/2006/relationships/hyperlink" Target="https://github.com/rfxlamia/agent-pair-protocol/blob/main/SPEC.md" TargetMode="External" Id="R73ca68ca284c4af7" /><ns0:Relationship Type="http://schemas.openxmlformats.org/officeDocument/2006/relationships/hyperlink" Target="https://agentpass.co.uk/authenticator.html" TargetMode="External" Id="Refd2dd6234a3487a" /><ns0:Relationship Type="http://schemas.openxmlformats.org/officeDocument/2006/relationships/notesSlide" Target="../notesSlides/d1_d2_notesSlide34.xml" Id="R649386729a194376" /></ns0:Relationships>
</file>

<file path=ppt/slides/d1_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3B8D2BD0-A7D0-436B-B7AA-02F749CFBC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先理解架构，再看证据与完整演示</a:t>
            </a:r>
          </a:p>
        </p:txBody>
      </p:sp>
      <p:sp>
        <p:nvSpPr>
          <p:cNvPr id="2" name="">
            <a:extLst>
              <a:ext uri="{FF2B5EF4-FFF2-40B4-BE49-F238E27FC236}">
                <ns2:creationId id="{DFE8881F-F7AA-4882-B690-B3BF68950AB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阅读路径</a:t>
            </a:r>
          </a:p>
        </p:txBody>
      </p:sp>
      <p:sp>
        <p:nvSpPr>
          <p:cNvPr id="3" name="">
            <a:extLst>
              <a:ext uri="{FF2B5EF4-FFF2-40B4-BE49-F238E27FC236}">
                <ns2:creationId id="{87CBCEBC-93D4-4A16-BEDB-B9EAC93404A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>
              <a:ext uri="{FF2B5EF4-FFF2-40B4-BE49-F238E27FC236}">
                <ns2:creationId id="{78481A9B-6DD4-46ED-9040-FED0BAFF723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09—18</a:t>
            </a:r>
          </a:p>
        </p:txBody>
      </p:sp>
      <p:sp>
        <p:nvSpPr>
          <p:cNvPr id="5" name="">
            <a:extLst>
              <a:ext uri="{FF2B5EF4-FFF2-40B4-BE49-F238E27FC236}">
                <ns2:creationId id="{077DCAFB-336E-4F2B-A5D2-2268B48AE7D0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架构先导：关系绑定、双端确认、钱包出示、业务边界与 Hook。</a:t>
            </a:r>
          </a:p>
        </p:txBody>
      </p:sp>
      <p:sp>
        <p:nvSpPr>
          <p:cNvPr id="6" name="">
            <a:extLst>
              <a:ext uri="{FF2B5EF4-FFF2-40B4-BE49-F238E27FC236}">
                <ns2:creationId id="{28EC5F97-F758-4445-92B8-F4BC9688CC0F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19—25</a:t>
            </a:r>
          </a:p>
        </p:txBody>
      </p:sp>
      <p:sp>
        <p:nvSpPr>
          <p:cNvPr id="7" name="">
            <a:extLst>
              <a:ext uri="{FF2B5EF4-FFF2-40B4-BE49-F238E27FC236}">
                <ns2:creationId id="{D68D5669-A0E4-4EF1-9BB3-FFE335168526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同类产品：AgentPass 与 AgentBee、公司背景与比较结论。</a:t>
            </a:r>
          </a:p>
        </p:txBody>
      </p:sp>
      <p:sp>
        <p:nvSpPr>
          <p:cNvPr id="8" name="">
            <a:extLst>
              <a:ext uri="{FF2B5EF4-FFF2-40B4-BE49-F238E27FC236}">
                <ns2:creationId id="{2D5166F1-3208-4726-A6D7-D472210C6B7B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26—73</a:t>
            </a:r>
          </a:p>
        </p:txBody>
      </p:sp>
      <p:sp>
        <p:nvSpPr>
          <p:cNvPr id="9" name="">
            <a:extLst>
              <a:ext uri="{FF2B5EF4-FFF2-40B4-BE49-F238E27FC236}">
                <ns2:creationId id="{D2B281E0-9AE3-438C-98D6-6B0C9D7BF64F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历史完整版：47 页原有材料完整保留，并附一页阅读说明。</a:t>
            </a:r>
          </a:p>
        </p:txBody>
      </p:sp>
      <p:sp>
        <p:nvSpPr>
          <p:cNvPr id="10" name="">
            <a:extLst>
              <a:ext uri="{FF2B5EF4-FFF2-40B4-BE49-F238E27FC236}">
                <ns2:creationId id="{FF53045A-8892-4925-B2E1-94AEBAAA43C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正文标明现状与规划；历史附录中的判断，以新版架构与本次研究结论为准。</a:t>
            </a:r>
          </a:p>
        </p:txBody>
      </p:sp>
    </p:spTree>
    <p:extLst>
      <p:ext uri="{BB962C8B-B14F-4D97-AF65-F5344CB8AC3E}">
        <ns3:creationId val="1875017137"/>
      </p:ext>
    </p:extLst>
  </p:cSld>
</p:sld>
</file>

<file path=ppt/slides/d1_slide9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/>
          <p:cNvPicPr>
            <a:picLocks noChangeAspect="1"/>
          </p:cNvPicPr>
          <p:nvPr/>
        </p:nvPicPr>
        <p:blipFill>
          <a:blip r:embed="Re12bcf3783684735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A97C7044-7B81-424C-8E56-48027497489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5619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</a:t>
            </a:r>
          </a:p>
        </p:txBody>
      </p:sp>
      <p:sp>
        <p:nvSpPr>
          <p:cNvPr id="3" name="">
            <a:extLst>
              <a:ext uri="{FF2B5EF4-FFF2-40B4-BE49-F238E27FC236}">
                <ns3:creationId id="{3C771A3F-A62D-46D4-B877-D9AE69C7AF78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647700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</a:t>
            </a:r>
          </a:p>
          <a:p>
            <a:pPr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for Any Agent</a:t>
            </a:r>
          </a:p>
        </p:txBody>
      </p:sp>
      <p:sp>
        <p:nvSpPr>
          <p:cNvPr id="4" name="">
            <a:extLst>
              <a:ext uri="{FF2B5EF4-FFF2-40B4-BE49-F238E27FC236}">
                <ns3:creationId id="{ECCECFD5-065D-4D07-97C2-73AD85449FD8}"/>
              </a:ext>
            </a:extLst>
          </p:cNvPr>
          <p:cNvSpPr>
            <a:spLocks noGrp="1"/>
          </p:cNvSpPr>
          <p:nvPr/>
        </p:nvSpPr>
        <p:spPr>
          <a:xfrm>
            <a:off x="647700" y="3857625"/>
            <a:ext cx="66675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用户与 Agent 的密码学绑定</a:t>
            </a:r>
          </a:p>
        </p:txBody>
      </p:sp>
      <p:sp>
        <p:nvSpPr>
          <p:cNvPr id="5" name="">
            <a:extLst>
              <a:ext uri="{FF2B5EF4-FFF2-40B4-BE49-F238E27FC236}">
                <ns3:creationId id="{7370D46C-675C-4434-88BE-B3A93D20D6E0}"/>
              </a:ext>
            </a:extLst>
          </p:cNvPr>
          <p:cNvSpPr>
            <a:spLocks noGrp="1"/>
          </p:cNvSpPr>
          <p:nvPr/>
        </p:nvSpPr>
        <p:spPr>
          <a:xfrm>
            <a:off x="647700" y="5676900"/>
            <a:ext cx="647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系统架构与完整演示</a:t>
            </a:r>
          </a:p>
        </p:txBody>
      </p:sp>
      <p:sp>
        <p:nvSpPr>
          <p:cNvPr id="6" name="">
            <a:extLst>
              <a:ext uri="{FF2B5EF4-FFF2-40B4-BE49-F238E27FC236}">
                <ns3:creationId id="{FDB59F6A-8B50-4830-8619-B87345F546E8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724e2b6fd6704ad8"/>
              </a:rPr>
              <a:t>MYA 实现与实测</a:t>
            </a:r>
          </a:p>
        </p:txBody>
      </p:sp>
    </p:spTree>
    <p:extLst>
      <p:ext uri="{BB962C8B-B14F-4D97-AF65-F5344CB8AC3E}">
        <ns4:creationId val="594435554"/>
      </p:ext>
    </p:extLst>
  </p:cSld>
</p:sld>
</file>

<file path=ppt/slides/d1_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2266B883-E28F-4F07-A8B9-976C0B8A9A5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附录：此前完整版，47 页完整保留</a:t>
            </a:r>
          </a:p>
        </p:txBody>
      </p:sp>
      <p:sp>
        <p:nvSpPr>
          <p:cNvPr id="2" name="">
            <a:extLst>
              <a:ext uri="{FF2B5EF4-FFF2-40B4-BE49-F238E27FC236}">
                <ns2:creationId id="{856D12CF-0166-436B-A4FD-5D5EE8C487B8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以下是演示、研究、部署和验收的历史资料</a:t>
            </a:r>
          </a:p>
        </p:txBody>
      </p:sp>
      <p:sp>
        <p:nvSpPr>
          <p:cNvPr id="3" name="">
            <a:extLst>
              <a:ext uri="{FF2B5EF4-FFF2-40B4-BE49-F238E27FC236}">
                <ns2:creationId id="{C6D49425-FE8A-40E5-8B4E-36C9601313C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4" name="">
            <a:extLst>
              <a:ext uri="{FF2B5EF4-FFF2-40B4-BE49-F238E27FC236}">
                <ns2:creationId id="{B9D45985-F4AF-4065-B5CF-C206CF97D2CC}"/>
              </a:ext>
            </a:extLst>
          </p:cNvPr>
          <p:cNvSpPr>
            <a:spLocks noGrp="1"/>
          </p:cNvSpPr>
          <p:nvPr/>
        </p:nvSpPr>
        <p:spPr>
          <a:xfrm>
            <a:off x="638175" y="2162175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阅读优先级</a:t>
            </a:r>
          </a:p>
        </p:txBody>
      </p:sp>
      <p:sp>
        <p:nvSpPr>
          <p:cNvPr id="5" name="">
            <a:extLst>
              <a:ext uri="{FF2B5EF4-FFF2-40B4-BE49-F238E27FC236}">
                <ns2:creationId id="{D047CF90-7566-42FD-B33E-B54DC448045C}"/>
              </a:ext>
            </a:extLst>
          </p:cNvPr>
          <p:cNvSpPr>
            <a:spLocks noGrp="1"/>
          </p:cNvSpPr>
          <p:nvPr/>
        </p:nvSpPr>
        <p:spPr>
          <a:xfrm>
            <a:off x="638175" y="2971800"/>
            <a:ext cx="10572750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产品逻辑采用本版开场。</a:t>
            </a:r>
          </a:p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信任边界采用前面的 v5 架构先导。</a:t>
            </a:r>
          </a:p>
          <a:p>
            <a:pPr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同类产品判断采用本次 AgentPass / AgentBee 研究。</a:t>
            </a:r>
          </a:p>
        </p:txBody>
      </p:sp>
      <p:sp>
        <p:nvSpPr>
          <p:cNvPr id="6" name="">
            <a:extLst>
              <a:ext uri="{FF2B5EF4-FFF2-40B4-BE49-F238E27FC236}">
                <ns2:creationId id="{363DB30E-FE07-4E61-B13A-429E41BC511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原页内容与备注保留；页脚统一编号。历史状态不代表本轮重新执行了部署或审批测试。</a:t>
            </a:r>
          </a:p>
        </p:txBody>
      </p:sp>
    </p:spTree>
    <p:extLst>
      <p:ext uri="{BB962C8B-B14F-4D97-AF65-F5344CB8AC3E}">
        <ns3:creationId val="1873127245"/>
      </p:ext>
    </p:extLst>
  </p:cSld>
</p:sld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83D3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B133B806-F8AE-43E4-A389-951562A6AAE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rPr>
              <a:t>MYA · AI Authenticator for Any Agent</a:t>
            </a:r>
          </a:p>
        </p:txBody>
      </p:sp>
      <p:sp>
        <p:nvSpPr>
          <p:cNvPr id="2" name="">
            <a:extLst>
              <a:ext uri="{FF2B5EF4-FFF2-40B4-BE49-F238E27FC236}">
                <ns2:creationId id="{C1DB5C00-E97D-4AD1-B54D-F56DDC2AD3B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让授权跟着任务走</a:t>
            </a:r>
          </a:p>
        </p:txBody>
      </p:sp>
      <p:sp>
        <p:nvSpPr>
          <p:cNvPr id="3" name="">
            <a:extLst>
              <a:ext uri="{FF2B5EF4-FFF2-40B4-BE49-F238E27FC236}">
                <ns2:creationId id="{D6C4DF45-567C-42CC-881B-9FBB0A89D6D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>
              <a:ext uri="{FF2B5EF4-FFF2-40B4-BE49-F238E27FC236}">
                <ns2:creationId id="{5576C47F-D172-4AA5-9C01-A736451833E1}"/>
              </a:ext>
            </a:extLst>
          </p:cNvPr>
          <p:cNvSpPr>
            <a:spLocks noGrp="1"/>
          </p:cNvSpPr>
          <p:nvPr/>
        </p:nvSpPr>
        <p:spPr>
          <a:xfrm>
            <a:off x="628650" y="2143125"/>
            <a:ext cx="106680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rPr>
              <a:t>用户表达意图</a:t>
            </a:r>
          </a:p>
          <a:p>
            <a:pPr>
              <a:def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F4F3ED"/>
                </a:solidFill>
                <a:latin typeface="Hiragino Sans GB"/>
                <a:ea typeface="Hiragino Sans GB"/>
                <a:cs typeface="Hiragino Sans GB"/>
              </a:rPr>
              <a:t>Agent 持续处理授权流程</a:t>
            </a:r>
          </a:p>
        </p:txBody>
      </p:sp>
      <p:sp>
        <p:nvSpPr>
          <p:cNvPr id="5" name="">
            <a:extLst>
              <a:ext uri="{FF2B5EF4-FFF2-40B4-BE49-F238E27FC236}">
                <ns2:creationId id="{DF88180F-531E-499C-815C-A9C897367FE4}"/>
              </a:ext>
            </a:extLst>
          </p:cNvPr>
          <p:cNvSpPr>
            <a:spLocks noGrp="1"/>
          </p:cNvSpPr>
          <p:nvPr/>
        </p:nvSpPr>
        <p:spPr>
          <a:xfrm>
            <a:off x="647700" y="4352925"/>
            <a:ext cx="10382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远程可信审批，以密码学绑定用户与 Agent 的关系及审批通道</a:t>
            </a:r>
          </a:p>
        </p:txBody>
      </p:sp>
      <p:sp>
        <p:nvSpPr>
          <p:cNvPr id="6" name="">
            <a:extLst>
              <a:ext uri="{FF2B5EF4-FFF2-40B4-BE49-F238E27FC236}">
                <ns2:creationId id="{4EF0616D-3682-426F-B407-8A75A69D5547}"/>
              </a:ext>
            </a:extLst>
          </p:cNvPr>
          <p:cNvSpPr>
            <a:spLocks noGrp="1"/>
          </p:cNvSpPr>
          <p:nvPr/>
        </p:nvSpPr>
        <p:spPr>
          <a:xfrm>
            <a:off x="647700" y="5695950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CBDBD2"/>
                </a:solidFill>
                <a:latin typeface="Hiragino Sans GB"/>
                <a:ea typeface="Hiragino Sans GB"/>
                <a:cs typeface="Hiragino Sans GB"/>
              </a:rPr>
              <a:t>产品逻辑 · 系统架构 · 完整演示 · 同类产品研究</a:t>
            </a:r>
          </a:p>
        </p:txBody>
      </p:sp>
    </p:spTree>
    <p:extLst>
      <p:ext uri="{BB962C8B-B14F-4D97-AF65-F5344CB8AC3E}">
        <ns3:creationId val="703805357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">
            <a:extLst>
              <a:ext uri="{FF2B5EF4-FFF2-40B4-BE49-F238E27FC236}">
                <ns2:creationId id="{252B0B37-35BF-4DA9-BBD0-94E460548DC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目录：从授权体验到执行证据</a:t>
            </a:r>
          </a:p>
        </p:txBody>
      </p:sp>
      <p:sp>
        <p:nvSpPr>
          <p:cNvPr id="2" name="">
            <a:extLst>
              <a:ext uri="{FF2B5EF4-FFF2-40B4-BE49-F238E27FC236}">
                <ns2:creationId id="{060728C2-CC8F-48DD-82BA-9E28C60B76EE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主讲正文 01—40；补充材料 41—77</a:t>
            </a:r>
          </a:p>
        </p:txBody>
      </p:sp>
      <p:sp>
        <p:nvSpPr>
          <p:cNvPr id="3" name="">
            <a:extLst>
              <a:ext uri="{FF2B5EF4-FFF2-40B4-BE49-F238E27FC236}">
                <ns2:creationId id="{C689223D-B506-4508-BD5A-EC75D49B4568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>
              <a:ext uri="{FF2B5EF4-FFF2-40B4-BE49-F238E27FC236}">
                <ns2:creationId id="{64CEC5E7-7E8A-428A-8B59-89E939743863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03—08</a:t>
            </a:r>
          </a:p>
        </p:txBody>
      </p:sp>
      <p:sp>
        <p:nvSpPr>
          <p:cNvPr id="5" name="">
            <a:extLst>
              <a:ext uri="{FF2B5EF4-FFF2-40B4-BE49-F238E27FC236}">
                <ns2:creationId id="{ED51306C-9470-405C-A819-025D51D04C82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为什么需要 MYA</a:t>
            </a:r>
          </a:p>
        </p:txBody>
      </p:sp>
      <p:sp>
        <p:nvSpPr>
          <p:cNvPr id="6" name="">
            <a:extLst>
              <a:ext uri="{FF2B5EF4-FFF2-40B4-BE49-F238E27FC236}">
                <ns2:creationId id="{BE76E21F-95F4-4419-9187-F9DABED8DB17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反复跳转、意图表达与任务授权</a:t>
            </a:r>
          </a:p>
        </p:txBody>
      </p:sp>
      <p:sp>
        <p:nvSpPr>
          <p:cNvPr id="7" name="">
            <a:extLst>
              <a:ext uri="{FF2B5EF4-FFF2-40B4-BE49-F238E27FC236}">
                <ns2:creationId id="{9C6EE07C-520E-4589-B1E5-FAE5D6923E19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09—18</a:t>
            </a:r>
          </a:p>
        </p:txBody>
      </p:sp>
      <p:sp>
        <p:nvSpPr>
          <p:cNvPr id="8" name="">
            <a:extLst>
              <a:ext uri="{FF2B5EF4-FFF2-40B4-BE49-F238E27FC236}">
                <ns2:creationId id="{55B419C7-D25A-4E9E-A45E-FEF25B14757A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系统如何工作</a:t>
            </a:r>
          </a:p>
        </p:txBody>
      </p:sp>
      <p:sp>
        <p:nvSpPr>
          <p:cNvPr id="9" name="">
            <a:extLst>
              <a:ext uri="{FF2B5EF4-FFF2-40B4-BE49-F238E27FC236}">
                <ns2:creationId id="{3F1AA9C3-D5F9-45A2-8F9E-9240088926D0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绑定、钱包、业务边界与 Skill / Hook</a:t>
            </a:r>
          </a:p>
        </p:txBody>
      </p:sp>
      <p:sp>
        <p:nvSpPr>
          <p:cNvPr id="10" name="">
            <a:extLst>
              <a:ext uri="{FF2B5EF4-FFF2-40B4-BE49-F238E27FC236}">
                <ns2:creationId id="{3B80C6F3-555B-43C7-ABF5-FA6488E92517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19—32</a:t>
            </a:r>
          </a:p>
        </p:txBody>
      </p:sp>
      <p:sp>
        <p:nvSpPr>
          <p:cNvPr id="11" name="">
            <a:extLst>
              <a:ext uri="{FF2B5EF4-FFF2-40B4-BE49-F238E27FC236}">
                <ns2:creationId id="{D5B42564-7C01-463F-92A6-4FBADB79C680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如何演示与验收</a:t>
            </a:r>
          </a:p>
        </p:txBody>
      </p:sp>
      <p:sp>
        <p:nvSpPr>
          <p:cNvPr id="12" name="">
            <a:extLst>
              <a:ext uri="{FF2B5EF4-FFF2-40B4-BE49-F238E27FC236}">
                <ns2:creationId id="{FF3907FC-6933-4432-81A8-4B892A00ADD4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真实手机决定、挑战出示、回执与 Hook 状态</a:t>
            </a:r>
          </a:p>
        </p:txBody>
      </p:sp>
      <p:sp>
        <p:nvSpPr>
          <p:cNvPr id="13" name="">
            <a:extLst>
              <a:ext uri="{FF2B5EF4-FFF2-40B4-BE49-F238E27FC236}">
                <ns2:creationId id="{BDB1BB4B-4377-4479-B5A9-4E09DAB99106}"/>
              </a:ext>
            </a:extLst>
          </p:cNvPr>
          <p:cNvSpPr>
            <a:spLocks noGrp="1"/>
          </p:cNvSpPr>
          <p:nvPr/>
        </p:nvSpPr>
        <p:spPr>
          <a:xfrm>
            <a:off x="638175" y="44196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4" action="ppaction://hlinksldjump"/>
              </a:rPr>
              <a:t>33—40</a:t>
            </a:r>
          </a:p>
        </p:txBody>
      </p:sp>
      <p:sp>
        <p:nvSpPr>
          <p:cNvPr id="14" name="">
            <a:extLst>
              <a:ext uri="{FF2B5EF4-FFF2-40B4-BE49-F238E27FC236}">
                <ns2:creationId id="{385C2309-5CC1-4F42-886A-02B40BE9A13A}"/>
              </a:ext>
            </a:extLst>
          </p:cNvPr>
          <p:cNvSpPr>
            <a:spLocks noGrp="1"/>
          </p:cNvSpPr>
          <p:nvPr/>
        </p:nvSpPr>
        <p:spPr>
          <a:xfrm>
            <a:off x="2400300" y="441960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同类产品与下一步</a:t>
            </a:r>
          </a:p>
        </p:txBody>
      </p:sp>
      <p:sp>
        <p:nvSpPr>
          <p:cNvPr id="15" name="">
            <a:extLst>
              <a:ext uri="{FF2B5EF4-FFF2-40B4-BE49-F238E27FC236}">
                <ns2:creationId id="{29B28301-4947-4919-84BF-0E62B9C7A9F2}"/>
              </a:ext>
            </a:extLst>
          </p:cNvPr>
          <p:cNvSpPr>
            <a:spLocks noGrp="1"/>
          </p:cNvSpPr>
          <p:nvPr/>
        </p:nvSpPr>
        <p:spPr>
          <a:xfrm>
            <a:off x="2400300" y="479107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AgentPass / AgentBee、公司背景与差异化验证</a:t>
            </a:r>
          </a:p>
        </p:txBody>
      </p:sp>
      <p:sp>
        <p:nvSpPr>
          <p:cNvPr id="16" name="">
            <a:extLst>
              <a:ext uri="{FF2B5EF4-FFF2-40B4-BE49-F238E27FC236}">
                <ns2:creationId id="{460A8F4B-34BD-4E18-A3F0-A364DE80275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补充材料：产品与关系 42—57；场景与比较 59—73；来源索引 75—77。</a:t>
            </a:r>
          </a:p>
        </p:txBody>
      </p:sp>
    </p:spTree>
    <p:extLst>
      <p:ext uri="{BB962C8B-B14F-4D97-AF65-F5344CB8AC3E}">
        <ns4:creationId val="1492309260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0A4918A7-E229-4774-8804-199E6E988B4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工具已经安装，授权仍打断任务</a:t>
            </a:r>
          </a:p>
        </p:txBody>
      </p:sp>
      <p:sp>
        <p:nvSpPr>
          <p:cNvPr id="2" name="">
            <a:extLst>
              <a:ext uri="{FF2B5EF4-FFF2-40B4-BE49-F238E27FC236}">
                <ns2:creationId id="{41440BD1-3B2D-42A3-9556-A17ED7C375F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用户提供的真实会话摘录，临时授权地址已省略</a:t>
            </a:r>
          </a:p>
        </p:txBody>
      </p:sp>
      <p:sp>
        <p:nvSpPr>
          <p:cNvPr id="3" name="">
            <a:extLst>
              <a:ext uri="{FF2B5EF4-FFF2-40B4-BE49-F238E27FC236}">
                <ns2:creationId id="{A956B7D5-9774-4F70-B202-9BE862CE650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>
              <a:ext uri="{FF2B5EF4-FFF2-40B4-BE49-F238E27FC236}">
                <ns2:creationId id="{C6037940-B1A3-4137-933A-16CE80B68F66}"/>
              </a:ext>
            </a:extLst>
          </p:cNvPr>
          <p:cNvSpPr>
            <a:spLocks noGrp="1"/>
          </p:cNvSpPr>
          <p:nvPr/>
        </p:nvSpPr>
        <p:spPr>
          <a:xfrm>
            <a:off x="638175" y="193357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用户：这个会话已经装了 CLI。</a:t>
            </a:r>
          </a:p>
        </p:txBody>
      </p:sp>
      <p:sp>
        <p:nvSpPr>
          <p:cNvPr id="5" name="">
            <a:extLst>
              <a:ext uri="{FF2B5EF4-FFF2-40B4-BE49-F238E27FC236}">
                <ns2:creationId id="{FEE9C382-D3FA-4E74-A32E-139EACCF1BA6}"/>
              </a:ext>
            </a:extLst>
          </p:cNvPr>
          <p:cNvSpPr>
            <a:spLocks noGrp="1"/>
          </p:cNvSpPr>
          <p:nvPr/>
        </p:nvSpPr>
        <p:spPr>
          <a:xfrm>
            <a:off x="638175" y="2838450"/>
            <a:ext cx="1057275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会话回复：CLI 已安装，但当前会话需要重新绑定飞书授权。</a:t>
            </a:r>
          </a:p>
          <a:p>
            <a:pPr>
              <a:def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请打开链接完成配置，或扫描二维码。</a:t>
            </a:r>
          </a:p>
          <a:p>
            <a:pPr>
              <a:def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授权完成后告诉我“已完成”，我会继续处理。</a:t>
            </a:r>
          </a:p>
        </p:txBody>
      </p:sp>
      <p:sp>
        <p:nvSpPr>
          <p:cNvPr id="6" name="">
            <a:extLst>
              <a:ext uri="{FF2B5EF4-FFF2-40B4-BE49-F238E27FC236}">
                <ns2:creationId id="{4633A615-CBB1-45E2-BEB0-83182AAFCC95}"/>
              </a:ext>
            </a:extLst>
          </p:cNvPr>
          <p:cNvSpPr>
            <a:spLocks noGrp="1"/>
          </p:cNvSpPr>
          <p:nvPr/>
        </p:nvSpPr>
        <p:spPr>
          <a:xfrm>
            <a:off x="638175" y="4972050"/>
            <a:ext cx="10572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问题落在用户身上：跳转、理解权限、完成后台配置，再回来恢复任务。</a:t>
            </a:r>
          </a:p>
        </p:txBody>
      </p:sp>
      <p:sp>
        <p:nvSpPr>
          <p:cNvPr id="7" name="">
            <a:extLst>
              <a:ext uri="{FF2B5EF4-FFF2-40B4-BE49-F238E27FC236}">
                <ns2:creationId id="{40189479-A7C6-4A93-B4ED-68A9D06E0C8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二维码缩短进入授权页的路径；任务意图与权限范围的衔接仍需要设计。</a:t>
            </a:r>
          </a:p>
        </p:txBody>
      </p:sp>
    </p:spTree>
    <p:extLst>
      <p:ext uri="{BB962C8B-B14F-4D97-AF65-F5344CB8AC3E}">
        <ns3:creationId val="1449401103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BE2890D9-7C4D-4E0E-8BD6-2FEC86451F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用户想批准一件事，页面却要求开一组权限</a:t>
            </a:r>
          </a:p>
        </p:txBody>
      </p:sp>
      <p:sp>
        <p:nvSpPr>
          <p:cNvPr id="2" name="">
            <a:extLst>
              <a:ext uri="{FF2B5EF4-FFF2-40B4-BE49-F238E27FC236}">
                <ns2:creationId id="{0DD8FEE8-5289-410A-91B2-64C4CFA6512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第三方登录、后台权限与具体行动授权，承担不同职责</a:t>
            </a:r>
          </a:p>
        </p:txBody>
      </p:sp>
      <p:sp>
        <p:nvSpPr>
          <p:cNvPr id="3" name="">
            <a:extLst>
              <a:ext uri="{FF2B5EF4-FFF2-40B4-BE49-F238E27FC236}">
                <ns2:creationId id="{1C9160B4-AC18-4A21-80F2-1165AA00EA3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>
              <a:ext uri="{FF2B5EF4-FFF2-40B4-BE49-F238E27FC236}">
                <ns2:creationId id="{99821E74-0D4F-439B-BA22-B2803B6723F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反复跳转</a:t>
            </a:r>
          </a:p>
        </p:txBody>
      </p:sp>
      <p:sp>
        <p:nvSpPr>
          <p:cNvPr id="5" name="">
            <a:extLst>
              <a:ext uri="{FF2B5EF4-FFF2-40B4-BE49-F238E27FC236}">
                <ns2:creationId id="{6199E60C-1C91-4C3A-B4B6-8DD391F28AFE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任务在主会话中，授权入口分散在网页、扫码与管理后台。</a:t>
            </a:r>
          </a:p>
        </p:txBody>
      </p:sp>
      <p:sp>
        <p:nvSpPr>
          <p:cNvPr id="6" name="">
            <a:extLst>
              <a:ext uri="{FF2B5EF4-FFF2-40B4-BE49-F238E27FC236}">
                <ns2:creationId id="{CDD00294-66DE-41BA-B5CE-EA0817E9B0BA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意图难表达</a:t>
            </a:r>
          </a:p>
        </p:txBody>
      </p:sp>
      <p:sp>
        <p:nvSpPr>
          <p:cNvPr id="7" name="">
            <a:extLst>
              <a:ext uri="{FF2B5EF4-FFF2-40B4-BE49-F238E27FC236}">
                <ns2:creationId id="{E37FD185-1263-4C71-8A97-6F4D453CA0A8}"/>
              </a:ext>
            </a:extLst>
          </p:cNvPr>
          <p:cNvSpPr>
            <a:spLocks noGrp="1"/>
          </p:cNvSpPr>
          <p:nvPr/>
        </p:nvSpPr>
        <p:spPr>
          <a:xfrm>
            <a:off x="2705100" y="30289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“允许读写”不足以说明读哪张表、改哪些字段、为什么改。</a:t>
            </a:r>
          </a:p>
        </p:txBody>
      </p:sp>
      <p:sp>
        <p:nvSpPr>
          <p:cNvPr id="8" name="">
            <a:extLst>
              <a:ext uri="{FF2B5EF4-FFF2-40B4-BE49-F238E27FC236}">
                <ns2:creationId id="{88F76BD8-092B-4E49-AEF0-DE2FF21C8407}"/>
              </a:ext>
            </a:extLst>
          </p:cNvPr>
          <p:cNvSpPr>
            <a:spLocks noGrp="1"/>
          </p:cNvSpPr>
          <p:nvPr/>
        </p:nvSpPr>
        <p:spPr>
          <a:xfrm>
            <a:off x="628650" y="42005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恢复靠用户</a:t>
            </a:r>
          </a:p>
        </p:txBody>
      </p:sp>
      <p:sp>
        <p:nvSpPr>
          <p:cNvPr id="9" name="">
            <a:extLst>
              <a:ext uri="{FF2B5EF4-FFF2-40B4-BE49-F238E27FC236}">
                <ns2:creationId id="{1E8E1504-AF27-4931-99FC-DE5361453CE1}"/>
              </a:ext>
            </a:extLst>
          </p:cNvPr>
          <p:cNvSpPr>
            <a:spLocks noGrp="1"/>
          </p:cNvSpPr>
          <p:nvPr/>
        </p:nvSpPr>
        <p:spPr>
          <a:xfrm>
            <a:off x="2705100" y="42005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用户完成设置后还要回来通知，Agent 再尝试，可能继续缺权限。</a:t>
            </a:r>
          </a:p>
        </p:txBody>
      </p:sp>
      <p:sp>
        <p:nvSpPr>
          <p:cNvPr id="10" name="">
            <a:extLst>
              <a:ext uri="{FF2B5EF4-FFF2-40B4-BE49-F238E27FC236}">
                <ns2:creationId id="{8BDC7EF9-6250-4AD3-85B7-102CA7E0C6F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这些是待改善的体验问题；已有平台授权仍须按平台规则完成。</a:t>
            </a:r>
          </a:p>
        </p:txBody>
      </p:sp>
    </p:spTree>
    <p:extLst>
      <p:ext uri="{BB962C8B-B14F-4D97-AF65-F5344CB8AC3E}">
        <ns3:creationId val="406218191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8" name="">
            <a:extLst>
              <a:ext uri="{FF2B5EF4-FFF2-40B4-BE49-F238E27FC236}">
                <ns2:creationId id="{DA1208A4-AEED-49D1-8AF8-0B809A5A7E1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统一的审批入口，衔接分散的授权流程</a:t>
            </a:r>
          </a:p>
        </p:txBody>
      </p:sp>
      <p:sp>
        <p:nvSpPr>
          <p:cNvPr id="2" name="">
            <a:extLst>
              <a:ext uri="{FF2B5EF4-FFF2-40B4-BE49-F238E27FC236}">
                <ns2:creationId id="{F669E9A1-3281-434D-AE8A-EAFA11C9213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目标体验：Agent 自主调用 Skill，经钱包发起请求并持续跟进</a:t>
            </a:r>
          </a:p>
        </p:txBody>
      </p:sp>
      <p:sp>
        <p:nvSpPr>
          <p:cNvPr id="3" name="">
            <a:extLst>
              <a:ext uri="{FF2B5EF4-FFF2-40B4-BE49-F238E27FC236}">
                <ns2:creationId id="{E23FB703-B128-4229-95F1-349A0E9B4A8C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>
              <a:ext uri="{FF2B5EF4-FFF2-40B4-BE49-F238E27FC236}">
                <ns2:creationId id="{D93C8C92-F2FB-4F1E-8218-B856A5857D3E}"/>
              </a:ext>
            </a:extLst>
          </p:cNvPr>
          <p:cNvSpPr>
            <a:spLocks noGrp="1"/>
          </p:cNvSpPr>
          <p:nvPr/>
        </p:nvSpPr>
        <p:spPr>
          <a:xfrm>
            <a:off x="619125" y="2114550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0143B895-D5DD-4819-B806-8182AAE19C13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遇到限制</a:t>
            </a:r>
          </a:p>
        </p:txBody>
      </p:sp>
      <p:sp>
        <p:nvSpPr>
          <p:cNvPr id="6" name="">
            <a:extLst>
              <a:ext uri="{FF2B5EF4-FFF2-40B4-BE49-F238E27FC236}">
                <ns2:creationId id="{05BD8FD0-4C2C-416B-846F-F983C243A802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理解业务方或 Hook 的要求</a:t>
            </a:r>
          </a:p>
        </p:txBody>
      </p:sp>
      <p:sp>
        <p:nvSpPr>
          <p:cNvPr id="7" name="">
            <a:extLst>
              <a:ext uri="{FF2B5EF4-FFF2-40B4-BE49-F238E27FC236}">
                <ns2:creationId id="{C6BA4DFA-544E-4E6C-89C0-D8C37B4C3B4A}"/>
              </a:ext>
            </a:extLst>
          </p:cNvPr>
          <p:cNvSpPr>
            <a:spLocks noGrp="1"/>
          </p:cNvSpPr>
          <p:nvPr/>
        </p:nvSpPr>
        <p:spPr>
          <a:xfrm>
            <a:off x="4486275" y="2114550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0625EBE5-B071-4A3D-9FCD-B26C95B42D4A}"/>
              </a:ext>
            </a:extLst>
          </p:cNvPr>
          <p:cNvSpPr>
            <a:spLocks noGrp="1"/>
          </p:cNvSpPr>
          <p:nvPr/>
        </p:nvSpPr>
        <p:spPr>
          <a:xfrm>
            <a:off x="4629150" y="22288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钱包请求认证器</a:t>
            </a:r>
          </a:p>
        </p:txBody>
      </p:sp>
      <p:sp>
        <p:nvSpPr>
          <p:cNvPr id="9" name="">
            <a:extLst>
              <a:ext uri="{FF2B5EF4-FFF2-40B4-BE49-F238E27FC236}">
                <ns2:creationId id="{61F888A7-F16C-47B5-8440-F781B1C56B97}"/>
              </a:ext>
            </a:extLst>
          </p:cNvPr>
          <p:cNvSpPr>
            <a:spLocks noGrp="1"/>
          </p:cNvSpPr>
          <p:nvPr/>
        </p:nvSpPr>
        <p:spPr>
          <a:xfrm>
            <a:off x="4629150" y="2619375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已有绑定关系，展示任务意图</a:t>
            </a:r>
          </a:p>
        </p:txBody>
      </p:sp>
      <p:sp>
        <p:nvSpPr>
          <p:cNvPr id="10" name="">
            <a:extLst>
              <a:ext uri="{FF2B5EF4-FFF2-40B4-BE49-F238E27FC236}">
                <ns2:creationId id="{AD93C845-E5F9-4F67-90B8-F394F293D641}"/>
              </a:ext>
            </a:extLst>
          </p:cNvPr>
          <p:cNvSpPr>
            <a:spLocks noGrp="1"/>
          </p:cNvSpPr>
          <p:nvPr/>
        </p:nvSpPr>
        <p:spPr>
          <a:xfrm>
            <a:off x="8353425" y="2114550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24A57B68-2449-4C61-B599-55BCFE7396BC}"/>
              </a:ext>
            </a:extLst>
          </p:cNvPr>
          <p:cNvSpPr>
            <a:spLocks noGrp="1"/>
          </p:cNvSpPr>
          <p:nvPr/>
        </p:nvSpPr>
        <p:spPr>
          <a:xfrm>
            <a:off x="8496300" y="222885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用户审阅决定</a:t>
            </a:r>
          </a:p>
        </p:txBody>
      </p:sp>
      <p:sp>
        <p:nvSpPr>
          <p:cNvPr id="12" name="">
            <a:extLst>
              <a:ext uri="{FF2B5EF4-FFF2-40B4-BE49-F238E27FC236}">
                <ns2:creationId id="{5C7BDD23-7AEE-4E56-927B-42379FAA7BC5}"/>
              </a:ext>
            </a:extLst>
          </p:cNvPr>
          <p:cNvSpPr>
            <a:spLocks noGrp="1"/>
          </p:cNvSpPr>
          <p:nvPr/>
        </p:nvSpPr>
        <p:spPr>
          <a:xfrm>
            <a:off x="8496300" y="2619375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批准 / 修改 / 拒绝</a:t>
            </a:r>
          </a:p>
        </p:txBody>
      </p:sp>
      <p:cxnSp>
        <p:nvCxnSpPr>
          <p:cNvPr id="40" name=""/>
          <p:cNvCxnSpPr>
            <a:stCxn id="4" idx="3"/>
            <a:endCxn id="7" idx="1"/>
          </p:cNvCxnSpPr>
          <p:nvPr/>
        </p:nvCxnSpPr>
        <p:spPr>
          <a:xfrm>
            <a:off x="3857625" y="2657475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1" name=""/>
          <p:cNvCxnSpPr>
            <a:stCxn id="7" idx="3"/>
            <a:endCxn id="10" idx="1"/>
          </p:cNvCxnSpPr>
          <p:nvPr/>
        </p:nvCxnSpPr>
        <p:spPr>
          <a:xfrm>
            <a:off x="7724775" y="2657475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61E474ED-840B-42EB-8107-F938E137302E}"/>
              </a:ext>
            </a:extLst>
          </p:cNvPr>
          <p:cNvSpPr>
            <a:spLocks noGrp="1"/>
          </p:cNvSpPr>
          <p:nvPr/>
        </p:nvSpPr>
        <p:spPr>
          <a:xfrm>
            <a:off x="619125" y="4391025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0F5BB2D8-2D0C-43EA-A55E-0A2989CE13D4}"/>
              </a:ext>
            </a:extLst>
          </p:cNvPr>
          <p:cNvSpPr>
            <a:spLocks noGrp="1"/>
          </p:cNvSpPr>
          <p:nvPr/>
        </p:nvSpPr>
        <p:spPr>
          <a:xfrm>
            <a:off x="762000" y="45053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恢复原任务</a:t>
            </a:r>
          </a:p>
        </p:txBody>
      </p:sp>
      <p:sp>
        <p:nvSpPr>
          <p:cNvPr id="17" name="">
            <a:extLst>
              <a:ext uri="{FF2B5EF4-FFF2-40B4-BE49-F238E27FC236}">
                <ns2:creationId id="{6DCC9221-F963-4519-A65B-8632A273B6B2}"/>
              </a:ext>
            </a:extLst>
          </p:cNvPr>
          <p:cNvSpPr>
            <a:spLocks noGrp="1"/>
          </p:cNvSpPr>
          <p:nvPr/>
        </p:nvSpPr>
        <p:spPr>
          <a:xfrm>
            <a:off x="762000" y="489585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校验实际权限与授权凭证</a:t>
            </a:r>
          </a:p>
        </p:txBody>
      </p:sp>
      <p:sp>
        <p:nvSpPr>
          <p:cNvPr id="18" name="">
            <a:extLst>
              <a:ext uri="{FF2B5EF4-FFF2-40B4-BE49-F238E27FC236}">
                <ns2:creationId id="{55A0CFD9-2255-4254-8A6D-51118E2A3BBC}"/>
              </a:ext>
            </a:extLst>
          </p:cNvPr>
          <p:cNvSpPr>
            <a:spLocks noGrp="1"/>
          </p:cNvSpPr>
          <p:nvPr/>
        </p:nvSpPr>
        <p:spPr>
          <a:xfrm>
            <a:off x="4486275" y="4391025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4738B19D-6886-4A49-804A-BB0DB2A5DA8E}"/>
              </a:ext>
            </a:extLst>
          </p:cNvPr>
          <p:cNvSpPr>
            <a:spLocks noGrp="1"/>
          </p:cNvSpPr>
          <p:nvPr/>
        </p:nvSpPr>
        <p:spPr>
          <a:xfrm>
            <a:off x="4629150" y="45053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持续等待</a:t>
            </a:r>
          </a:p>
        </p:txBody>
      </p:sp>
      <p:sp>
        <p:nvSpPr>
          <p:cNvPr id="20" name="">
            <a:extLst>
              <a:ext uri="{FF2B5EF4-FFF2-40B4-BE49-F238E27FC236}">
                <ns2:creationId id="{800B52F8-7D64-4A8E-9655-766AACFAA150}"/>
              </a:ext>
            </a:extLst>
          </p:cNvPr>
          <p:cNvSpPr>
            <a:spLocks noGrp="1"/>
          </p:cNvSpPr>
          <p:nvPr/>
        </p:nvSpPr>
        <p:spPr>
          <a:xfrm>
            <a:off x="4629150" y="489585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确认完成，处理错误和过期</a:t>
            </a:r>
          </a:p>
        </p:txBody>
      </p:sp>
      <p:sp>
        <p:nvSpPr>
          <p:cNvPr id="21" name="">
            <a:extLst>
              <a:ext uri="{FF2B5EF4-FFF2-40B4-BE49-F238E27FC236}">
                <ns2:creationId id="{60279766-BEC5-4037-B4F3-DEB2AC2DF954}"/>
              </a:ext>
            </a:extLst>
          </p:cNvPr>
          <p:cNvSpPr>
            <a:spLocks noGrp="1"/>
          </p:cNvSpPr>
          <p:nvPr/>
        </p:nvSpPr>
        <p:spPr>
          <a:xfrm>
            <a:off x="8353425" y="4391025"/>
            <a:ext cx="323850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22" name="">
            <a:extLst>
              <a:ext uri="{FF2B5EF4-FFF2-40B4-BE49-F238E27FC236}">
                <ns2:creationId id="{E09B167E-6913-45FF-96CF-262EDA530C60}"/>
              </a:ext>
            </a:extLst>
          </p:cNvPr>
          <p:cNvSpPr>
            <a:spLocks noGrp="1"/>
          </p:cNvSpPr>
          <p:nvPr/>
        </p:nvSpPr>
        <p:spPr>
          <a:xfrm>
            <a:off x="8496300" y="45053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必要的平台授权</a:t>
            </a:r>
          </a:p>
        </p:txBody>
      </p:sp>
      <p:sp>
        <p:nvSpPr>
          <p:cNvPr id="23" name="">
            <a:extLst>
              <a:ext uri="{FF2B5EF4-FFF2-40B4-BE49-F238E27FC236}">
                <ns2:creationId id="{25BF9D69-87EE-4559-8571-B85B5B9D6913}"/>
              </a:ext>
            </a:extLst>
          </p:cNvPr>
          <p:cNvSpPr>
            <a:spLocks noGrp="1"/>
          </p:cNvSpPr>
          <p:nvPr/>
        </p:nvSpPr>
        <p:spPr>
          <a:xfrm>
            <a:off x="8496300" y="4895850"/>
            <a:ext cx="29527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引导登录、管理员配置</a:t>
            </a:r>
          </a:p>
        </p:txBody>
      </p:sp>
      <p:cxnSp>
        <p:nvCxnSpPr>
          <p:cNvPr id="51" name=""/>
          <p:cNvCxnSpPr>
            <a:stCxn id="10" idx="2"/>
            <a:endCxn id="21" idx="0"/>
          </p:cNvCxnSpPr>
          <p:nvPr/>
        </p:nvCxnSpPr>
        <p:spPr>
          <a:xfrm>
            <a:off x="9972675" y="3200400"/>
            <a:ext cx="0" cy="119062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2" name=""/>
          <p:cNvCxnSpPr>
            <a:stCxn id="21" idx="1"/>
            <a:endCxn id="18" idx="3"/>
          </p:cNvCxnSpPr>
          <p:nvPr/>
        </p:nvCxnSpPr>
        <p:spPr>
          <a:xfrm flipH="1">
            <a:off x="7724775" y="493395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3" name=""/>
          <p:cNvCxnSpPr>
            <a:stCxn id="18" idx="1"/>
            <a:endCxn id="15" idx="3"/>
          </p:cNvCxnSpPr>
          <p:nvPr/>
        </p:nvCxnSpPr>
        <p:spPr>
          <a:xfrm flipH="1">
            <a:off x="3857625" y="493395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5AC99BAF-3696-48D9-AD94-50244367A13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虚线：第三方授权编排是扩展方向。现有钱包支持固定受信 MYA 服务。</a:t>
            </a:r>
          </a:p>
        </p:txBody>
      </p:sp>
    </p:spTree>
    <p:extLst>
      <p:ext uri="{BB962C8B-B14F-4D97-AF65-F5344CB8AC3E}">
        <ns3:creationId val="1235406863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0F68922B-5F79-4BEE-9BBE-EEC1097A12A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授权意图需要成为可核对的内容</a:t>
            </a:r>
          </a:p>
        </p:txBody>
      </p:sp>
      <p:sp>
        <p:nvSpPr>
          <p:cNvPr id="2" name="">
            <a:extLst>
              <a:ext uri="{FF2B5EF4-FFF2-40B4-BE49-F238E27FC236}">
                <ns2:creationId id="{D0E8CE5F-952D-4EC2-9C14-4AD31C5EE02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示例：整理旅行计划，而不是笼统地开通表格读写</a:t>
            </a:r>
          </a:p>
        </p:txBody>
      </p:sp>
      <p:sp>
        <p:nvSpPr>
          <p:cNvPr id="3" name="">
            <a:extLst>
              <a:ext uri="{FF2B5EF4-FFF2-40B4-BE49-F238E27FC236}">
                <ns2:creationId id="{AA7ACA47-4EE0-415A-B43A-E6CD9AE68A1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>
              <a:ext uri="{FF2B5EF4-FFF2-40B4-BE49-F238E27FC236}">
                <ns2:creationId id="{B4E19255-2620-48F6-BD5B-9E668701D3E3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任务目的</a:t>
            </a:r>
          </a:p>
        </p:txBody>
      </p:sp>
      <p:sp>
        <p:nvSpPr>
          <p:cNvPr id="5" name="">
            <a:extLst>
              <a:ext uri="{FF2B5EF4-FFF2-40B4-BE49-F238E27FC236}">
                <ns2:creationId id="{57086D9F-7943-4210-8EC2-F04D6FEF5E78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整理本次旅行计划，更新指定表格中的行程安排。</a:t>
            </a:r>
          </a:p>
        </p:txBody>
      </p:sp>
      <p:sp>
        <p:nvSpPr>
          <p:cNvPr id="6" name="">
            <a:extLst>
              <a:ext uri="{FF2B5EF4-FFF2-40B4-BE49-F238E27FC236}">
                <ns2:creationId id="{30DEA157-C223-4D8D-AD17-90F5ACF0B6CA}"/>
              </a:ext>
            </a:extLst>
          </p:cNvPr>
          <p:cNvSpPr>
            <a:spLocks noGrp="1"/>
          </p:cNvSpPr>
          <p:nvPr/>
        </p:nvSpPr>
        <p:spPr>
          <a:xfrm>
            <a:off x="628650" y="2981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对象与限制</a:t>
            </a:r>
          </a:p>
        </p:txBody>
      </p:sp>
      <p:sp>
        <p:nvSpPr>
          <p:cNvPr id="7" name="">
            <a:extLst>
              <a:ext uri="{FF2B5EF4-FFF2-40B4-BE49-F238E27FC236}">
                <ns2:creationId id="{E28039D5-AED8-4DE5-8694-194E1EE2A63C}"/>
              </a:ext>
            </a:extLst>
          </p:cNvPr>
          <p:cNvSpPr>
            <a:spLocks noGrp="1"/>
          </p:cNvSpPr>
          <p:nvPr/>
        </p:nvSpPr>
        <p:spPr>
          <a:xfrm>
            <a:off x="2705100" y="2981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只处理该表格和指定字段；不删除记录，不对外分享。</a:t>
            </a:r>
          </a:p>
        </p:txBody>
      </p:sp>
      <p:sp>
        <p:nvSpPr>
          <p:cNvPr id="8" name="">
            <a:extLst>
              <a:ext uri="{FF2B5EF4-FFF2-40B4-BE49-F238E27FC236}">
                <ns2:creationId id="{721A9359-F832-4199-8E06-B37254149119}"/>
              </a:ext>
            </a:extLst>
          </p:cNvPr>
          <p:cNvSpPr>
            <a:spLocks noGrp="1"/>
          </p:cNvSpPr>
          <p:nvPr/>
        </p:nvSpPr>
        <p:spPr>
          <a:xfrm>
            <a:off x="628650" y="41052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时间与变化</a:t>
            </a:r>
          </a:p>
        </p:txBody>
      </p:sp>
      <p:sp>
        <p:nvSpPr>
          <p:cNvPr id="9" name="">
            <a:extLst>
              <a:ext uri="{FF2B5EF4-FFF2-40B4-BE49-F238E27FC236}">
                <ns2:creationId id="{098509A7-D1D6-4196-86EF-A27B8682DF15}"/>
              </a:ext>
            </a:extLst>
          </p:cNvPr>
          <p:cNvSpPr>
            <a:spLocks noGrp="1"/>
          </p:cNvSpPr>
          <p:nvPr/>
        </p:nvSpPr>
        <p:spPr>
          <a:xfrm>
            <a:off x="2705100" y="41052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仅限本次任务；对象、内容或范围变化时重新审批。</a:t>
            </a:r>
          </a:p>
        </p:txBody>
      </p:sp>
      <p:sp>
        <p:nvSpPr>
          <p:cNvPr id="10" name="">
            <a:extLst>
              <a:ext uri="{FF2B5EF4-FFF2-40B4-BE49-F238E27FC236}">
                <ns2:creationId id="{7203C004-A104-42FE-9F37-DEE4A25EB3F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这是目标交互示例；具体字段必须进入签名内容，并由受控执行入口落实。</a:t>
            </a:r>
          </a:p>
        </p:txBody>
      </p:sp>
    </p:spTree>
    <p:extLst>
      <p:ext uri="{BB962C8B-B14F-4D97-AF65-F5344CB8AC3E}">
        <ns3:creationId val="1709284968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EFE6CF12-5578-4232-8791-EAD452B7731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平台权限与任务授权共同约束执行</a:t>
            </a:r>
          </a:p>
        </p:txBody>
      </p:sp>
      <p:sp>
        <p:nvSpPr>
          <p:cNvPr id="2" name="">
            <a:extLst>
              <a:ext uri="{FF2B5EF4-FFF2-40B4-BE49-F238E27FC236}">
                <ns2:creationId id="{77882782-022C-4F9C-A926-5EADA2B8860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实际允许的行动，是平台能力、用户授权和业务策略的交集</a:t>
            </a:r>
          </a:p>
        </p:txBody>
      </p:sp>
      <p:sp>
        <p:nvSpPr>
          <p:cNvPr id="3" name="">
            <a:extLst>
              <a:ext uri="{FF2B5EF4-FFF2-40B4-BE49-F238E27FC236}">
                <ns2:creationId id="{7D627725-2181-4BD9-A74E-22E7A457C6B3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>
              <a:ext uri="{FF2B5EF4-FFF2-40B4-BE49-F238E27FC236}">
                <ns2:creationId id="{F5B2CFB8-70D5-4368-8CFC-CF41A6301517}"/>
              </a:ext>
            </a:extLst>
          </p:cNvPr>
          <p:cNvSpPr>
            <a:spLocks noGrp="1"/>
          </p:cNvSpPr>
          <p:nvPr/>
        </p:nvSpPr>
        <p:spPr>
          <a:xfrm>
            <a:off x="619125" y="2105025"/>
            <a:ext cx="3276600" cy="12001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EC6FF831-6ED2-4630-BD0F-B0E1C53436A7}"/>
              </a:ext>
            </a:extLst>
          </p:cNvPr>
          <p:cNvSpPr>
            <a:spLocks noGrp="1"/>
          </p:cNvSpPr>
          <p:nvPr/>
        </p:nvSpPr>
        <p:spPr>
          <a:xfrm>
            <a:off x="762000" y="2219325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第三方平台</a:t>
            </a:r>
          </a:p>
        </p:txBody>
      </p:sp>
      <p:sp>
        <p:nvSpPr>
          <p:cNvPr id="6" name="">
            <a:extLst>
              <a:ext uri="{FF2B5EF4-FFF2-40B4-BE49-F238E27FC236}">
                <ns2:creationId id="{A692D73D-11C4-4D36-8612-D2FCB24B0633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29908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账号 / 应用允许调用哪些 API</a:t>
            </a:r>
          </a:p>
        </p:txBody>
      </p:sp>
      <p:sp>
        <p:nvSpPr>
          <p:cNvPr id="7" name="">
            <a:extLst>
              <a:ext uri="{FF2B5EF4-FFF2-40B4-BE49-F238E27FC236}">
                <ns2:creationId id="{BBDDA7ED-73C9-4286-9FBE-6C50EE939C92}"/>
              </a:ext>
            </a:extLst>
          </p:cNvPr>
          <p:cNvSpPr>
            <a:spLocks noGrp="1"/>
          </p:cNvSpPr>
          <p:nvPr/>
        </p:nvSpPr>
        <p:spPr>
          <a:xfrm>
            <a:off x="4457700" y="2105025"/>
            <a:ext cx="3276600" cy="12001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28667FC-BCD5-41BA-94BA-74BC4A030AEE}"/>
              </a:ext>
            </a:extLst>
          </p:cNvPr>
          <p:cNvSpPr>
            <a:spLocks noGrp="1"/>
          </p:cNvSpPr>
          <p:nvPr/>
        </p:nvSpPr>
        <p:spPr>
          <a:xfrm>
            <a:off x="4600575" y="2219325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用户授权</a:t>
            </a:r>
          </a:p>
        </p:txBody>
      </p:sp>
      <p:sp>
        <p:nvSpPr>
          <p:cNvPr id="9" name="">
            <a:extLst>
              <a:ext uri="{FF2B5EF4-FFF2-40B4-BE49-F238E27FC236}">
                <ns2:creationId id="{F0AA52D5-CE9A-428C-ACA7-2F2A52FD9FE0}"/>
              </a:ext>
            </a:extLst>
          </p:cNvPr>
          <p:cNvSpPr>
            <a:spLocks noGrp="1"/>
          </p:cNvSpPr>
          <p:nvPr/>
        </p:nvSpPr>
        <p:spPr>
          <a:xfrm>
            <a:off x="4600575" y="2609850"/>
            <a:ext cx="29908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本次允许谁，对什么，做什么</a:t>
            </a:r>
          </a:p>
        </p:txBody>
      </p:sp>
      <p:sp>
        <p:nvSpPr>
          <p:cNvPr id="10" name="">
            <a:extLst>
              <a:ext uri="{FF2B5EF4-FFF2-40B4-BE49-F238E27FC236}">
                <ns2:creationId id="{AE3E48D9-5BCD-44E3-B99C-C80E466010E0}"/>
              </a:ext>
            </a:extLst>
          </p:cNvPr>
          <p:cNvSpPr>
            <a:spLocks noGrp="1"/>
          </p:cNvSpPr>
          <p:nvPr/>
        </p:nvSpPr>
        <p:spPr>
          <a:xfrm>
            <a:off x="8296275" y="2105025"/>
            <a:ext cx="3276600" cy="12001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CCD42A4C-59CB-472D-91A8-B488EE3C3257}"/>
              </a:ext>
            </a:extLst>
          </p:cNvPr>
          <p:cNvSpPr>
            <a:spLocks noGrp="1"/>
          </p:cNvSpPr>
          <p:nvPr/>
        </p:nvSpPr>
        <p:spPr>
          <a:xfrm>
            <a:off x="8439150" y="2219325"/>
            <a:ext cx="29908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业务资源策略</a:t>
            </a:r>
          </a:p>
        </p:txBody>
      </p:sp>
      <p:sp>
        <p:nvSpPr>
          <p:cNvPr id="12" name="">
            <a:extLst>
              <a:ext uri="{FF2B5EF4-FFF2-40B4-BE49-F238E27FC236}">
                <ns2:creationId id="{5501C081-17B0-462F-8FAF-81EBBA32AE41}"/>
              </a:ext>
            </a:extLst>
          </p:cNvPr>
          <p:cNvSpPr>
            <a:spLocks noGrp="1"/>
          </p:cNvSpPr>
          <p:nvPr/>
        </p:nvSpPr>
        <p:spPr>
          <a:xfrm>
            <a:off x="8439150" y="2609850"/>
            <a:ext cx="29908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组织规则 / 数据范围 / 风控</a:t>
            </a:r>
          </a:p>
        </p:txBody>
      </p:sp>
      <p:sp>
        <p:nvSpPr>
          <p:cNvPr id="13" name="">
            <a:extLst>
              <a:ext uri="{FF2B5EF4-FFF2-40B4-BE49-F238E27FC236}">
                <ns2:creationId id="{8B198826-FDFA-43CB-A2AD-20A95B9278AD}"/>
              </a:ext>
            </a:extLst>
          </p:cNvPr>
          <p:cNvSpPr>
            <a:spLocks noGrp="1"/>
          </p:cNvSpPr>
          <p:nvPr/>
        </p:nvSpPr>
        <p:spPr>
          <a:xfrm>
            <a:off x="3419475" y="4533900"/>
            <a:ext cx="5353050" cy="10858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9C3517C3-7240-4266-825F-5D84CA74C4E4}"/>
              </a:ext>
            </a:extLst>
          </p:cNvPr>
          <p:cNvSpPr>
            <a:spLocks noGrp="1"/>
          </p:cNvSpPr>
          <p:nvPr/>
        </p:nvSpPr>
        <p:spPr>
          <a:xfrm>
            <a:off x="3562350" y="4648200"/>
            <a:ext cx="5067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受控执行入口</a:t>
            </a:r>
          </a:p>
        </p:txBody>
      </p:sp>
      <p:sp>
        <p:nvSpPr>
          <p:cNvPr id="15" name="">
            <a:extLst>
              <a:ext uri="{FF2B5EF4-FFF2-40B4-BE49-F238E27FC236}">
                <ns2:creationId id="{B1C3FD9E-E2F7-4970-9084-A1A20F299351}"/>
              </a:ext>
            </a:extLst>
          </p:cNvPr>
          <p:cNvSpPr>
            <a:spLocks noGrp="1"/>
          </p:cNvSpPr>
          <p:nvPr/>
        </p:nvSpPr>
        <p:spPr>
          <a:xfrm>
            <a:off x="3562350" y="5038725"/>
            <a:ext cx="50673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逐项校验后执行；不满足任何一项则拒绝</a:t>
            </a:r>
          </a:p>
        </p:txBody>
      </p:sp>
      <p:cxnSp>
        <p:nvCxnSpPr>
          <p:cNvPr id="35" name=""/>
          <p:cNvCxnSpPr>
            <a:stCxn id="4" idx="2"/>
            <a:endCxn id="13" idx="0"/>
          </p:cNvCxnSpPr>
          <p:nvPr/>
        </p:nvCxnSpPr>
        <p:spPr>
          <a:xfrm>
            <a:off x="2257425" y="3305175"/>
            <a:ext cx="3838575" cy="12287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6" name=""/>
          <p:cNvCxnSpPr>
            <a:stCxn id="7" idx="2"/>
            <a:endCxn id="13" idx="0"/>
          </p:cNvCxnSpPr>
          <p:nvPr/>
        </p:nvCxnSpPr>
        <p:spPr>
          <a:xfrm>
            <a:off x="6096000" y="3305175"/>
            <a:ext cx="0" cy="12287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7" name=""/>
          <p:cNvCxnSpPr>
            <a:stCxn id="10" idx="2"/>
            <a:endCxn id="13" idx="0"/>
          </p:cNvCxnSpPr>
          <p:nvPr/>
        </p:nvCxnSpPr>
        <p:spPr>
          <a:xfrm flipH="1">
            <a:off x="6096000" y="3305175"/>
            <a:ext cx="3838575" cy="12287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7E3F9358-39E7-406D-B615-5DDB84E5AC7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平台若只提供更宽权限，应向用户揭示差距；MYA 不会自动收窄平台令牌。</a:t>
            </a:r>
          </a:p>
        </p:txBody>
      </p:sp>
    </p:spTree>
    <p:extLst>
      <p:ext uri="{BB962C8B-B14F-4D97-AF65-F5344CB8AC3E}">
        <ns3:creationId val="1501247209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6FFDDE15-9BAF-4A06-ABFB-B7A523D4B72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审批可以成为不打断主任务的小分支</a:t>
            </a:r>
          </a:p>
        </p:txBody>
      </p:sp>
      <p:sp>
        <p:nvSpPr>
          <p:cNvPr id="2" name="">
            <a:extLst>
              <a:ext uri="{FF2B5EF4-FFF2-40B4-BE49-F238E27FC236}">
                <ns2:creationId id="{DE651662-2E29-4AA2-9CD8-985EA43B5967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用户侧辅助 Agent 是扩展方向，最终决定仍属于用户</a:t>
            </a:r>
          </a:p>
        </p:txBody>
      </p:sp>
      <p:sp>
        <p:nvSpPr>
          <p:cNvPr id="3" name="">
            <a:extLst>
              <a:ext uri="{FF2B5EF4-FFF2-40B4-BE49-F238E27FC236}">
                <ns2:creationId id="{FEC54F85-32DB-45B2-8127-0BAFC2C1E16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>
              <a:ext uri="{FF2B5EF4-FFF2-40B4-BE49-F238E27FC236}">
                <ns2:creationId id="{FA1474D9-84B2-46FB-BA21-32CAB0AB8403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往返协商</a:t>
            </a:r>
          </a:p>
        </p:txBody>
      </p:sp>
      <p:sp>
        <p:nvSpPr>
          <p:cNvPr id="5" name="">
            <a:extLst>
              <a:ext uri="{FF2B5EF4-FFF2-40B4-BE49-F238E27FC236}">
                <ns2:creationId id="{0FAD75CD-7B6F-4D77-BD8D-A7D4C447C873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用户指出问题、要求修改；工作 Agent 提交新版本，再申请批准。</a:t>
            </a:r>
          </a:p>
        </p:txBody>
      </p:sp>
      <p:sp>
        <p:nvSpPr>
          <p:cNvPr id="6" name="">
            <a:extLst>
              <a:ext uri="{FF2B5EF4-FFF2-40B4-BE49-F238E27FC236}">
                <ns2:creationId id="{C5CD6425-0D65-4813-A2CF-95DFB172DEA4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独立辅助</a:t>
            </a:r>
          </a:p>
        </p:txBody>
      </p:sp>
      <p:sp>
        <p:nvSpPr>
          <p:cNvPr id="7" name="">
            <a:extLst>
              <a:ext uri="{FF2B5EF4-FFF2-40B4-BE49-F238E27FC236}">
                <ns2:creationId id="{18CD9CEF-F115-400E-993E-23A0088F9B8F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审批侧 Agent 调查证据、比较替代方案，明确来源与不确定性。</a:t>
            </a:r>
          </a:p>
        </p:txBody>
      </p:sp>
      <p:sp>
        <p:nvSpPr>
          <p:cNvPr id="8" name="">
            <a:extLst>
              <a:ext uri="{FF2B5EF4-FFF2-40B4-BE49-F238E27FC236}">
                <ns2:creationId id="{A647838E-3F97-4F8A-9E49-831EB0924469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可追溯决定</a:t>
            </a:r>
          </a:p>
        </p:txBody>
      </p:sp>
      <p:sp>
        <p:nvSpPr>
          <p:cNvPr id="9" name="">
            <a:extLst>
              <a:ext uri="{FF2B5EF4-FFF2-40B4-BE49-F238E27FC236}">
                <ns2:creationId id="{7CD3E9CB-BF47-4F2F-9F50-6AF7A3B153CA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记录版本、范围、理由和结果；主会话持续等待并在条件满足后恢复。</a:t>
            </a:r>
          </a:p>
        </p:txBody>
      </p:sp>
      <p:sp>
        <p:nvSpPr>
          <p:cNvPr id="10" name="">
            <a:extLst>
              <a:ext uri="{FF2B5EF4-FFF2-40B4-BE49-F238E27FC236}">
                <ns2:creationId id="{6DBDCC62-D119-4D30-AD34-692DBE2105D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修改与重新审批已有 Demo；独立调查 Agent、第三方后台授权编排仍待开发。</a:t>
            </a:r>
          </a:p>
        </p:txBody>
      </p:sp>
    </p:spTree>
    <p:extLst>
      <p:ext uri="{BB962C8B-B14F-4D97-AF65-F5344CB8AC3E}">
        <ns3:creationId val="1878879141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36514A7A-75E4-4A4E-BFB9-CE86388F507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01  系统如何工作</a:t>
            </a:r>
          </a:p>
        </p:txBody>
      </p:sp>
      <p:sp>
        <p:nvSpPr>
          <p:cNvPr id="2" name="">
            <a:extLst>
              <a:ext uri="{FF2B5EF4-FFF2-40B4-BE49-F238E27FC236}">
                <ns2:creationId id="{DA0655AE-9D36-47D2-BA33-1742AFC1F99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用户先建立可信关系，再为具体行动签发授权</a:t>
            </a:r>
          </a:p>
        </p:txBody>
      </p:sp>
      <p:sp>
        <p:nvSpPr>
          <p:cNvPr id="3" name="">
            <a:extLst>
              <a:ext uri="{FF2B5EF4-FFF2-40B4-BE49-F238E27FC236}">
                <ns2:creationId id="{CFF630B6-1F7D-4E88-B515-31BE546E212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>
              <a:ext uri="{FF2B5EF4-FFF2-40B4-BE49-F238E27FC236}">
                <ns2:creationId id="{FDF5617A-9432-4031-BC4C-973D090AF379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10—12</a:t>
            </a:r>
          </a:p>
        </p:txBody>
      </p:sp>
      <p:sp>
        <p:nvSpPr>
          <p:cNvPr id="5" name="">
            <a:extLst>
              <a:ext uri="{FF2B5EF4-FFF2-40B4-BE49-F238E27FC236}">
                <ns2:creationId id="{E3332DE0-4797-4ADA-863A-597A3883D1D7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建立关系与信任边界</a:t>
            </a:r>
          </a:p>
        </p:txBody>
      </p:sp>
      <p:sp>
        <p:nvSpPr>
          <p:cNvPr id="6" name="">
            <a:extLst>
              <a:ext uri="{FF2B5EF4-FFF2-40B4-BE49-F238E27FC236}">
                <ns2:creationId id="{7B966D1A-8DB1-4DF5-8121-264BF9C0EE6E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业务资源独立控制；双端核对并确认绑定</a:t>
            </a:r>
          </a:p>
        </p:txBody>
      </p:sp>
      <p:sp>
        <p:nvSpPr>
          <p:cNvPr id="7" name="">
            <a:extLst>
              <a:ext uri="{FF2B5EF4-FFF2-40B4-BE49-F238E27FC236}">
                <ns2:creationId id="{9B7BF6C3-E92B-4A60-83FB-7B7D93A5D758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13—15</a:t>
            </a:r>
          </a:p>
        </p:txBody>
      </p:sp>
      <p:sp>
        <p:nvSpPr>
          <p:cNvPr id="8" name="">
            <a:extLst>
              <a:ext uri="{FF2B5EF4-FFF2-40B4-BE49-F238E27FC236}">
                <ns2:creationId id="{F104F3C0-3D18-4C2B-B9B0-6B53B2991BDB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从用户决定到可验证执行</a:t>
            </a:r>
          </a:p>
        </p:txBody>
      </p:sp>
      <p:sp>
        <p:nvSpPr>
          <p:cNvPr id="9" name="">
            <a:extLst>
              <a:ext uri="{FF2B5EF4-FFF2-40B4-BE49-F238E27FC236}">
                <ns2:creationId id="{8EBF4659-EA82-4CCF-831D-9A9434F53CAD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修改需要新版本；钱包按挑战出示，业务方核验</a:t>
            </a:r>
          </a:p>
        </p:txBody>
      </p:sp>
      <p:sp>
        <p:nvSpPr>
          <p:cNvPr id="10" name="">
            <a:extLst>
              <a:ext uri="{FF2B5EF4-FFF2-40B4-BE49-F238E27FC236}">
                <ns2:creationId id="{91BF1A4A-0D5E-4EBA-A34B-CF3B1358351A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16—18</a:t>
            </a:r>
          </a:p>
        </p:txBody>
      </p:sp>
      <p:sp>
        <p:nvSpPr>
          <p:cNvPr id="11" name="">
            <a:extLst>
              <a:ext uri="{FF2B5EF4-FFF2-40B4-BE49-F238E27FC236}">
                <ns2:creationId id="{CF646288-8D68-4312-B07E-D63FCAFA7B31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接入现有 Agent 与业务系统</a:t>
            </a:r>
          </a:p>
        </p:txBody>
      </p:sp>
      <p:sp>
        <p:nvSpPr>
          <p:cNvPr id="12" name="">
            <a:extLst>
              <a:ext uri="{FF2B5EF4-FFF2-40B4-BE49-F238E27FC236}">
                <ns2:creationId id="{FD456AFA-405D-4534-8704-76169895AF1F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Agent 自主调用 Skill；Hook 提供内部检查点</a:t>
            </a:r>
          </a:p>
        </p:txBody>
      </p:sp>
      <p:sp>
        <p:nvSpPr>
          <p:cNvPr id="13" name="">
            <a:extLst>
              <a:ext uri="{FF2B5EF4-FFF2-40B4-BE49-F238E27FC236}">
                <ns2:creationId id="{2F1DDEE9-0977-4440-B219-5C20FA3C46D2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接下来用完整演示检验这些机制，而不是仅看架构是否合理。</a:t>
            </a:r>
          </a:p>
        </p:txBody>
      </p:sp>
    </p:spTree>
    <p:extLst>
      <p:ext uri="{BB962C8B-B14F-4D97-AF65-F5344CB8AC3E}">
        <ns4:creationId val="382376970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6" name="">
            <a:extLst>
              <a:ext uri="{FF2B5EF4-FFF2-40B4-BE49-F238E27FC236}">
                <ns2:creationId id="{9DEB391C-270B-475E-8F7D-DB2849029D3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整体架构与信任边界</a:t>
            </a:r>
          </a:p>
        </p:txBody>
      </p:sp>
      <p:sp>
        <p:nvSpPr>
          <p:cNvPr id="2" name="">
            <a:extLst>
              <a:ext uri="{FF2B5EF4-FFF2-40B4-BE49-F238E27FC236}">
                <ns2:creationId id="{02155CD3-6D3F-4EC2-85D5-86467AC2E47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提供可验证的用户授权，业务系统掌握执行权。</a:t>
            </a:r>
          </a:p>
        </p:txBody>
      </p:sp>
      <p:sp>
        <p:nvSpPr>
          <p:cNvPr id="3" name="">
            <a:extLst>
              <a:ext uri="{FF2B5EF4-FFF2-40B4-BE49-F238E27FC236}">
                <ns2:creationId id="{28B63E2E-E976-473E-B6FC-21F093565F3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>
              <a:ext uri="{FF2B5EF4-FFF2-40B4-BE49-F238E27FC236}">
                <ns2:creationId id="{2FE7BDA6-52BA-4A3A-81C6-37BB7B1A904F}"/>
              </a:ext>
            </a:extLst>
          </p:cNvPr>
          <p:cNvSpPr>
            <a:spLocks noGrp="1"/>
          </p:cNvSpPr>
          <p:nvPr/>
        </p:nvSpPr>
        <p:spPr>
          <a:xfrm>
            <a:off x="514350" y="1714500"/>
            <a:ext cx="3200400" cy="3905250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5" name="">
            <a:extLst>
              <a:ext uri="{FF2B5EF4-FFF2-40B4-BE49-F238E27FC236}">
                <ns2:creationId id="{CE932D85-8001-4A77-B53E-DBD931A4A1D4}"/>
              </a:ext>
            </a:extLst>
          </p:cNvPr>
          <p:cNvSpPr>
            <a:spLocks noGrp="1"/>
          </p:cNvSpPr>
          <p:nvPr/>
        </p:nvSpPr>
        <p:spPr>
          <a:xfrm>
            <a:off x="628650" y="1790700"/>
            <a:ext cx="2971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工作 Agent 侧</a:t>
            </a:r>
          </a:p>
        </p:txBody>
      </p:sp>
      <p:sp>
        <p:nvSpPr>
          <p:cNvPr id="6" name="">
            <a:extLst>
              <a:ext uri="{FF2B5EF4-FFF2-40B4-BE49-F238E27FC236}">
                <ns2:creationId id="{5C023261-A082-4B22-A510-29A8B5EFBB26}"/>
              </a:ext>
            </a:extLst>
          </p:cNvPr>
          <p:cNvSpPr>
            <a:spLocks noGrp="1"/>
          </p:cNvSpPr>
          <p:nvPr/>
        </p:nvSpPr>
        <p:spPr>
          <a:xfrm>
            <a:off x="4648200" y="1714500"/>
            <a:ext cx="3048000" cy="1714500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7" name="">
            <a:extLst>
              <a:ext uri="{FF2B5EF4-FFF2-40B4-BE49-F238E27FC236}">
                <ns2:creationId id="{47B2D0FB-D84C-48DA-81BF-5B2E3B8171B3}"/>
              </a:ext>
            </a:extLst>
          </p:cNvPr>
          <p:cNvSpPr>
            <a:spLocks noGrp="1"/>
          </p:cNvSpPr>
          <p:nvPr/>
        </p:nvSpPr>
        <p:spPr>
          <a:xfrm>
            <a:off x="4762500" y="1790700"/>
            <a:ext cx="2819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关系与通信服务</a:t>
            </a:r>
          </a:p>
        </p:txBody>
      </p:sp>
      <p:sp>
        <p:nvSpPr>
          <p:cNvPr id="8" name="">
            <a:extLst>
              <a:ext uri="{FF2B5EF4-FFF2-40B4-BE49-F238E27FC236}">
                <ns2:creationId id="{82ACD2F0-CF58-48B6-8A04-6EFCEA11059B}"/>
              </a:ext>
            </a:extLst>
          </p:cNvPr>
          <p:cNvSpPr>
            <a:spLocks noGrp="1"/>
          </p:cNvSpPr>
          <p:nvPr/>
        </p:nvSpPr>
        <p:spPr>
          <a:xfrm>
            <a:off x="8620125" y="1714500"/>
            <a:ext cx="3057525" cy="1714500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9" name="">
            <a:extLst>
              <a:ext uri="{FF2B5EF4-FFF2-40B4-BE49-F238E27FC236}">
                <ns2:creationId id="{FBA9F665-391A-486C-A19E-D32034348564}"/>
              </a:ext>
            </a:extLst>
          </p:cNvPr>
          <p:cNvSpPr>
            <a:spLocks noGrp="1"/>
          </p:cNvSpPr>
          <p:nvPr/>
        </p:nvSpPr>
        <p:spPr>
          <a:xfrm>
            <a:off x="8734425" y="1790700"/>
            <a:ext cx="28289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用户审批侧</a:t>
            </a:r>
          </a:p>
        </p:txBody>
      </p:sp>
      <p:sp>
        <p:nvSpPr>
          <p:cNvPr id="10" name="">
            <a:extLst>
              <a:ext uri="{FF2B5EF4-FFF2-40B4-BE49-F238E27FC236}">
                <ns2:creationId id="{D23103B4-E338-45E4-A49B-9AA68357DEDD}"/>
              </a:ext>
            </a:extLst>
          </p:cNvPr>
          <p:cNvSpPr>
            <a:spLocks noGrp="1"/>
          </p:cNvSpPr>
          <p:nvPr/>
        </p:nvSpPr>
        <p:spPr>
          <a:xfrm>
            <a:off x="4648200" y="4010025"/>
            <a:ext cx="7029450" cy="1609725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11" name="">
            <a:extLst>
              <a:ext uri="{FF2B5EF4-FFF2-40B4-BE49-F238E27FC236}">
                <ns2:creationId id="{7E21078D-B2B7-49F6-A353-03461B28BBB6}"/>
              </a:ext>
            </a:extLst>
          </p:cNvPr>
          <p:cNvSpPr>
            <a:spLocks noGrp="1"/>
          </p:cNvSpPr>
          <p:nvPr/>
        </p:nvSpPr>
        <p:spPr>
          <a:xfrm>
            <a:off x="4762500" y="4086225"/>
            <a:ext cx="6800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业务资源方 · 独立控制</a:t>
            </a:r>
          </a:p>
        </p:txBody>
      </p:sp>
      <p:sp>
        <p:nvSpPr>
          <p:cNvPr id="12" name="">
            <a:extLst>
              <a:ext uri="{FF2B5EF4-FFF2-40B4-BE49-F238E27FC236}">
                <ns2:creationId id="{3362DD40-F973-4E1E-BA7D-4A5784767F90}"/>
              </a:ext>
            </a:extLst>
          </p:cNvPr>
          <p:cNvSpPr>
            <a:spLocks noGrp="1"/>
          </p:cNvSpPr>
          <p:nvPr/>
        </p:nvSpPr>
        <p:spPr>
          <a:xfrm>
            <a:off x="695325" y="2238375"/>
            <a:ext cx="2838450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510E91A5-127B-4AF2-B15F-E13A700B66C3}"/>
              </a:ext>
            </a:extLst>
          </p:cNvPr>
          <p:cNvSpPr>
            <a:spLocks noGrp="1"/>
          </p:cNvSpPr>
          <p:nvPr/>
        </p:nvSpPr>
        <p:spPr>
          <a:xfrm>
            <a:off x="838200" y="2352675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+ Skill</a:t>
            </a:r>
          </a:p>
        </p:txBody>
      </p:sp>
      <p:sp>
        <p:nvSpPr>
          <p:cNvPr id="14" name="">
            <a:extLst>
              <a:ext uri="{FF2B5EF4-FFF2-40B4-BE49-F238E27FC236}">
                <ns2:creationId id="{AE83B25C-89E3-46D3-81C5-8E099BFD22FE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2552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遇到授权要求，自主调用 Skill</a:t>
            </a:r>
          </a:p>
        </p:txBody>
      </p:sp>
      <p:sp>
        <p:nvSpPr>
          <p:cNvPr id="15" name="">
            <a:extLst>
              <a:ext uri="{FF2B5EF4-FFF2-40B4-BE49-F238E27FC236}">
                <ns2:creationId id="{D16DEF6B-17EA-4784-B0C6-2BA54A94EC4E}"/>
              </a:ext>
            </a:extLst>
          </p:cNvPr>
          <p:cNvSpPr>
            <a:spLocks noGrp="1"/>
          </p:cNvSpPr>
          <p:nvPr/>
        </p:nvSpPr>
        <p:spPr>
          <a:xfrm>
            <a:off x="695325" y="4400550"/>
            <a:ext cx="2838450" cy="1028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21E99486-1961-4F99-A4DE-893643B0106A}"/>
              </a:ext>
            </a:extLst>
          </p:cNvPr>
          <p:cNvSpPr>
            <a:spLocks noGrp="1"/>
          </p:cNvSpPr>
          <p:nvPr/>
        </p:nvSpPr>
        <p:spPr>
          <a:xfrm>
            <a:off x="838200" y="4514850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凭证钱包 / CLI</a:t>
            </a:r>
          </a:p>
        </p:txBody>
      </p:sp>
      <p:sp>
        <p:nvSpPr>
          <p:cNvPr id="17" name="">
            <a:extLst>
              <a:ext uri="{FF2B5EF4-FFF2-40B4-BE49-F238E27FC236}">
                <ns2:creationId id="{998C9E59-808A-4A3D-8309-E3DAC9758012}"/>
              </a:ext>
            </a:extLst>
          </p:cNvPr>
          <p:cNvSpPr>
            <a:spLocks noGrp="1"/>
          </p:cNvSpPr>
          <p:nvPr/>
        </p:nvSpPr>
        <p:spPr>
          <a:xfrm>
            <a:off x="838200" y="4905375"/>
            <a:ext cx="25527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发起申请 · 等待决定 · 出示</a:t>
            </a:r>
          </a:p>
        </p:txBody>
      </p:sp>
      <p:sp>
        <p:nvSpPr>
          <p:cNvPr id="18" name="">
            <a:extLst>
              <a:ext uri="{FF2B5EF4-FFF2-40B4-BE49-F238E27FC236}">
                <ns2:creationId id="{E4D1D94E-0602-4AA1-9CA6-0D1E2D39FC12}"/>
              </a:ext>
            </a:extLst>
          </p:cNvPr>
          <p:cNvSpPr>
            <a:spLocks noGrp="1"/>
          </p:cNvSpPr>
          <p:nvPr/>
        </p:nvSpPr>
        <p:spPr>
          <a:xfrm>
            <a:off x="4829175" y="2238375"/>
            <a:ext cx="2686050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74381EF1-9AD7-4A04-80EA-F41D9D093E13}"/>
              </a:ext>
            </a:extLst>
          </p:cNvPr>
          <p:cNvSpPr>
            <a:spLocks noGrp="1"/>
          </p:cNvSpPr>
          <p:nvPr/>
        </p:nvSpPr>
        <p:spPr>
          <a:xfrm>
            <a:off x="4972050" y="2352675"/>
            <a:ext cx="2400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配对见证 + 消息转发</a:t>
            </a:r>
          </a:p>
        </p:txBody>
      </p:sp>
      <p:sp>
        <p:nvSpPr>
          <p:cNvPr id="20" name="">
            <a:extLst>
              <a:ext uri="{FF2B5EF4-FFF2-40B4-BE49-F238E27FC236}">
                <ns2:creationId id="{97FA2D7C-CBFC-4E5E-ABCD-919603FD3486}"/>
              </a:ext>
            </a:extLst>
          </p:cNvPr>
          <p:cNvSpPr>
            <a:spLocks noGrp="1"/>
          </p:cNvSpPr>
          <p:nvPr/>
        </p:nvSpPr>
        <p:spPr>
          <a:xfrm>
            <a:off x="4972050" y="2743200"/>
            <a:ext cx="24003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关系核验 · 加密消息传递</a:t>
            </a:r>
          </a:p>
        </p:txBody>
      </p:sp>
      <p:sp>
        <p:nvSpPr>
          <p:cNvPr id="21" name="">
            <a:extLst>
              <a:ext uri="{FF2B5EF4-FFF2-40B4-BE49-F238E27FC236}">
                <ns2:creationId id="{4CAB5211-058E-4AA6-A6D8-7F551A5EF64C}"/>
              </a:ext>
            </a:extLst>
          </p:cNvPr>
          <p:cNvSpPr>
            <a:spLocks noGrp="1"/>
          </p:cNvSpPr>
          <p:nvPr/>
        </p:nvSpPr>
        <p:spPr>
          <a:xfrm>
            <a:off x="8801100" y="2238375"/>
            <a:ext cx="2695575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631EC9F4-26BB-435D-B565-91552260D45C}"/>
              </a:ext>
            </a:extLst>
          </p:cNvPr>
          <p:cNvSpPr>
            <a:spLocks noGrp="1"/>
          </p:cNvSpPr>
          <p:nvPr/>
        </p:nvSpPr>
        <p:spPr>
          <a:xfrm>
            <a:off x="8943975" y="2352675"/>
            <a:ext cx="2409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手机用户 + 签名密钥</a:t>
            </a:r>
          </a:p>
        </p:txBody>
      </p:sp>
      <p:sp>
        <p:nvSpPr>
          <p:cNvPr id="23" name="">
            <a:extLst>
              <a:ext uri="{FF2B5EF4-FFF2-40B4-BE49-F238E27FC236}">
                <ns2:creationId id="{10BCFC00-0754-407E-BCBF-B1242B15EB04}"/>
              </a:ext>
            </a:extLst>
          </p:cNvPr>
          <p:cNvSpPr>
            <a:spLocks noGrp="1"/>
          </p:cNvSpPr>
          <p:nvPr/>
        </p:nvSpPr>
        <p:spPr>
          <a:xfrm>
            <a:off x="8943975" y="2743200"/>
            <a:ext cx="24098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审阅 / 修改 / 批准</a:t>
            </a:r>
          </a:p>
        </p:txBody>
      </p:sp>
      <p:sp>
        <p:nvSpPr>
          <p:cNvPr id="24" name="">
            <a:extLst>
              <a:ext uri="{FF2B5EF4-FFF2-40B4-BE49-F238E27FC236}">
                <ns2:creationId id="{3CAFDF84-8B60-4FB2-A5FD-8DCDBD69ABDE}"/>
              </a:ext>
            </a:extLst>
          </p:cNvPr>
          <p:cNvSpPr>
            <a:spLocks noGrp="1"/>
          </p:cNvSpPr>
          <p:nvPr/>
        </p:nvSpPr>
        <p:spPr>
          <a:xfrm>
            <a:off x="4829175" y="4400550"/>
            <a:ext cx="6667500" cy="1028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5" name="">
            <a:extLst>
              <a:ext uri="{FF2B5EF4-FFF2-40B4-BE49-F238E27FC236}">
                <ns2:creationId id="{5A0B2910-ED59-43FB-BA18-D0768C44148B}"/>
              </a:ext>
            </a:extLst>
          </p:cNvPr>
          <p:cNvSpPr>
            <a:spLocks noGrp="1"/>
          </p:cNvSpPr>
          <p:nvPr/>
        </p:nvSpPr>
        <p:spPr>
          <a:xfrm>
            <a:off x="4972050" y="4514850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业务验证组件 + 执行 API</a:t>
            </a:r>
          </a:p>
        </p:txBody>
      </p:sp>
      <p:sp>
        <p:nvSpPr>
          <p:cNvPr id="26" name="">
            <a:extLst>
              <a:ext uri="{FF2B5EF4-FFF2-40B4-BE49-F238E27FC236}">
                <ns2:creationId id="{E489B429-52BD-4D70-8A37-7EFC35F9EEF7}"/>
              </a:ext>
            </a:extLst>
          </p:cNvPr>
          <p:cNvSpPr>
            <a:spLocks noGrp="1"/>
          </p:cNvSpPr>
          <p:nvPr/>
        </p:nvSpPr>
        <p:spPr>
          <a:xfrm>
            <a:off x="4972050" y="4905375"/>
            <a:ext cx="6381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返回授权要求 / 挑战 → 验证凭证与业务策略 → 执行并签回执</a:t>
            </a:r>
          </a:p>
        </p:txBody>
      </p:sp>
      <p:cxnSp>
        <p:nvCxnSpPr>
          <p:cNvPr id="62" name=""/>
          <p:cNvCxnSpPr>
            <a:stCxn id="12" idx="2"/>
            <a:endCxn id="15" idx="0"/>
          </p:cNvCxnSpPr>
          <p:nvPr/>
        </p:nvCxnSpPr>
        <p:spPr>
          <a:xfrm>
            <a:off x="2114550" y="3295650"/>
            <a:ext cx="0" cy="11049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63" name=""/>
          <p:cNvCxnSpPr>
            <a:stCxn id="12" idx="3"/>
            <a:endCxn id="18" idx="1"/>
          </p:cNvCxnSpPr>
          <p:nvPr/>
        </p:nvCxnSpPr>
        <p:spPr>
          <a:xfrm>
            <a:off x="3533775" y="2767013"/>
            <a:ext cx="12954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64" name=""/>
          <p:cNvCxnSpPr>
            <a:stCxn id="18" idx="3"/>
            <a:endCxn id="21" idx="1"/>
          </p:cNvCxnSpPr>
          <p:nvPr/>
        </p:nvCxnSpPr>
        <p:spPr>
          <a:xfrm>
            <a:off x="7515225" y="2767013"/>
            <a:ext cx="12858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cxnSp>
        <p:nvCxnSpPr>
          <p:cNvPr id="65" name=""/>
          <p:cNvCxnSpPr>
            <a:stCxn id="15" idx="3"/>
            <a:endCxn id="24" idx="1"/>
          </p:cNvCxnSpPr>
          <p:nvPr/>
        </p:nvCxnSpPr>
        <p:spPr>
          <a:xfrm>
            <a:off x="3533775" y="4914900"/>
            <a:ext cx="12954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arrow" w="med" len="med"/>
            <a:tailEnd type="arrow" w="med" len="med"/>
          </a:ln>
        </p:spPr>
      </p:cxnSp>
      <p:sp>
        <p:nvSpPr>
          <p:cNvPr id="31" name="">
            <a:extLst>
              <a:ext uri="{FF2B5EF4-FFF2-40B4-BE49-F238E27FC236}">
                <ns2:creationId id="{AEB9C2E2-FE7F-4B60-B81F-3A351CA3DD66}"/>
              </a:ext>
            </a:extLst>
          </p:cNvPr>
          <p:cNvSpPr>
            <a:spLocks noGrp="1"/>
          </p:cNvSpPr>
          <p:nvPr/>
        </p:nvSpPr>
        <p:spPr>
          <a:xfrm>
            <a:off x="3762375" y="2381250"/>
            <a:ext cx="876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审批请求</a:t>
            </a:r>
          </a:p>
        </p:txBody>
      </p:sp>
      <p:sp>
        <p:nvSpPr>
          <p:cNvPr id="32" name="">
            <a:extLst>
              <a:ext uri="{FF2B5EF4-FFF2-40B4-BE49-F238E27FC236}">
                <ns2:creationId id="{8C6FD3D2-7752-4BCF-9DD1-484DAE2C2F23}"/>
              </a:ext>
            </a:extLst>
          </p:cNvPr>
          <p:cNvSpPr>
            <a:spLocks noGrp="1"/>
          </p:cNvSpPr>
          <p:nvPr/>
        </p:nvSpPr>
        <p:spPr>
          <a:xfrm>
            <a:off x="7753350" y="2381250"/>
            <a:ext cx="876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独立决定</a:t>
            </a:r>
          </a:p>
        </p:txBody>
      </p:sp>
      <p:sp>
        <p:nvSpPr>
          <p:cNvPr id="33" name="">
            <a:extLst>
              <a:ext uri="{FF2B5EF4-FFF2-40B4-BE49-F238E27FC236}">
                <ns2:creationId id="{702505B8-6D29-4BDC-9EB7-379928F36452}"/>
              </a:ext>
            </a:extLst>
          </p:cNvPr>
          <p:cNvSpPr>
            <a:spLocks noGrp="1"/>
          </p:cNvSpPr>
          <p:nvPr/>
        </p:nvSpPr>
        <p:spPr>
          <a:xfrm>
            <a:off x="3733800" y="4638675"/>
            <a:ext cx="10858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挑战 / 出示</a:t>
            </a:r>
          </a:p>
        </p:txBody>
      </p:sp>
      <p:sp>
        <p:nvSpPr>
          <p:cNvPr id="34" name="">
            <a:extLst>
              <a:ext uri="{FF2B5EF4-FFF2-40B4-BE49-F238E27FC236}">
                <ns2:creationId id="{DF144612-CE98-4178-BFBF-CB45960364BE}"/>
              </a:ext>
            </a:extLst>
          </p:cNvPr>
          <p:cNvSpPr>
            <a:spLocks noGrp="1"/>
          </p:cNvSpPr>
          <p:nvPr/>
        </p:nvSpPr>
        <p:spPr>
          <a:xfrm>
            <a:off x="628650" y="5857875"/>
            <a:ext cx="109061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4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 Demo 为便于演示，将业务资源模拟器与 MYA 服务同机部署在 Oracle；正式接入时，业务资源由相应业务方控制。</a:t>
            </a:r>
          </a:p>
        </p:txBody>
      </p:sp>
      <p:sp>
        <p:nvSpPr>
          <p:cNvPr id="35" name="">
            <a:extLst>
              <a:ext uri="{FF2B5EF4-FFF2-40B4-BE49-F238E27FC236}">
                <ns2:creationId id="{353A4118-FE98-4CB5-B26F-D51E2B74B3FC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3330224acd4455"/>
              </a:rPr>
              <a:t>MYA 实现与实测</a:t>
            </a:r>
          </a:p>
        </p:txBody>
      </p:sp>
    </p:spTree>
    <p:extLst>
      <p:ext uri="{BB962C8B-B14F-4D97-AF65-F5344CB8AC3E}">
        <ns4:creationId val="1605144521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6" name="">
            <a:extLst>
              <a:ext uri="{FF2B5EF4-FFF2-40B4-BE49-F238E27FC236}">
                <ns2:creationId id="{558B9CFE-C596-44A1-9B57-8DA1A0D97E7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配对与密码学绑定</a:t>
            </a:r>
          </a:p>
        </p:txBody>
      </p:sp>
      <p:sp>
        <p:nvSpPr>
          <p:cNvPr id="2" name="">
            <a:extLst>
              <a:ext uri="{FF2B5EF4-FFF2-40B4-BE49-F238E27FC236}">
                <ns2:creationId id="{72FC1440-2091-489B-8109-4B887FF98230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先核对双方关系，再签发可验证的配对见证</a:t>
            </a:r>
          </a:p>
        </p:txBody>
      </p:sp>
      <p:sp>
        <p:nvSpPr>
          <p:cNvPr id="3" name="">
            <a:extLst>
              <a:ext uri="{FF2B5EF4-FFF2-40B4-BE49-F238E27FC236}">
                <ns2:creationId id="{7646DDCE-1F8B-4CD2-A415-F87877649FD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>
              <a:ext uri="{FF2B5EF4-FFF2-40B4-BE49-F238E27FC236}">
                <ns2:creationId id="{CB1BBAB8-3C7B-4327-AAB8-3D996B625CA8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PC / Agent</a:t>
            </a:r>
          </a:p>
        </p:txBody>
      </p:sp>
      <p:sp>
        <p:nvSpPr>
          <p:cNvPr id="5" name="">
            <a:extLst>
              <a:ext uri="{FF2B5EF4-FFF2-40B4-BE49-F238E27FC236}">
                <ns2:creationId id="{46D2B4B6-8923-4A9B-8107-99EBB061EA52}"/>
              </a:ext>
            </a:extLst>
          </p:cNvPr>
          <p:cNvSpPr>
            <a:spLocks noGrp="1"/>
          </p:cNvSpPr>
          <p:nvPr/>
        </p:nvSpPr>
        <p:spPr>
          <a:xfrm>
            <a:off x="1524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382AB181-8990-45CD-8BD3-C82EE11FBB9B}"/>
              </a:ext>
            </a:extLst>
          </p:cNvPr>
          <p:cNvSpPr>
            <a:spLocks noGrp="1"/>
          </p:cNvSpPr>
          <p:nvPr/>
        </p:nvSpPr>
        <p:spPr>
          <a:xfrm>
            <a:off x="1524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2" name=""/>
          <p:cNvCxnSpPr>
            <a:stCxn id="5" idx="3"/>
            <a:endCxn id="6" idx="1"/>
          </p:cNvCxnSpPr>
          <p:nvPr/>
        </p:nvCxnSpPr>
        <p:spPr>
          <a:xfrm flipH="1">
            <a:off x="1524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8" name="">
            <a:extLst>
              <a:ext uri="{FF2B5EF4-FFF2-40B4-BE49-F238E27FC236}">
                <ns2:creationId id="{F7A05871-A517-4AE3-8B37-4E4D479D6BB7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Oracle 见证</a:t>
            </a:r>
          </a:p>
        </p:txBody>
      </p:sp>
      <p:sp>
        <p:nvSpPr>
          <p:cNvPr id="9" name="">
            <a:extLst>
              <a:ext uri="{FF2B5EF4-FFF2-40B4-BE49-F238E27FC236}">
                <ns2:creationId id="{3608419E-FF4E-4089-8761-5E4DD5C933BA}"/>
              </a:ext>
            </a:extLst>
          </p:cNvPr>
          <p:cNvSpPr>
            <a:spLocks noGrp="1"/>
          </p:cNvSpPr>
          <p:nvPr/>
        </p:nvSpPr>
        <p:spPr>
          <a:xfrm>
            <a:off x="6096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">
            <a:extLst>
              <a:ext uri="{FF2B5EF4-FFF2-40B4-BE49-F238E27FC236}">
                <ns2:creationId id="{E9200D33-1D2F-48E8-8C8F-027E4036A57E}"/>
              </a:ext>
            </a:extLst>
          </p:cNvPr>
          <p:cNvSpPr>
            <a:spLocks noGrp="1"/>
          </p:cNvSpPr>
          <p:nvPr/>
        </p:nvSpPr>
        <p:spPr>
          <a:xfrm>
            <a:off x="6096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6" name=""/>
          <p:cNvCxnSpPr>
            <a:stCxn id="9" idx="3"/>
            <a:endCxn id="10" idx="1"/>
          </p:cNvCxnSpPr>
          <p:nvPr/>
        </p:nvCxnSpPr>
        <p:spPr>
          <a:xfrm flipH="1">
            <a:off x="6096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2" name="">
            <a:extLst>
              <a:ext uri="{FF2B5EF4-FFF2-40B4-BE49-F238E27FC236}">
                <ns2:creationId id="{0EC00714-87E8-433F-96E8-F099993E1AFC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 / 用户</a:t>
            </a:r>
          </a:p>
        </p:txBody>
      </p:sp>
      <p:sp>
        <p:nvSpPr>
          <p:cNvPr id="13" name="">
            <a:extLst>
              <a:ext uri="{FF2B5EF4-FFF2-40B4-BE49-F238E27FC236}">
                <ns2:creationId id="{26E15BA6-B34F-4604-B67B-F65FDA7ACB0D}"/>
              </a:ext>
            </a:extLst>
          </p:cNvPr>
          <p:cNvSpPr>
            <a:spLocks noGrp="1"/>
          </p:cNvSpPr>
          <p:nvPr/>
        </p:nvSpPr>
        <p:spPr>
          <a:xfrm>
            <a:off x="10668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" name="">
            <a:extLst>
              <a:ext uri="{FF2B5EF4-FFF2-40B4-BE49-F238E27FC236}">
                <ns2:creationId id="{1FDE377B-1092-4508-802E-D65CB4AEA7EF}"/>
              </a:ext>
            </a:extLst>
          </p:cNvPr>
          <p:cNvSpPr>
            <a:spLocks noGrp="1"/>
          </p:cNvSpPr>
          <p:nvPr/>
        </p:nvSpPr>
        <p:spPr>
          <a:xfrm>
            <a:off x="10668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0" name=""/>
          <p:cNvCxnSpPr>
            <a:stCxn id="13" idx="3"/>
            <a:endCxn id="14" idx="1"/>
          </p:cNvCxnSpPr>
          <p:nvPr/>
        </p:nvCxnSpPr>
        <p:spPr>
          <a:xfrm flipH="1">
            <a:off x="10668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6" name="">
            <a:extLst>
              <a:ext uri="{FF2B5EF4-FFF2-40B4-BE49-F238E27FC236}">
                <ns2:creationId id="{FA912942-6E37-43D1-80C1-7472F05787CC}"/>
              </a:ext>
            </a:extLst>
          </p:cNvPr>
          <p:cNvSpPr>
            <a:spLocks noGrp="1"/>
          </p:cNvSpPr>
          <p:nvPr/>
        </p:nvSpPr>
        <p:spPr>
          <a:xfrm>
            <a:off x="1524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" name="">
            <a:extLst>
              <a:ext uri="{FF2B5EF4-FFF2-40B4-BE49-F238E27FC236}">
                <ns2:creationId id="{00D30B87-FA00-46D5-B82A-ED7326E6B88F}"/>
              </a:ext>
            </a:extLst>
          </p:cNvPr>
          <p:cNvSpPr>
            <a:spLocks noGrp="1"/>
          </p:cNvSpPr>
          <p:nvPr/>
        </p:nvSpPr>
        <p:spPr>
          <a:xfrm>
            <a:off x="6096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3" name=""/>
          <p:cNvCxnSpPr>
            <a:stCxn id="16" idx="3"/>
            <a:endCxn id="17" idx="1"/>
          </p:cNvCxnSpPr>
          <p:nvPr/>
        </p:nvCxnSpPr>
        <p:spPr>
          <a:xfrm>
            <a:off x="1533525" y="2586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BD9F11B2-5D1C-489A-8EC0-102438AF003F}"/>
              </a:ext>
            </a:extLst>
          </p:cNvPr>
          <p:cNvSpPr>
            <a:spLocks noGrp="1"/>
          </p:cNvSpPr>
          <p:nvPr/>
        </p:nvSpPr>
        <p:spPr>
          <a:xfrm>
            <a:off x="1666875" y="2286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① 创建邀请：Agent 公钥与用途</a:t>
            </a:r>
          </a:p>
        </p:txBody>
      </p:sp>
      <p:sp>
        <p:nvSpPr>
          <p:cNvPr id="20" name="">
            <a:extLst>
              <a:ext uri="{FF2B5EF4-FFF2-40B4-BE49-F238E27FC236}">
                <ns2:creationId id="{48EDAE33-24B7-4501-A678-F784A32D7F10}"/>
              </a:ext>
            </a:extLst>
          </p:cNvPr>
          <p:cNvSpPr>
            <a:spLocks noGrp="1"/>
          </p:cNvSpPr>
          <p:nvPr/>
        </p:nvSpPr>
        <p:spPr>
          <a:xfrm>
            <a:off x="10668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" name="">
            <a:extLst>
              <a:ext uri="{FF2B5EF4-FFF2-40B4-BE49-F238E27FC236}">
                <ns2:creationId id="{716171CE-6885-4FD2-96B3-81249D61DB93}"/>
              </a:ext>
            </a:extLst>
          </p:cNvPr>
          <p:cNvSpPr>
            <a:spLocks noGrp="1"/>
          </p:cNvSpPr>
          <p:nvPr/>
        </p:nvSpPr>
        <p:spPr>
          <a:xfrm>
            <a:off x="6096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" name=""/>
          <p:cNvCxnSpPr>
            <a:stCxn id="20" idx="3"/>
            <a:endCxn id="21" idx="1"/>
          </p:cNvCxnSpPr>
          <p:nvPr/>
        </p:nvCxnSpPr>
        <p:spPr>
          <a:xfrm flipH="1">
            <a:off x="6096000" y="3157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>
              <a:ext uri="{FF2B5EF4-FFF2-40B4-BE49-F238E27FC236}">
                <ns2:creationId id="{98A21676-EBC6-4EE7-9B89-0AEACA1FAEDD}"/>
              </a:ext>
            </a:extLst>
          </p:cNvPr>
          <p:cNvSpPr>
            <a:spLocks noGrp="1"/>
          </p:cNvSpPr>
          <p:nvPr/>
        </p:nvSpPr>
        <p:spPr>
          <a:xfrm>
            <a:off x="6238875" y="2857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② 扫码或输入配对码加入</a:t>
            </a:r>
          </a:p>
        </p:txBody>
      </p:sp>
      <p:sp>
        <p:nvSpPr>
          <p:cNvPr id="24" name="">
            <a:extLst>
              <a:ext uri="{FF2B5EF4-FFF2-40B4-BE49-F238E27FC236}">
                <ns2:creationId id="{86E870B8-6401-498B-AAC4-4F4436517A04}"/>
              </a:ext>
            </a:extLst>
          </p:cNvPr>
          <p:cNvSpPr>
            <a:spLocks noGrp="1"/>
          </p:cNvSpPr>
          <p:nvPr/>
        </p:nvSpPr>
        <p:spPr>
          <a:xfrm>
            <a:off x="10668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39E67AEA-1715-40F5-A03F-F4188F360246}"/>
              </a:ext>
            </a:extLst>
          </p:cNvPr>
          <p:cNvSpPr>
            <a:spLocks noGrp="1"/>
          </p:cNvSpPr>
          <p:nvPr/>
        </p:nvSpPr>
        <p:spPr>
          <a:xfrm>
            <a:off x="1524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" name=""/>
          <p:cNvCxnSpPr>
            <a:stCxn id="24" idx="3"/>
            <a:endCxn id="25" idx="1"/>
          </p:cNvCxnSpPr>
          <p:nvPr/>
        </p:nvCxnSpPr>
        <p:spPr>
          <a:xfrm flipH="1">
            <a:off x="1524000" y="3729038"/>
            <a:ext cx="9153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F9194DF1-2B3A-457A-99C4-794B2B606FD3}"/>
              </a:ext>
            </a:extLst>
          </p:cNvPr>
          <p:cNvSpPr>
            <a:spLocks noGrp="1"/>
          </p:cNvSpPr>
          <p:nvPr/>
        </p:nvSpPr>
        <p:spPr>
          <a:xfrm>
            <a:off x="1666875" y="3429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③ 两端显示同一短码，用户分别核对确认</a:t>
            </a:r>
          </a:p>
        </p:txBody>
      </p:sp>
      <p:sp>
        <p:nvSpPr>
          <p:cNvPr id="28" name="">
            <a:extLst>
              <a:ext uri="{FF2B5EF4-FFF2-40B4-BE49-F238E27FC236}">
                <ns2:creationId id="{13C962E6-A769-4EED-8CF4-2B8F5172A4F1}"/>
              </a:ext>
            </a:extLst>
          </p:cNvPr>
          <p:cNvSpPr>
            <a:spLocks noGrp="1"/>
          </p:cNvSpPr>
          <p:nvPr/>
        </p:nvSpPr>
        <p:spPr>
          <a:xfrm>
            <a:off x="10668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" name="">
            <a:extLst>
              <a:ext uri="{FF2B5EF4-FFF2-40B4-BE49-F238E27FC236}">
                <ns2:creationId id="{FCBDD2EB-C7D1-426D-B38E-9CA92997DA9E}"/>
              </a:ext>
            </a:extLst>
          </p:cNvPr>
          <p:cNvSpPr>
            <a:spLocks noGrp="1"/>
          </p:cNvSpPr>
          <p:nvPr/>
        </p:nvSpPr>
        <p:spPr>
          <a:xfrm>
            <a:off x="6096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5" name=""/>
          <p:cNvCxnSpPr>
            <a:stCxn id="28" idx="3"/>
            <a:endCxn id="29" idx="1"/>
          </p:cNvCxnSpPr>
          <p:nvPr/>
        </p:nvCxnSpPr>
        <p:spPr>
          <a:xfrm flipH="1">
            <a:off x="6096000" y="4300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>
              <a:ext uri="{FF2B5EF4-FFF2-40B4-BE49-F238E27FC236}">
                <ns2:creationId id="{5657F94A-F8A7-44C2-890A-DA47C7DF1DFF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④ 手机签署关系凭证</a:t>
            </a:r>
          </a:p>
        </p:txBody>
      </p:sp>
      <p:sp>
        <p:nvSpPr>
          <p:cNvPr id="32" name="">
            <a:extLst>
              <a:ext uri="{FF2B5EF4-FFF2-40B4-BE49-F238E27FC236}">
                <ns2:creationId id="{9DBBB94F-4E48-4C23-B7B9-C9F68852DA5D}"/>
              </a:ext>
            </a:extLst>
          </p:cNvPr>
          <p:cNvSpPr>
            <a:spLocks noGrp="1"/>
          </p:cNvSpPr>
          <p:nvPr/>
        </p:nvSpPr>
        <p:spPr>
          <a:xfrm>
            <a:off x="1524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" name="">
            <a:extLst>
              <a:ext uri="{FF2B5EF4-FFF2-40B4-BE49-F238E27FC236}">
                <ns2:creationId id="{FFE7842A-7A40-4279-9CCC-18C00C3681F1}"/>
              </a:ext>
            </a:extLst>
          </p:cNvPr>
          <p:cNvSpPr>
            <a:spLocks noGrp="1"/>
          </p:cNvSpPr>
          <p:nvPr/>
        </p:nvSpPr>
        <p:spPr>
          <a:xfrm>
            <a:off x="6096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" name=""/>
          <p:cNvCxnSpPr>
            <a:stCxn id="32" idx="3"/>
            <a:endCxn id="33" idx="1"/>
          </p:cNvCxnSpPr>
          <p:nvPr/>
        </p:nvCxnSpPr>
        <p:spPr>
          <a:xfrm>
            <a:off x="1533525" y="4872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>
              <a:ext uri="{FF2B5EF4-FFF2-40B4-BE49-F238E27FC236}">
                <ns2:creationId id="{9DF66B36-119D-4530-B017-54E8DFC37FC9}"/>
              </a:ext>
            </a:extLst>
          </p:cNvPr>
          <p:cNvSpPr>
            <a:spLocks noGrp="1"/>
          </p:cNvSpPr>
          <p:nvPr/>
        </p:nvSpPr>
        <p:spPr>
          <a:xfrm>
            <a:off x="1666875" y="4572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Agent 签署关系确认，证明持钥</a:t>
            </a:r>
          </a:p>
        </p:txBody>
      </p:sp>
      <p:sp>
        <p:nvSpPr>
          <p:cNvPr id="36" name="">
            <a:extLst>
              <a:ext uri="{FF2B5EF4-FFF2-40B4-BE49-F238E27FC236}">
                <ns2:creationId id="{65EF2FD1-FB8D-40FC-983E-7EC98E046C3A}"/>
              </a:ext>
            </a:extLst>
          </p:cNvPr>
          <p:cNvSpPr>
            <a:spLocks noGrp="1"/>
          </p:cNvSpPr>
          <p:nvPr/>
        </p:nvSpPr>
        <p:spPr>
          <a:xfrm>
            <a:off x="6096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7" name="">
            <a:extLst>
              <a:ext uri="{FF2B5EF4-FFF2-40B4-BE49-F238E27FC236}">
                <ns2:creationId id="{79720B0C-742D-45E0-A5AF-3129C6E76E0D}"/>
              </a:ext>
            </a:extLst>
          </p:cNvPr>
          <p:cNvSpPr>
            <a:spLocks noGrp="1"/>
          </p:cNvSpPr>
          <p:nvPr/>
        </p:nvSpPr>
        <p:spPr>
          <a:xfrm>
            <a:off x="1524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3" name=""/>
          <p:cNvCxnSpPr>
            <a:stCxn id="36" idx="3"/>
            <a:endCxn id="37" idx="1"/>
          </p:cNvCxnSpPr>
          <p:nvPr/>
        </p:nvCxnSpPr>
        <p:spPr>
          <a:xfrm flipH="1">
            <a:off x="1524000" y="5443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9" name="">
            <a:extLst>
              <a:ext uri="{FF2B5EF4-FFF2-40B4-BE49-F238E27FC236}">
                <ns2:creationId id="{A007A635-8F64-4ABD-A335-67874CF89D03}"/>
              </a:ext>
            </a:extLst>
          </p:cNvPr>
          <p:cNvSpPr>
            <a:spLocks noGrp="1"/>
          </p:cNvSpPr>
          <p:nvPr/>
        </p:nvSpPr>
        <p:spPr>
          <a:xfrm>
            <a:off x="1666875" y="5143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核验一致，交付签名见证</a:t>
            </a:r>
          </a:p>
        </p:txBody>
      </p:sp>
      <p:sp>
        <p:nvSpPr>
          <p:cNvPr id="40" name="">
            <a:extLst>
              <a:ext uri="{FF2B5EF4-FFF2-40B4-BE49-F238E27FC236}">
                <ns2:creationId id="{3BC55CFA-8239-465A-8513-A8569657BA3E}"/>
              </a:ext>
            </a:extLst>
          </p:cNvPr>
          <p:cNvSpPr>
            <a:spLocks noGrp="1"/>
          </p:cNvSpPr>
          <p:nvPr/>
        </p:nvSpPr>
        <p:spPr>
          <a:xfrm>
            <a:off x="6096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41" name="">
            <a:extLst>
              <a:ext uri="{FF2B5EF4-FFF2-40B4-BE49-F238E27FC236}">
                <ns2:creationId id="{974E04EC-D54B-459C-8869-D2DE00236ECD}"/>
              </a:ext>
            </a:extLst>
          </p:cNvPr>
          <p:cNvSpPr>
            <a:spLocks noGrp="1"/>
          </p:cNvSpPr>
          <p:nvPr/>
        </p:nvSpPr>
        <p:spPr>
          <a:xfrm>
            <a:off x="10668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87" name=""/>
          <p:cNvCxnSpPr>
            <a:stCxn id="40" idx="3"/>
            <a:endCxn id="41" idx="1"/>
          </p:cNvCxnSpPr>
          <p:nvPr/>
        </p:nvCxnSpPr>
        <p:spPr>
          <a:xfrm>
            <a:off x="6105525" y="54435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3" name="">
            <a:extLst>
              <a:ext uri="{FF2B5EF4-FFF2-40B4-BE49-F238E27FC236}">
                <ns2:creationId id="{4F197424-9C16-46ED-A990-36055E7F005C}"/>
              </a:ext>
            </a:extLst>
          </p:cNvPr>
          <p:cNvSpPr>
            <a:spLocks noGrp="1"/>
          </p:cNvSpPr>
          <p:nvPr/>
        </p:nvSpPr>
        <p:spPr>
          <a:xfrm>
            <a:off x="6238875" y="5143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核验一致，交付签名见证</a:t>
            </a:r>
          </a:p>
        </p:txBody>
      </p:sp>
      <p:sp>
        <p:nvSpPr>
          <p:cNvPr id="44" name="">
            <a:extLst>
              <a:ext uri="{FF2B5EF4-FFF2-40B4-BE49-F238E27FC236}">
                <ns2:creationId id="{D36731A4-6E57-4416-98B1-F8B262A1946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绑定授予申请资格。具体行动仍需单次授权或用户单独启用的有限规则。</a:t>
            </a:r>
          </a:p>
        </p:txBody>
      </p:sp>
      <p:sp>
        <p:nvSpPr>
          <p:cNvPr id="45" name="">
            <a:extLst>
              <a:ext uri="{FF2B5EF4-FFF2-40B4-BE49-F238E27FC236}">
                <ns2:creationId id="{1BCEB6FA-0B30-49DE-888B-E7B234AF310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511e0337ecd497a"/>
              </a:rPr>
              <a:t>MYA 实现与实测</a:t>
            </a:r>
          </a:p>
        </p:txBody>
      </p:sp>
    </p:spTree>
    <p:extLst>
      <p:ext uri="{BB962C8B-B14F-4D97-AF65-F5344CB8AC3E}">
        <ns4:creationId val="454351823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0BDAED84-88E2-4618-BBBA-8F2ACDD6FE4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双端配对确认</a:t>
            </a:r>
          </a:p>
        </p:txBody>
      </p:sp>
      <p:sp>
        <p:nvSpPr>
          <p:cNvPr id="2" name="">
            <a:extLst>
              <a:ext uri="{FF2B5EF4-FFF2-40B4-BE49-F238E27FC236}">
                <ns2:creationId id="{E361817E-F94A-4805-AD46-FD18331B3CF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二维码或配对码加入 → 核对同一短码 → 两端确认 → 保存关系</a:t>
            </a:r>
          </a:p>
        </p:txBody>
      </p:sp>
      <p:sp>
        <p:nvSpPr>
          <p:cNvPr id="3" name="">
            <a:extLst>
              <a:ext uri="{FF2B5EF4-FFF2-40B4-BE49-F238E27FC236}">
                <ns2:creationId id="{DE1D26A4-356D-4EDE-B457-45D046733C56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">
            <a:extLst>
              <a:ext uri="{FF2B5EF4-FFF2-40B4-BE49-F238E27FC236}">
                <ns2:creationId id="{6976A029-5CB0-4A10-A5A2-324E8F62E9C3}"/>
              </a:ext>
            </a:extLst>
          </p:cNvPr>
          <p:cNvSpPr>
            <a:spLocks noGrp="1"/>
          </p:cNvSpPr>
          <p:nvPr/>
        </p:nvSpPr>
        <p:spPr>
          <a:xfrm>
            <a:off x="628650" y="1762125"/>
            <a:ext cx="4953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PC 确认页</a:t>
            </a:r>
          </a:p>
        </p:txBody>
      </p:sp>
      <p:pic>
        <p:nvPicPr>
          <p:cNvPr id="15" name=""/>
          <p:cNvPicPr>
            <a:picLocks noChangeAspect="1"/>
          </p:cNvPicPr>
          <p:nvPr/>
        </p:nvPicPr>
        <p:blipFill>
          <a:blip r:embed="Ra603df70cf6040d2"/>
          <a:stretch/>
        </p:blipFill>
        <p:spPr>
          <a:xfrm>
            <a:off x="628650" y="2420327"/>
            <a:ext cx="5048250" cy="2588846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093E4CD7-E71F-4548-8180-52756A92844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手机确认页</a:t>
            </a:r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7d48fe3640bf4532"/>
          <a:stretch/>
        </p:blipFill>
        <p:spPr>
          <a:xfrm>
            <a:off x="7254269" y="2190750"/>
            <a:ext cx="3303212" cy="3667125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F0C4A7DC-83BE-46CD-898E-62E375F7F21F}"/>
              </a:ext>
            </a:extLst>
          </p:cNvPr>
          <p:cNvSpPr>
            <a:spLocks noGrp="1"/>
          </p:cNvSpPr>
          <p:nvPr/>
        </p:nvSpPr>
        <p:spPr>
          <a:xfrm>
            <a:off x="647700" y="5229225"/>
            <a:ext cx="4953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配对码：加入邀请</a:t>
            </a:r>
          </a:p>
          <a:p>
            <a:pPr>
              <a:def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核对短码：确认双方关系一致</a:t>
            </a:r>
          </a:p>
        </p:txBody>
      </p:sp>
      <p:sp>
        <p:nvSpPr>
          <p:cNvPr id="9" name="">
            <a:extLst>
              <a:ext uri="{FF2B5EF4-FFF2-40B4-BE49-F238E27FC236}">
                <ns2:creationId id="{53A047A0-E7B2-4A49-96C6-E5850032826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图为同一次隔离测试，邀请已失效、关系已撤销；现场演示应重新生成邀请。</a:t>
            </a:r>
          </a:p>
        </p:txBody>
      </p:sp>
      <p:sp>
        <p:nvSpPr>
          <p:cNvPr id="10" name="">
            <a:extLst>
              <a:ext uri="{FF2B5EF4-FFF2-40B4-BE49-F238E27FC236}">
                <ns2:creationId id="{BE1C01BE-6D53-401F-B2D9-C9ECD13EF8E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ad30abd95644194"/>
              </a:rPr>
              <a:t>MYA 实现与实测</a:t>
            </a:r>
          </a:p>
        </p:txBody>
      </p:sp>
    </p:spTree>
    <p:extLst>
      <p:ext uri="{BB962C8B-B14F-4D97-AF65-F5344CB8AC3E}">
        <ns4:creationId val="660661191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7" name="">
            <a:extLst>
              <a:ext uri="{FF2B5EF4-FFF2-40B4-BE49-F238E27FC236}">
                <ns2:creationId id="{9A7CB4F2-DF19-4190-A261-37F351361E8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审批分支与版本流转</a:t>
            </a:r>
          </a:p>
        </p:txBody>
      </p:sp>
      <p:sp>
        <p:nvSpPr>
          <p:cNvPr id="2" name="">
            <a:extLst>
              <a:ext uri="{FF2B5EF4-FFF2-40B4-BE49-F238E27FC236}">
                <ns2:creationId id="{61218552-DA18-46A0-81A9-B82AD918B7C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主任务继续保存工作上下文，手机侧保留修改理由与最终决定</a:t>
            </a:r>
          </a:p>
        </p:txBody>
      </p:sp>
      <p:sp>
        <p:nvSpPr>
          <p:cNvPr id="3" name="">
            <a:extLst>
              <a:ext uri="{FF2B5EF4-FFF2-40B4-BE49-F238E27FC236}">
                <ns2:creationId id="{C1906A21-518D-4F80-B155-2FCF8FE9D5C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>
              <a:ext uri="{FF2B5EF4-FFF2-40B4-BE49-F238E27FC236}">
                <ns2:creationId id="{91DDC321-BBEF-4133-AE90-34A6BC182100}"/>
              </a:ext>
            </a:extLst>
          </p:cNvPr>
          <p:cNvSpPr>
            <a:spLocks noGrp="1"/>
          </p:cNvSpPr>
          <p:nvPr/>
        </p:nvSpPr>
        <p:spPr>
          <a:xfrm>
            <a:off x="619125" y="2114550"/>
            <a:ext cx="2286000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DD4B593C-D252-497B-A10E-1215D980A63B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工作 Agent</a:t>
            </a:r>
          </a:p>
        </p:txBody>
      </p:sp>
      <p:sp>
        <p:nvSpPr>
          <p:cNvPr id="6" name="">
            <a:extLst>
              <a:ext uri="{FF2B5EF4-FFF2-40B4-BE49-F238E27FC236}">
                <ns2:creationId id="{2DB15118-909B-45BC-82F8-3BD575066DD6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2000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冻结成本报告 v1</a:t>
            </a:r>
          </a:p>
        </p:txBody>
      </p:sp>
      <p:sp>
        <p:nvSpPr>
          <p:cNvPr id="7" name="">
            <a:extLst>
              <a:ext uri="{FF2B5EF4-FFF2-40B4-BE49-F238E27FC236}">
                <ns2:creationId id="{302F0564-5358-43A6-88DC-7BDFD594B9FC}"/>
              </a:ext>
            </a:extLst>
          </p:cNvPr>
          <p:cNvSpPr>
            <a:spLocks noGrp="1"/>
          </p:cNvSpPr>
          <p:nvPr/>
        </p:nvSpPr>
        <p:spPr>
          <a:xfrm>
            <a:off x="3857625" y="2114550"/>
            <a:ext cx="2971800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D34285EF-E9C8-4289-9EB8-EB1C883D7CB9}"/>
              </a:ext>
            </a:extLst>
          </p:cNvPr>
          <p:cNvSpPr>
            <a:spLocks noGrp="1"/>
          </p:cNvSpPr>
          <p:nvPr/>
        </p:nvSpPr>
        <p:spPr>
          <a:xfrm>
            <a:off x="4000500" y="2228850"/>
            <a:ext cx="26860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手机审阅</a:t>
            </a:r>
          </a:p>
        </p:txBody>
      </p:sp>
      <p:sp>
        <p:nvSpPr>
          <p:cNvPr id="9" name="">
            <a:extLst>
              <a:ext uri="{FF2B5EF4-FFF2-40B4-BE49-F238E27FC236}">
                <ns2:creationId id="{819B10CB-F8A7-445B-AF6F-33004D81F521}"/>
              </a:ext>
            </a:extLst>
          </p:cNvPr>
          <p:cNvSpPr>
            <a:spLocks noGrp="1"/>
          </p:cNvSpPr>
          <p:nvPr/>
        </p:nvSpPr>
        <p:spPr>
          <a:xfrm>
            <a:off x="4000500" y="2619375"/>
            <a:ext cx="26860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查看接收方、内容、建议</a:t>
            </a:r>
          </a:p>
        </p:txBody>
      </p:sp>
      <p:sp>
        <p:nvSpPr>
          <p:cNvPr id="10" name="">
            <a:extLst>
              <a:ext uri="{FF2B5EF4-FFF2-40B4-BE49-F238E27FC236}">
                <ns2:creationId id="{A5734BB7-E5D6-4007-9131-B9199863EFD7}"/>
              </a:ext>
            </a:extLst>
          </p:cNvPr>
          <p:cNvSpPr>
            <a:spLocks noGrp="1"/>
          </p:cNvSpPr>
          <p:nvPr/>
        </p:nvSpPr>
        <p:spPr>
          <a:xfrm>
            <a:off x="8010525" y="2114550"/>
            <a:ext cx="3333750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665E22DB-C8E7-4B8E-BF88-FEB434393A77}"/>
              </a:ext>
            </a:extLst>
          </p:cNvPr>
          <p:cNvSpPr>
            <a:spLocks noGrp="1"/>
          </p:cNvSpPr>
          <p:nvPr/>
        </p:nvSpPr>
        <p:spPr>
          <a:xfrm>
            <a:off x="8153400" y="22288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用户批准</a:t>
            </a:r>
          </a:p>
        </p:txBody>
      </p:sp>
      <p:sp>
        <p:nvSpPr>
          <p:cNvPr id="12" name="">
            <a:extLst>
              <a:ext uri="{FF2B5EF4-FFF2-40B4-BE49-F238E27FC236}">
                <ns2:creationId id="{0D0F3033-6529-4AA9-8A2E-3950C5E4E054}"/>
              </a:ext>
            </a:extLst>
          </p:cNvPr>
          <p:cNvSpPr>
            <a:spLocks noGrp="1"/>
          </p:cNvSpPr>
          <p:nvPr/>
        </p:nvSpPr>
        <p:spPr>
          <a:xfrm>
            <a:off x="8153400" y="2619375"/>
            <a:ext cx="3048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签署具体行动授权</a:t>
            </a:r>
          </a:p>
        </p:txBody>
      </p:sp>
      <p:cxnSp>
        <p:nvCxnSpPr>
          <p:cNvPr id="49" name=""/>
          <p:cNvCxnSpPr>
            <a:stCxn id="4" idx="3"/>
            <a:endCxn id="7" idx="1"/>
          </p:cNvCxnSpPr>
          <p:nvPr/>
        </p:nvCxnSpPr>
        <p:spPr>
          <a:xfrm>
            <a:off x="2905125" y="2619375"/>
            <a:ext cx="9525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0" name=""/>
          <p:cNvCxnSpPr>
            <a:stCxn id="7" idx="3"/>
            <a:endCxn id="10" idx="1"/>
          </p:cNvCxnSpPr>
          <p:nvPr/>
        </p:nvCxnSpPr>
        <p:spPr>
          <a:xfrm>
            <a:off x="6829425" y="2619375"/>
            <a:ext cx="11811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0454DD73-E492-45FC-A50C-86D2FED7D3E8}"/>
              </a:ext>
            </a:extLst>
          </p:cNvPr>
          <p:cNvSpPr>
            <a:spLocks noGrp="1"/>
          </p:cNvSpPr>
          <p:nvPr/>
        </p:nvSpPr>
        <p:spPr>
          <a:xfrm>
            <a:off x="6886575" y="2276475"/>
            <a:ext cx="1066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可直接批准</a:t>
            </a:r>
          </a:p>
        </p:txBody>
      </p:sp>
      <p:sp>
        <p:nvSpPr>
          <p:cNvPr id="16" name="">
            <a:extLst>
              <a:ext uri="{FF2B5EF4-FFF2-40B4-BE49-F238E27FC236}">
                <ns2:creationId id="{5C4B1F6B-34FA-4B78-8286-BD51494D811E}"/>
              </a:ext>
            </a:extLst>
          </p:cNvPr>
          <p:cNvSpPr>
            <a:spLocks noGrp="1"/>
          </p:cNvSpPr>
          <p:nvPr/>
        </p:nvSpPr>
        <p:spPr>
          <a:xfrm>
            <a:off x="3857625" y="4162425"/>
            <a:ext cx="29718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1662DBF-55E5-4229-9C56-177C50BCB787}"/>
              </a:ext>
            </a:extLst>
          </p:cNvPr>
          <p:cNvSpPr>
            <a:spLocks noGrp="1"/>
          </p:cNvSpPr>
          <p:nvPr/>
        </p:nvSpPr>
        <p:spPr>
          <a:xfrm>
            <a:off x="4000500" y="4276725"/>
            <a:ext cx="26860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要求修改 → 新版本 v2</a:t>
            </a:r>
          </a:p>
        </p:txBody>
      </p:sp>
      <p:sp>
        <p:nvSpPr>
          <p:cNvPr id="18" name="">
            <a:extLst>
              <a:ext uri="{FF2B5EF4-FFF2-40B4-BE49-F238E27FC236}">
                <ns2:creationId id="{84CF0B3F-643E-4880-85E5-F8DF74443597}"/>
              </a:ext>
            </a:extLst>
          </p:cNvPr>
          <p:cNvSpPr>
            <a:spLocks noGrp="1"/>
          </p:cNvSpPr>
          <p:nvPr/>
        </p:nvSpPr>
        <p:spPr>
          <a:xfrm>
            <a:off x="4000500" y="4667250"/>
            <a:ext cx="26860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移除成本；引用原 request_id</a:t>
            </a:r>
          </a:p>
        </p:txBody>
      </p:sp>
      <p:sp>
        <p:nvSpPr>
          <p:cNvPr id="19" name="">
            <a:extLst>
              <a:ext uri="{FF2B5EF4-FFF2-40B4-BE49-F238E27FC236}">
                <ns2:creationId id="{65E88E78-1D8F-4C63-81DA-B6FA99C83403}"/>
              </a:ext>
            </a:extLst>
          </p:cNvPr>
          <p:cNvSpPr>
            <a:spLocks noGrp="1"/>
          </p:cNvSpPr>
          <p:nvPr/>
        </p:nvSpPr>
        <p:spPr>
          <a:xfrm>
            <a:off x="8010525" y="4162425"/>
            <a:ext cx="33337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0" name="">
            <a:extLst>
              <a:ext uri="{FF2B5EF4-FFF2-40B4-BE49-F238E27FC236}">
                <ns2:creationId id="{40D3EE9F-64D1-477A-9636-9437570F9FC3}"/>
              </a:ext>
            </a:extLst>
          </p:cNvPr>
          <p:cNvSpPr>
            <a:spLocks noGrp="1"/>
          </p:cNvSpPr>
          <p:nvPr/>
        </p:nvSpPr>
        <p:spPr>
          <a:xfrm>
            <a:off x="8153400" y="427672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 → 资源执行</a:t>
            </a:r>
          </a:p>
        </p:txBody>
      </p:sp>
      <p:sp>
        <p:nvSpPr>
          <p:cNvPr id="21" name="">
            <a:extLst>
              <a:ext uri="{FF2B5EF4-FFF2-40B4-BE49-F238E27FC236}">
                <ns2:creationId id="{B53A91D7-3B21-402E-A38B-E24FC616EB51}"/>
              </a:ext>
            </a:extLst>
          </p:cNvPr>
          <p:cNvSpPr>
            <a:spLocks noGrp="1"/>
          </p:cNvSpPr>
          <p:nvPr/>
        </p:nvSpPr>
        <p:spPr>
          <a:xfrm>
            <a:off x="8153400" y="466725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验证当前授权，保存签名回执</a:t>
            </a:r>
          </a:p>
        </p:txBody>
      </p:sp>
      <p:cxnSp>
        <p:nvCxnSpPr>
          <p:cNvPr id="58" name=""/>
          <p:cNvCxnSpPr>
            <a:stCxn id="7" idx="2"/>
            <a:endCxn id="16" idx="0"/>
          </p:cNvCxnSpPr>
          <p:nvPr/>
        </p:nvCxnSpPr>
        <p:spPr>
          <a:xfrm>
            <a:off x="5343525" y="3124200"/>
            <a:ext cx="0" cy="10382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9" name=""/>
          <p:cNvCxnSpPr>
            <a:stCxn id="10" idx="2"/>
            <a:endCxn id="19" idx="0"/>
          </p:cNvCxnSpPr>
          <p:nvPr/>
        </p:nvCxnSpPr>
        <p:spPr>
          <a:xfrm>
            <a:off x="9677400" y="3124200"/>
            <a:ext cx="0" cy="10382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4" name="">
            <a:extLst>
              <a:ext uri="{FF2B5EF4-FFF2-40B4-BE49-F238E27FC236}">
                <ns2:creationId id="{C94BBC52-B137-49F2-860A-A09982925C0B}"/>
              </a:ext>
            </a:extLst>
          </p:cNvPr>
          <p:cNvSpPr>
            <a:spLocks noGrp="1"/>
          </p:cNvSpPr>
          <p:nvPr/>
        </p:nvSpPr>
        <p:spPr>
          <a:xfrm>
            <a:off x="3838575" y="470535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D827F19B-A372-406C-84A2-285B418F65E2}"/>
              </a:ext>
            </a:extLst>
          </p:cNvPr>
          <p:cNvSpPr>
            <a:spLocks noGrp="1"/>
          </p:cNvSpPr>
          <p:nvPr/>
        </p:nvSpPr>
        <p:spPr>
          <a:xfrm>
            <a:off x="3286125" y="470535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2" name=""/>
          <p:cNvCxnSpPr>
            <a:stCxn id="24" idx="3"/>
            <a:endCxn id="25" idx="1"/>
          </p:cNvCxnSpPr>
          <p:nvPr/>
        </p:nvCxnSpPr>
        <p:spPr>
          <a:xfrm flipH="1">
            <a:off x="3286125" y="4710113"/>
            <a:ext cx="5619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E0D3A626-B887-4C41-8A2D-43C4C8FF3566}"/>
              </a:ext>
            </a:extLst>
          </p:cNvPr>
          <p:cNvSpPr>
            <a:spLocks noGrp="1"/>
          </p:cNvSpPr>
          <p:nvPr/>
        </p:nvSpPr>
        <p:spPr>
          <a:xfrm>
            <a:off x="3286125" y="470535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8" name="">
            <a:extLst>
              <a:ext uri="{FF2B5EF4-FFF2-40B4-BE49-F238E27FC236}">
                <ns2:creationId id="{455E4616-E679-4CF1-A569-2C4AE25486DB}"/>
              </a:ext>
            </a:extLst>
          </p:cNvPr>
          <p:cNvSpPr>
            <a:spLocks noGrp="1"/>
          </p:cNvSpPr>
          <p:nvPr/>
        </p:nvSpPr>
        <p:spPr>
          <a:xfrm>
            <a:off x="3286125" y="290512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5" name=""/>
          <p:cNvCxnSpPr>
            <a:stCxn id="27" idx="3"/>
            <a:endCxn id="28" idx="1"/>
          </p:cNvCxnSpPr>
          <p:nvPr/>
        </p:nvCxnSpPr>
        <p:spPr>
          <a:xfrm flipH="1" flipV="1">
            <a:off x="3286125" y="2909888"/>
            <a:ext cx="9525" cy="1800225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0" name="">
            <a:extLst>
              <a:ext uri="{FF2B5EF4-FFF2-40B4-BE49-F238E27FC236}">
                <ns2:creationId id="{5AC3CEFD-9EA5-45FA-BAA1-1A3F70251E22}"/>
              </a:ext>
            </a:extLst>
          </p:cNvPr>
          <p:cNvSpPr>
            <a:spLocks noGrp="1"/>
          </p:cNvSpPr>
          <p:nvPr/>
        </p:nvSpPr>
        <p:spPr>
          <a:xfrm>
            <a:off x="3286125" y="29051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1" name="">
            <a:extLst>
              <a:ext uri="{FF2B5EF4-FFF2-40B4-BE49-F238E27FC236}">
                <ns2:creationId id="{56B1504B-5D1D-427A-96CF-43FD5A9EC316}"/>
              </a:ext>
            </a:extLst>
          </p:cNvPr>
          <p:cNvSpPr>
            <a:spLocks noGrp="1"/>
          </p:cNvSpPr>
          <p:nvPr/>
        </p:nvSpPr>
        <p:spPr>
          <a:xfrm>
            <a:off x="3829050" y="290512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8" name=""/>
          <p:cNvCxnSpPr>
            <a:stCxn id="30" idx="3"/>
            <a:endCxn id="31" idx="1"/>
          </p:cNvCxnSpPr>
          <p:nvPr/>
        </p:nvCxnSpPr>
        <p:spPr>
          <a:xfrm>
            <a:off x="3295650" y="2909888"/>
            <a:ext cx="53340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3" name="">
            <a:extLst>
              <a:ext uri="{FF2B5EF4-FFF2-40B4-BE49-F238E27FC236}">
                <ns2:creationId id="{C292E7B4-88BC-4BD5-ACC7-19A312A6DD72}"/>
              </a:ext>
            </a:extLst>
          </p:cNvPr>
          <p:cNvSpPr>
            <a:spLocks noGrp="1"/>
          </p:cNvSpPr>
          <p:nvPr/>
        </p:nvSpPr>
        <p:spPr>
          <a:xfrm>
            <a:off x="1847850" y="3314700"/>
            <a:ext cx="13811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修订后再审</a:t>
            </a:r>
          </a:p>
        </p:txBody>
      </p:sp>
      <p:sp>
        <p:nvSpPr>
          <p:cNvPr id="34" name="">
            <a:extLst>
              <a:ext uri="{FF2B5EF4-FFF2-40B4-BE49-F238E27FC236}">
                <ns2:creationId id="{71477166-5F53-4C1E-9E0E-02B554E0EF29}"/>
              </a:ext>
            </a:extLst>
          </p:cNvPr>
          <p:cNvSpPr>
            <a:spLocks noGrp="1"/>
          </p:cNvSpPr>
          <p:nvPr/>
        </p:nvSpPr>
        <p:spPr>
          <a:xfrm>
            <a:off x="638175" y="4105275"/>
            <a:ext cx="2524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拒绝 / 取消 / 过期</a:t>
            </a:r>
          </a:p>
          <a:p>
            <a:pPr>
              <a:def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结束本次申请，不执行</a:t>
            </a:r>
          </a:p>
        </p:txBody>
      </p:sp>
      <p:sp>
        <p:nvSpPr>
          <p:cNvPr id="35" name="">
            <a:extLst>
              <a:ext uri="{FF2B5EF4-FFF2-40B4-BE49-F238E27FC236}">
                <ns2:creationId id="{E97B9CE3-EBC9-4679-8257-05C24ED97C0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手机决定由签名消息返回。Agent 持续等待，无需用户在主会话重复说“批准了”。</a:t>
            </a:r>
          </a:p>
        </p:txBody>
      </p:sp>
      <p:sp>
        <p:nvSpPr>
          <p:cNvPr id="36" name="">
            <a:extLst>
              <a:ext uri="{FF2B5EF4-FFF2-40B4-BE49-F238E27FC236}">
                <ns2:creationId id="{DF41BFE4-F99D-4E99-A61B-3F644EFEACF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86ff80aa7d24466"/>
              </a:rPr>
              <a:t>MYA 实现与实测</a:t>
            </a:r>
          </a:p>
        </p:txBody>
      </p:sp>
    </p:spTree>
    <p:extLst>
      <p:ext uri="{BB962C8B-B14F-4D97-AF65-F5344CB8AC3E}">
        <ns4:creationId val="1677194942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">
            <a:extLst>
              <a:ext uri="{FF2B5EF4-FFF2-40B4-BE49-F238E27FC236}">
                <ns2:creationId id="{56D9C3F3-2436-4E82-BA04-B6A77A16C97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钱包挑战出示与执行时序</a:t>
            </a:r>
          </a:p>
        </p:txBody>
      </p:sp>
      <p:sp>
        <p:nvSpPr>
          <p:cNvPr id="2" name="">
            <a:extLst>
              <a:ext uri="{FF2B5EF4-FFF2-40B4-BE49-F238E27FC236}">
                <ns2:creationId id="{A05BFAA0-E210-4A8D-968B-0E708A27D4F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出示证明“现在持钥且获授权”，回执证明“实际执行了什么”</a:t>
            </a:r>
          </a:p>
        </p:txBody>
      </p:sp>
      <p:sp>
        <p:nvSpPr>
          <p:cNvPr id="3" name="">
            <a:extLst>
              <a:ext uri="{FF2B5EF4-FFF2-40B4-BE49-F238E27FC236}">
                <ns2:creationId id="{C7543F5B-89D3-4E40-BEB7-41BDAB3252F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>
              <a:ext uri="{FF2B5EF4-FFF2-40B4-BE49-F238E27FC236}">
                <ns2:creationId id="{3F5D0FC0-59F7-44BE-BF83-3B50E1ABE199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/ 钱包</a:t>
            </a:r>
          </a:p>
        </p:txBody>
      </p:sp>
      <p:sp>
        <p:nvSpPr>
          <p:cNvPr id="5" name="">
            <a:extLst>
              <a:ext uri="{FF2B5EF4-FFF2-40B4-BE49-F238E27FC236}">
                <ns2:creationId id="{F934D019-F194-4C3B-9B81-DBF448A9FF7D}"/>
              </a:ext>
            </a:extLst>
          </p:cNvPr>
          <p:cNvSpPr>
            <a:spLocks noGrp="1"/>
          </p:cNvSpPr>
          <p:nvPr/>
        </p:nvSpPr>
        <p:spPr>
          <a:xfrm>
            <a:off x="1524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6" name="">
            <a:extLst>
              <a:ext uri="{FF2B5EF4-FFF2-40B4-BE49-F238E27FC236}">
                <ns2:creationId id="{662D50EE-C69D-4009-9F4B-47A6391AC22F}"/>
              </a:ext>
            </a:extLst>
          </p:cNvPr>
          <p:cNvSpPr>
            <a:spLocks noGrp="1"/>
          </p:cNvSpPr>
          <p:nvPr/>
        </p:nvSpPr>
        <p:spPr>
          <a:xfrm>
            <a:off x="1524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48" name=""/>
          <p:cNvCxnSpPr>
            <a:stCxn id="5" idx="3"/>
            <a:endCxn id="6" idx="1"/>
          </p:cNvCxnSpPr>
          <p:nvPr/>
        </p:nvCxnSpPr>
        <p:spPr>
          <a:xfrm flipH="1">
            <a:off x="1524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8" name="">
            <a:extLst>
              <a:ext uri="{FF2B5EF4-FFF2-40B4-BE49-F238E27FC236}">
                <ns2:creationId id="{D3142AD9-11C3-4C26-A076-3C9AE118920B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资源验证器</a:t>
            </a:r>
          </a:p>
        </p:txBody>
      </p:sp>
      <p:sp>
        <p:nvSpPr>
          <p:cNvPr id="9" name="">
            <a:extLst>
              <a:ext uri="{FF2B5EF4-FFF2-40B4-BE49-F238E27FC236}">
                <ns2:creationId id="{4794FCA3-6289-46A2-ABB0-FB0BD4E022B3}"/>
              </a:ext>
            </a:extLst>
          </p:cNvPr>
          <p:cNvSpPr>
            <a:spLocks noGrp="1"/>
          </p:cNvSpPr>
          <p:nvPr/>
        </p:nvSpPr>
        <p:spPr>
          <a:xfrm>
            <a:off x="6096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">
            <a:extLst>
              <a:ext uri="{FF2B5EF4-FFF2-40B4-BE49-F238E27FC236}">
                <ns2:creationId id="{56A860E0-DF94-4485-94CD-73E933E39AC7}"/>
              </a:ext>
            </a:extLst>
          </p:cNvPr>
          <p:cNvSpPr>
            <a:spLocks noGrp="1"/>
          </p:cNvSpPr>
          <p:nvPr/>
        </p:nvSpPr>
        <p:spPr>
          <a:xfrm>
            <a:off x="6096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2" name=""/>
          <p:cNvCxnSpPr>
            <a:stCxn id="9" idx="3"/>
            <a:endCxn id="10" idx="1"/>
          </p:cNvCxnSpPr>
          <p:nvPr/>
        </p:nvCxnSpPr>
        <p:spPr>
          <a:xfrm flipH="1">
            <a:off x="6096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2" name="">
            <a:extLst>
              <a:ext uri="{FF2B5EF4-FFF2-40B4-BE49-F238E27FC236}">
                <ns2:creationId id="{13B7F494-8246-46ED-B16A-A2257EE713BD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API</a:t>
            </a:r>
          </a:p>
        </p:txBody>
      </p:sp>
      <p:sp>
        <p:nvSpPr>
          <p:cNvPr id="13" name="">
            <a:extLst>
              <a:ext uri="{FF2B5EF4-FFF2-40B4-BE49-F238E27FC236}">
                <ns2:creationId id="{D8E974C2-770D-4913-AE1C-1B4BFBF60614}"/>
              </a:ext>
            </a:extLst>
          </p:cNvPr>
          <p:cNvSpPr>
            <a:spLocks noGrp="1"/>
          </p:cNvSpPr>
          <p:nvPr/>
        </p:nvSpPr>
        <p:spPr>
          <a:xfrm>
            <a:off x="10668000" y="22193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4" name="">
            <a:extLst>
              <a:ext uri="{FF2B5EF4-FFF2-40B4-BE49-F238E27FC236}">
                <ns2:creationId id="{E58794CA-A9CA-47D2-80C7-72835295352F}"/>
              </a:ext>
            </a:extLst>
          </p:cNvPr>
          <p:cNvSpPr>
            <a:spLocks noGrp="1"/>
          </p:cNvSpPr>
          <p:nvPr/>
        </p:nvSpPr>
        <p:spPr>
          <a:xfrm>
            <a:off x="10668000" y="56769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6" name=""/>
          <p:cNvCxnSpPr>
            <a:stCxn id="13" idx="3"/>
            <a:endCxn id="14" idx="1"/>
          </p:cNvCxnSpPr>
          <p:nvPr/>
        </p:nvCxnSpPr>
        <p:spPr>
          <a:xfrm flipH="1">
            <a:off x="10668000" y="2224088"/>
            <a:ext cx="9525" cy="3457575"/>
          </a:xfrm>
          <a:prstGeom prst="straightConnector1">
            <a:avLst/>
          </a:prstGeom>
          <a:ln w="19050">
            <a:solidFill>
              <a:srgbClr val="BDCDC3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6" name="">
            <a:extLst>
              <a:ext uri="{FF2B5EF4-FFF2-40B4-BE49-F238E27FC236}">
                <ns2:creationId id="{79FB9382-53D5-4934-85F2-9B23C9218520}"/>
              </a:ext>
            </a:extLst>
          </p:cNvPr>
          <p:cNvSpPr>
            <a:spLocks noGrp="1"/>
          </p:cNvSpPr>
          <p:nvPr/>
        </p:nvSpPr>
        <p:spPr>
          <a:xfrm>
            <a:off x="1524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7" name="">
            <a:extLst>
              <a:ext uri="{FF2B5EF4-FFF2-40B4-BE49-F238E27FC236}">
                <ns2:creationId id="{87FB04DF-65BF-4EC8-819E-86878384FCBF}"/>
              </a:ext>
            </a:extLst>
          </p:cNvPr>
          <p:cNvSpPr>
            <a:spLocks noGrp="1"/>
          </p:cNvSpPr>
          <p:nvPr/>
        </p:nvSpPr>
        <p:spPr>
          <a:xfrm>
            <a:off x="6096000" y="2581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9" name=""/>
          <p:cNvCxnSpPr>
            <a:stCxn id="16" idx="3"/>
            <a:endCxn id="17" idx="1"/>
          </p:cNvCxnSpPr>
          <p:nvPr/>
        </p:nvCxnSpPr>
        <p:spPr>
          <a:xfrm>
            <a:off x="1533525" y="2586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BD189D2F-3CE1-4689-A020-E69706E5FADF}"/>
              </a:ext>
            </a:extLst>
          </p:cNvPr>
          <p:cNvSpPr>
            <a:spLocks noGrp="1"/>
          </p:cNvSpPr>
          <p:nvPr/>
        </p:nvSpPr>
        <p:spPr>
          <a:xfrm>
            <a:off x="1666875" y="2286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① 请求冻结交易与签名挑战</a:t>
            </a:r>
          </a:p>
        </p:txBody>
      </p:sp>
      <p:sp>
        <p:nvSpPr>
          <p:cNvPr id="20" name="">
            <a:extLst>
              <a:ext uri="{FF2B5EF4-FFF2-40B4-BE49-F238E27FC236}">
                <ns2:creationId id="{61477CFE-E842-4BBC-B9DF-0795AA2B94E4}"/>
              </a:ext>
            </a:extLst>
          </p:cNvPr>
          <p:cNvSpPr>
            <a:spLocks noGrp="1"/>
          </p:cNvSpPr>
          <p:nvPr/>
        </p:nvSpPr>
        <p:spPr>
          <a:xfrm>
            <a:off x="6096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1" name="">
            <a:extLst>
              <a:ext uri="{FF2B5EF4-FFF2-40B4-BE49-F238E27FC236}">
                <ns2:creationId id="{1622967E-6D91-41C4-8390-DF2CD3EDCFF0}"/>
              </a:ext>
            </a:extLst>
          </p:cNvPr>
          <p:cNvSpPr>
            <a:spLocks noGrp="1"/>
          </p:cNvSpPr>
          <p:nvPr/>
        </p:nvSpPr>
        <p:spPr>
          <a:xfrm>
            <a:off x="1524000" y="3152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3" name=""/>
          <p:cNvCxnSpPr>
            <a:stCxn id="20" idx="3"/>
            <a:endCxn id="21" idx="1"/>
          </p:cNvCxnSpPr>
          <p:nvPr/>
        </p:nvCxnSpPr>
        <p:spPr>
          <a:xfrm flipH="1">
            <a:off x="1524000" y="3157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>
              <a:ext uri="{FF2B5EF4-FFF2-40B4-BE49-F238E27FC236}">
                <ns2:creationId id="{A4C0E53B-DB7E-4BE4-8B72-E5E0F79B3E65}"/>
              </a:ext>
            </a:extLst>
          </p:cNvPr>
          <p:cNvSpPr>
            <a:spLocks noGrp="1"/>
          </p:cNvSpPr>
          <p:nvPr/>
        </p:nvSpPr>
        <p:spPr>
          <a:xfrm>
            <a:off x="1666875" y="2857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② 返回 nonce、交易号、行动摘要、验证端点</a:t>
            </a:r>
          </a:p>
        </p:txBody>
      </p:sp>
      <p:sp>
        <p:nvSpPr>
          <p:cNvPr id="24" name="">
            <a:extLst>
              <a:ext uri="{FF2B5EF4-FFF2-40B4-BE49-F238E27FC236}">
                <ns2:creationId id="{D54CFA3E-C88B-4AF6-8F98-EF69F7298A19}"/>
              </a:ext>
            </a:extLst>
          </p:cNvPr>
          <p:cNvSpPr>
            <a:spLocks noGrp="1"/>
          </p:cNvSpPr>
          <p:nvPr/>
        </p:nvSpPr>
        <p:spPr>
          <a:xfrm>
            <a:off x="1524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5" name="">
            <a:extLst>
              <a:ext uri="{FF2B5EF4-FFF2-40B4-BE49-F238E27FC236}">
                <ns2:creationId id="{1068F1CA-ECEC-412E-BA23-5F11B5CD22D8}"/>
              </a:ext>
            </a:extLst>
          </p:cNvPr>
          <p:cNvSpPr>
            <a:spLocks noGrp="1"/>
          </p:cNvSpPr>
          <p:nvPr/>
        </p:nvSpPr>
        <p:spPr>
          <a:xfrm>
            <a:off x="6096000" y="3724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" name=""/>
          <p:cNvCxnSpPr>
            <a:stCxn id="24" idx="3"/>
            <a:endCxn id="25" idx="1"/>
          </p:cNvCxnSpPr>
          <p:nvPr/>
        </p:nvCxnSpPr>
        <p:spPr>
          <a:xfrm>
            <a:off x="1533525" y="3729038"/>
            <a:ext cx="4562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5F1C13BC-BD2A-4F84-9B4E-28F9291B4CBC}"/>
              </a:ext>
            </a:extLst>
          </p:cNvPr>
          <p:cNvSpPr>
            <a:spLocks noGrp="1"/>
          </p:cNvSpPr>
          <p:nvPr/>
        </p:nvSpPr>
        <p:spPr>
          <a:xfrm>
            <a:off x="1666875" y="34290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③ 核验挑战后出示凭证 + 短时持钥签名</a:t>
            </a:r>
          </a:p>
        </p:txBody>
      </p:sp>
      <p:sp>
        <p:nvSpPr>
          <p:cNvPr id="28" name="">
            <a:extLst>
              <a:ext uri="{FF2B5EF4-FFF2-40B4-BE49-F238E27FC236}">
                <ns2:creationId id="{A27CB9ED-9745-45BE-8E4F-1A52E1F58820}"/>
              </a:ext>
            </a:extLst>
          </p:cNvPr>
          <p:cNvSpPr>
            <a:spLocks noGrp="1"/>
          </p:cNvSpPr>
          <p:nvPr/>
        </p:nvSpPr>
        <p:spPr>
          <a:xfrm>
            <a:off x="6096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" name="">
            <a:extLst>
              <a:ext uri="{FF2B5EF4-FFF2-40B4-BE49-F238E27FC236}">
                <ns2:creationId id="{A793C966-8845-4A54-95AD-43D486387B04}"/>
              </a:ext>
            </a:extLst>
          </p:cNvPr>
          <p:cNvSpPr>
            <a:spLocks noGrp="1"/>
          </p:cNvSpPr>
          <p:nvPr/>
        </p:nvSpPr>
        <p:spPr>
          <a:xfrm>
            <a:off x="1524000" y="4295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" name=""/>
          <p:cNvCxnSpPr>
            <a:stCxn id="28" idx="3"/>
            <a:endCxn id="29" idx="1"/>
          </p:cNvCxnSpPr>
          <p:nvPr/>
        </p:nvCxnSpPr>
        <p:spPr>
          <a:xfrm flipH="1">
            <a:off x="1524000" y="4300538"/>
            <a:ext cx="4581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1" name="">
            <a:extLst>
              <a:ext uri="{FF2B5EF4-FFF2-40B4-BE49-F238E27FC236}">
                <ns2:creationId id="{1EBD4A07-347E-4D4C-8BFB-199D2D186AA8}"/>
              </a:ext>
            </a:extLst>
          </p:cNvPr>
          <p:cNvSpPr>
            <a:spLocks noGrp="1"/>
          </p:cNvSpPr>
          <p:nvPr/>
        </p:nvSpPr>
        <p:spPr>
          <a:xfrm>
            <a:off x="1666875" y="40005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④ 返回签名验证结果与交易号</a:t>
            </a:r>
          </a:p>
        </p:txBody>
      </p:sp>
      <p:sp>
        <p:nvSpPr>
          <p:cNvPr id="32" name="">
            <a:extLst>
              <a:ext uri="{FF2B5EF4-FFF2-40B4-BE49-F238E27FC236}">
                <ns2:creationId id="{AAEEE854-D953-4E99-AB19-4A962C12CD39}"/>
              </a:ext>
            </a:extLst>
          </p:cNvPr>
          <p:cNvSpPr>
            <a:spLocks noGrp="1"/>
          </p:cNvSpPr>
          <p:nvPr/>
        </p:nvSpPr>
        <p:spPr>
          <a:xfrm>
            <a:off x="1524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3" name="">
            <a:extLst>
              <a:ext uri="{FF2B5EF4-FFF2-40B4-BE49-F238E27FC236}">
                <ns2:creationId id="{9F9F891B-F031-4606-8C50-BA5ED8748558}"/>
              </a:ext>
            </a:extLst>
          </p:cNvPr>
          <p:cNvSpPr>
            <a:spLocks noGrp="1"/>
          </p:cNvSpPr>
          <p:nvPr/>
        </p:nvSpPr>
        <p:spPr>
          <a:xfrm>
            <a:off x="10668000" y="48672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5" name=""/>
          <p:cNvCxnSpPr>
            <a:stCxn id="32" idx="3"/>
            <a:endCxn id="33" idx="1"/>
          </p:cNvCxnSpPr>
          <p:nvPr/>
        </p:nvCxnSpPr>
        <p:spPr>
          <a:xfrm>
            <a:off x="1533525" y="4872038"/>
            <a:ext cx="91344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>
              <a:ext uri="{FF2B5EF4-FFF2-40B4-BE49-F238E27FC236}">
                <ns2:creationId id="{AAD22E99-69E9-4470-8EA8-1B92334858BB}"/>
              </a:ext>
            </a:extLst>
          </p:cNvPr>
          <p:cNvSpPr>
            <a:spLocks noGrp="1"/>
          </p:cNvSpPr>
          <p:nvPr/>
        </p:nvSpPr>
        <p:spPr>
          <a:xfrm>
            <a:off x="1666875" y="4572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⑤ 按交易执行：再查范围、时效、撤销与幂等</a:t>
            </a:r>
          </a:p>
        </p:txBody>
      </p:sp>
      <p:sp>
        <p:nvSpPr>
          <p:cNvPr id="36" name="">
            <a:extLst>
              <a:ext uri="{FF2B5EF4-FFF2-40B4-BE49-F238E27FC236}">
                <ns2:creationId id="{FB22640A-8427-456E-8AB4-E4C4399C518B}"/>
              </a:ext>
            </a:extLst>
          </p:cNvPr>
          <p:cNvSpPr>
            <a:spLocks noGrp="1"/>
          </p:cNvSpPr>
          <p:nvPr/>
        </p:nvSpPr>
        <p:spPr>
          <a:xfrm>
            <a:off x="10668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7" name="">
            <a:extLst>
              <a:ext uri="{FF2B5EF4-FFF2-40B4-BE49-F238E27FC236}">
                <ns2:creationId id="{40A5E2BA-D21E-4B16-9F21-80E9CD55CFE9}"/>
              </a:ext>
            </a:extLst>
          </p:cNvPr>
          <p:cNvSpPr>
            <a:spLocks noGrp="1"/>
          </p:cNvSpPr>
          <p:nvPr/>
        </p:nvSpPr>
        <p:spPr>
          <a:xfrm>
            <a:off x="1524000" y="54387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" name=""/>
          <p:cNvCxnSpPr>
            <a:stCxn id="36" idx="3"/>
            <a:endCxn id="37" idx="1"/>
          </p:cNvCxnSpPr>
          <p:nvPr/>
        </p:nvCxnSpPr>
        <p:spPr>
          <a:xfrm flipH="1">
            <a:off x="1524000" y="5443538"/>
            <a:ext cx="915352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9" name="">
            <a:extLst>
              <a:ext uri="{FF2B5EF4-FFF2-40B4-BE49-F238E27FC236}">
                <ns2:creationId id="{5102195F-78C7-46F5-90D6-890ECDDB4719}"/>
              </a:ext>
            </a:extLst>
          </p:cNvPr>
          <p:cNvSpPr>
            <a:spLocks noGrp="1"/>
          </p:cNvSpPr>
          <p:nvPr/>
        </p:nvSpPr>
        <p:spPr>
          <a:xfrm>
            <a:off x="1666875" y="51435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⑥ 返回签名执行回执，更新手机历史</a:t>
            </a:r>
          </a:p>
        </p:txBody>
      </p:sp>
      <p:sp>
        <p:nvSpPr>
          <p:cNvPr id="40" name="">
            <a:extLst>
              <a:ext uri="{FF2B5EF4-FFF2-40B4-BE49-F238E27FC236}">
                <ns2:creationId id="{D1715060-AFA9-4A6F-A908-A7BAFD78901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钱包只接受预配置受信服务器和固定验证端点。当前是自定义 JWS 凭证，不是通用 VC 互操作。</a:t>
            </a:r>
          </a:p>
        </p:txBody>
      </p:sp>
      <p:sp>
        <p:nvSpPr>
          <p:cNvPr id="41" name="">
            <a:extLst>
              <a:ext uri="{FF2B5EF4-FFF2-40B4-BE49-F238E27FC236}">
                <ns2:creationId id="{1185EB25-089E-452B-A2DD-7E2A79E07F6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f3634bc6d784c40"/>
              </a:rPr>
              <a:t>MYA 实现与实测</a:t>
            </a:r>
          </a:p>
        </p:txBody>
      </p:sp>
    </p:spTree>
    <p:extLst>
      <p:ext uri="{BB962C8B-B14F-4D97-AF65-F5344CB8AC3E}">
        <ns4:creationId val="1332069911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8" name="">
            <a:extLst>
              <a:ext uri="{FF2B5EF4-FFF2-40B4-BE49-F238E27FC236}">
                <ns2:creationId id="{BC513701-DB78-4B60-8BE4-A4A814097AD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凭证链与行动一致性</a:t>
            </a:r>
          </a:p>
        </p:txBody>
      </p:sp>
      <p:sp>
        <p:nvSpPr>
          <p:cNvPr id="2" name="">
            <a:extLst>
              <a:ext uri="{FF2B5EF4-FFF2-40B4-BE49-F238E27FC236}">
                <ns2:creationId id="{A9DDEEB4-D739-40BF-A7D9-A57EBF10054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每一项签名证明不同事实，通过标识与摘要关联</a:t>
            </a:r>
          </a:p>
        </p:txBody>
      </p:sp>
      <p:sp>
        <p:nvSpPr>
          <p:cNvPr id="3" name="">
            <a:extLst>
              <a:ext uri="{FF2B5EF4-FFF2-40B4-BE49-F238E27FC236}">
                <ns2:creationId id="{C0DE9692-FEA9-4B5B-90F5-FD1635ECA43A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4" name="">
            <a:extLst>
              <a:ext uri="{FF2B5EF4-FFF2-40B4-BE49-F238E27FC236}">
                <ns2:creationId id="{A6322538-3B2C-4EE7-9D6C-942C130934D6}"/>
              </a:ext>
            </a:extLst>
          </p:cNvPr>
          <p:cNvSpPr>
            <a:spLocks noGrp="1"/>
          </p:cNvSpPr>
          <p:nvPr/>
        </p:nvSpPr>
        <p:spPr>
          <a:xfrm>
            <a:off x="581025" y="1971675"/>
            <a:ext cx="3162300" cy="107632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326C1D9E-3CD0-4BFE-A2F0-CE188A3CDB3D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28765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关系凭证</a:t>
            </a:r>
          </a:p>
        </p:txBody>
      </p:sp>
      <p:sp>
        <p:nvSpPr>
          <p:cNvPr id="6" name="">
            <a:extLst>
              <a:ext uri="{FF2B5EF4-FFF2-40B4-BE49-F238E27FC236}">
                <ns2:creationId id="{0E75D63A-F4F7-4376-B943-6E7F5F363BDD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28765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手机签：双方公钥 / 范围</a:t>
            </a:r>
          </a:p>
        </p:txBody>
      </p:sp>
      <p:sp>
        <p:nvSpPr>
          <p:cNvPr id="7" name="">
            <a:extLst>
              <a:ext uri="{FF2B5EF4-FFF2-40B4-BE49-F238E27FC236}">
                <ns2:creationId id="{A286F788-9A44-49D5-B3CF-32BFBBF009D8}"/>
              </a:ext>
            </a:extLst>
          </p:cNvPr>
          <p:cNvSpPr>
            <a:spLocks noGrp="1"/>
          </p:cNvSpPr>
          <p:nvPr/>
        </p:nvSpPr>
        <p:spPr>
          <a:xfrm>
            <a:off x="4371975" y="1971675"/>
            <a:ext cx="3219450" cy="107632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0B26722C-72F5-4737-9103-FA19CD22B83A}"/>
              </a:ext>
            </a:extLst>
          </p:cNvPr>
          <p:cNvSpPr>
            <a:spLocks noGrp="1"/>
          </p:cNvSpPr>
          <p:nvPr/>
        </p:nvSpPr>
        <p:spPr>
          <a:xfrm>
            <a:off x="4514850" y="2085975"/>
            <a:ext cx="2933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配对见证</a:t>
            </a:r>
          </a:p>
        </p:txBody>
      </p:sp>
      <p:sp>
        <p:nvSpPr>
          <p:cNvPr id="9" name="">
            <a:extLst>
              <a:ext uri="{FF2B5EF4-FFF2-40B4-BE49-F238E27FC236}">
                <ns2:creationId id="{9F17A8F4-202F-459E-9BC0-B89EA2544A18}"/>
              </a:ext>
            </a:extLst>
          </p:cNvPr>
          <p:cNvSpPr>
            <a:spLocks noGrp="1"/>
          </p:cNvSpPr>
          <p:nvPr/>
        </p:nvSpPr>
        <p:spPr>
          <a:xfrm>
            <a:off x="4514850" y="2476500"/>
            <a:ext cx="29337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见证签：关系摘要 / 绑定 ID</a:t>
            </a:r>
          </a:p>
        </p:txBody>
      </p:sp>
      <p:sp>
        <p:nvSpPr>
          <p:cNvPr id="10" name="">
            <a:extLst>
              <a:ext uri="{FF2B5EF4-FFF2-40B4-BE49-F238E27FC236}">
                <ns2:creationId id="{EADC4EB3-189F-4889-9C35-1D05492A4F4F}"/>
              </a:ext>
            </a:extLst>
          </p:cNvPr>
          <p:cNvSpPr>
            <a:spLocks noGrp="1"/>
          </p:cNvSpPr>
          <p:nvPr/>
        </p:nvSpPr>
        <p:spPr>
          <a:xfrm>
            <a:off x="8229600" y="1971675"/>
            <a:ext cx="3333750" cy="107632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000F7186-77FC-4CA6-9393-5DBFD371BDF4}"/>
              </a:ext>
            </a:extLst>
          </p:cNvPr>
          <p:cNvSpPr>
            <a:spLocks noGrp="1"/>
          </p:cNvSpPr>
          <p:nvPr/>
        </p:nvSpPr>
        <p:spPr>
          <a:xfrm>
            <a:off x="8372475" y="208597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行动授权</a:t>
            </a:r>
          </a:p>
        </p:txBody>
      </p:sp>
      <p:sp>
        <p:nvSpPr>
          <p:cNvPr id="12" name="">
            <a:extLst>
              <a:ext uri="{FF2B5EF4-FFF2-40B4-BE49-F238E27FC236}">
                <ns2:creationId id="{C8F47A8C-0446-4348-86F4-ECA0DC04B325}"/>
              </a:ext>
            </a:extLst>
          </p:cNvPr>
          <p:cNvSpPr>
            <a:spLocks noGrp="1"/>
          </p:cNvSpPr>
          <p:nvPr/>
        </p:nvSpPr>
        <p:spPr>
          <a:xfrm>
            <a:off x="8372475" y="2476500"/>
            <a:ext cx="304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手机签：请求 / 行动 / 时效</a:t>
            </a:r>
          </a:p>
        </p:txBody>
      </p:sp>
      <p:sp>
        <p:nvSpPr>
          <p:cNvPr id="13" name="">
            <a:extLst>
              <a:ext uri="{FF2B5EF4-FFF2-40B4-BE49-F238E27FC236}">
                <ns2:creationId id="{D0C0B6AD-85BD-4B8A-94B3-8743E537062C}"/>
              </a:ext>
            </a:extLst>
          </p:cNvPr>
          <p:cNvSpPr>
            <a:spLocks noGrp="1"/>
          </p:cNvSpPr>
          <p:nvPr/>
        </p:nvSpPr>
        <p:spPr>
          <a:xfrm>
            <a:off x="581025" y="4162425"/>
            <a:ext cx="7010400" cy="10953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C024BB6B-BF5E-4720-8371-55885FA88D8B}"/>
              </a:ext>
            </a:extLst>
          </p:cNvPr>
          <p:cNvSpPr>
            <a:spLocks noGrp="1"/>
          </p:cNvSpPr>
          <p:nvPr/>
        </p:nvSpPr>
        <p:spPr>
          <a:xfrm>
            <a:off x="723900" y="4276725"/>
            <a:ext cx="67246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挑战持钥证明：将三类凭证绑定到本次出示</a:t>
            </a:r>
          </a:p>
        </p:txBody>
      </p:sp>
      <p:sp>
        <p:nvSpPr>
          <p:cNvPr id="15" name="">
            <a:extLst>
              <a:ext uri="{FF2B5EF4-FFF2-40B4-BE49-F238E27FC236}">
                <ns2:creationId id="{EF020DD9-F1D4-4805-918F-047C886758E0}"/>
              </a:ext>
            </a:extLst>
          </p:cNvPr>
          <p:cNvSpPr>
            <a:spLocks noGrp="1"/>
          </p:cNvSpPr>
          <p:nvPr/>
        </p:nvSpPr>
        <p:spPr>
          <a:xfrm>
            <a:off x="723900" y="4667250"/>
            <a:ext cx="67246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签：nonce / 交易号 / 行动摘要 / 凭证集合摘要</a:t>
            </a:r>
          </a:p>
        </p:txBody>
      </p:sp>
      <p:sp>
        <p:nvSpPr>
          <p:cNvPr id="16" name="">
            <a:extLst>
              <a:ext uri="{FF2B5EF4-FFF2-40B4-BE49-F238E27FC236}">
                <ns2:creationId id="{BF12D8AC-B865-46CB-AB4E-057498286CCB}"/>
              </a:ext>
            </a:extLst>
          </p:cNvPr>
          <p:cNvSpPr>
            <a:spLocks noGrp="1"/>
          </p:cNvSpPr>
          <p:nvPr/>
        </p:nvSpPr>
        <p:spPr>
          <a:xfrm>
            <a:off x="8229600" y="4162425"/>
            <a:ext cx="3333750" cy="10953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7" name="">
            <a:extLst>
              <a:ext uri="{FF2B5EF4-FFF2-40B4-BE49-F238E27FC236}">
                <ns2:creationId id="{B0991694-BB39-4436-80F4-2865AA637FCB}"/>
              </a:ext>
            </a:extLst>
          </p:cNvPr>
          <p:cNvSpPr>
            <a:spLocks noGrp="1"/>
          </p:cNvSpPr>
          <p:nvPr/>
        </p:nvSpPr>
        <p:spPr>
          <a:xfrm>
            <a:off x="8372475" y="4276725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执行回执</a:t>
            </a:r>
          </a:p>
        </p:txBody>
      </p:sp>
      <p:sp>
        <p:nvSpPr>
          <p:cNvPr id="18" name="">
            <a:extLst>
              <a:ext uri="{FF2B5EF4-FFF2-40B4-BE49-F238E27FC236}">
                <ns2:creationId id="{B8C498EB-8CD9-4AE1-A968-ED9AB93442AF}"/>
              </a:ext>
            </a:extLst>
          </p:cNvPr>
          <p:cNvSpPr>
            <a:spLocks noGrp="1"/>
          </p:cNvSpPr>
          <p:nvPr/>
        </p:nvSpPr>
        <p:spPr>
          <a:xfrm>
            <a:off x="8372475" y="4667250"/>
            <a:ext cx="304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资源签：实际内容 / 授权 / 结果</a:t>
            </a:r>
          </a:p>
        </p:txBody>
      </p:sp>
      <p:sp>
        <p:nvSpPr>
          <p:cNvPr id="19" name="">
            <a:extLst>
              <a:ext uri="{FF2B5EF4-FFF2-40B4-BE49-F238E27FC236}">
                <ns2:creationId id="{44411475-2CE1-48BB-BDF4-2B522B8DF627}"/>
              </a:ext>
            </a:extLst>
          </p:cNvPr>
          <p:cNvSpPr>
            <a:spLocks noGrp="1"/>
          </p:cNvSpPr>
          <p:nvPr/>
        </p:nvSpPr>
        <p:spPr>
          <a:xfrm>
            <a:off x="2162175" y="30575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0" name="">
            <a:extLst>
              <a:ext uri="{FF2B5EF4-FFF2-40B4-BE49-F238E27FC236}">
                <ns2:creationId id="{D4C05AB4-12C0-424C-9DE7-F0D5591661CA}"/>
              </a:ext>
            </a:extLst>
          </p:cNvPr>
          <p:cNvSpPr>
            <a:spLocks noGrp="1"/>
          </p:cNvSpPr>
          <p:nvPr/>
        </p:nvSpPr>
        <p:spPr>
          <a:xfrm>
            <a:off x="2162175" y="36099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8" name=""/>
          <p:cNvCxnSpPr>
            <a:stCxn id="19" idx="3"/>
            <a:endCxn id="20" idx="1"/>
          </p:cNvCxnSpPr>
          <p:nvPr/>
        </p:nvCxnSpPr>
        <p:spPr>
          <a:xfrm flipH="1">
            <a:off x="2162175" y="3062288"/>
            <a:ext cx="9525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2" name="">
            <a:extLst>
              <a:ext uri="{FF2B5EF4-FFF2-40B4-BE49-F238E27FC236}">
                <ns2:creationId id="{0F230FA0-64CF-46EE-9F08-D761EBDCD73B}"/>
              </a:ext>
            </a:extLst>
          </p:cNvPr>
          <p:cNvSpPr>
            <a:spLocks noGrp="1"/>
          </p:cNvSpPr>
          <p:nvPr/>
        </p:nvSpPr>
        <p:spPr>
          <a:xfrm>
            <a:off x="5981700" y="30575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3" name="">
            <a:extLst>
              <a:ext uri="{FF2B5EF4-FFF2-40B4-BE49-F238E27FC236}">
                <ns2:creationId id="{50D3DBF6-A21F-43D5-B1A8-9371908F7F0C}"/>
              </a:ext>
            </a:extLst>
          </p:cNvPr>
          <p:cNvSpPr>
            <a:spLocks noGrp="1"/>
          </p:cNvSpPr>
          <p:nvPr/>
        </p:nvSpPr>
        <p:spPr>
          <a:xfrm>
            <a:off x="5981700" y="36099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1" name=""/>
          <p:cNvCxnSpPr>
            <a:stCxn id="22" idx="3"/>
            <a:endCxn id="23" idx="1"/>
          </p:cNvCxnSpPr>
          <p:nvPr/>
        </p:nvCxnSpPr>
        <p:spPr>
          <a:xfrm flipH="1">
            <a:off x="5981700" y="3062288"/>
            <a:ext cx="9525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5" name="">
            <a:extLst>
              <a:ext uri="{FF2B5EF4-FFF2-40B4-BE49-F238E27FC236}">
                <ns2:creationId id="{77131F99-E8CC-4DF4-A500-AEB49934AD0C}"/>
              </a:ext>
            </a:extLst>
          </p:cNvPr>
          <p:cNvSpPr>
            <a:spLocks noGrp="1"/>
          </p:cNvSpPr>
          <p:nvPr/>
        </p:nvSpPr>
        <p:spPr>
          <a:xfrm>
            <a:off x="9896475" y="3057525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6" name="">
            <a:extLst>
              <a:ext uri="{FF2B5EF4-FFF2-40B4-BE49-F238E27FC236}">
                <ns2:creationId id="{B385816A-33E4-4E94-83EE-3311E1549967}"/>
              </a:ext>
            </a:extLst>
          </p:cNvPr>
          <p:cNvSpPr>
            <a:spLocks noGrp="1"/>
          </p:cNvSpPr>
          <p:nvPr/>
        </p:nvSpPr>
        <p:spPr>
          <a:xfrm>
            <a:off x="9896475" y="3609975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4" name=""/>
          <p:cNvCxnSpPr>
            <a:stCxn id="25" idx="3"/>
            <a:endCxn id="26" idx="1"/>
          </p:cNvCxnSpPr>
          <p:nvPr/>
        </p:nvCxnSpPr>
        <p:spPr>
          <a:xfrm flipH="1">
            <a:off x="9896475" y="3062288"/>
            <a:ext cx="9525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8" name="">
            <a:extLst>
              <a:ext uri="{FF2B5EF4-FFF2-40B4-BE49-F238E27FC236}">
                <ns2:creationId id="{B5F5414A-1EFA-4F31-BC76-C80D0AF84096}"/>
              </a:ext>
            </a:extLst>
          </p:cNvPr>
          <p:cNvSpPr>
            <a:spLocks noGrp="1"/>
          </p:cNvSpPr>
          <p:nvPr/>
        </p:nvSpPr>
        <p:spPr>
          <a:xfrm>
            <a:off x="2162175" y="36195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9" name="">
            <a:extLst>
              <a:ext uri="{FF2B5EF4-FFF2-40B4-BE49-F238E27FC236}">
                <ns2:creationId id="{421F1B22-C7FF-4E0C-BAD8-A1FAF3EF116C}"/>
              </a:ext>
            </a:extLst>
          </p:cNvPr>
          <p:cNvSpPr>
            <a:spLocks noGrp="1"/>
          </p:cNvSpPr>
          <p:nvPr/>
        </p:nvSpPr>
        <p:spPr>
          <a:xfrm>
            <a:off x="9896475" y="36195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7" name=""/>
          <p:cNvCxnSpPr>
            <a:stCxn id="28" idx="3"/>
            <a:endCxn id="29" idx="1"/>
          </p:cNvCxnSpPr>
          <p:nvPr/>
        </p:nvCxnSpPr>
        <p:spPr>
          <a:xfrm>
            <a:off x="2171700" y="3624263"/>
            <a:ext cx="7724775" cy="0"/>
          </a:xfrm>
          <a:prstGeom prst="straightConnector1">
            <a:avLst/>
          </a:prstGeom>
          <a:ln w="19050">
            <a:solidFill>
              <a:srgbClr val="137D67"/>
            </a:solidFill>
          </a:ln>
        </p:spPr>
      </p:cxnSp>
      <p:sp>
        <p:nvSpPr>
          <p:cNvPr id="31" name="">
            <a:extLst>
              <a:ext uri="{FF2B5EF4-FFF2-40B4-BE49-F238E27FC236}">
                <ns2:creationId id="{9009FF90-C0BE-4432-8F45-08A293D4C361}"/>
              </a:ext>
            </a:extLst>
          </p:cNvPr>
          <p:cNvSpPr>
            <a:spLocks noGrp="1"/>
          </p:cNvSpPr>
          <p:nvPr/>
        </p:nvSpPr>
        <p:spPr>
          <a:xfrm>
            <a:off x="4086225" y="36195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2" name="">
            <a:extLst>
              <a:ext uri="{FF2B5EF4-FFF2-40B4-BE49-F238E27FC236}">
                <ns2:creationId id="{1C14A650-B3FE-4547-86D8-B513725B59C3}"/>
              </a:ext>
            </a:extLst>
          </p:cNvPr>
          <p:cNvSpPr>
            <a:spLocks noGrp="1"/>
          </p:cNvSpPr>
          <p:nvPr/>
        </p:nvSpPr>
        <p:spPr>
          <a:xfrm>
            <a:off x="4086225" y="413385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0" name=""/>
          <p:cNvCxnSpPr>
            <a:stCxn id="31" idx="3"/>
            <a:endCxn id="32" idx="1"/>
          </p:cNvCxnSpPr>
          <p:nvPr/>
        </p:nvCxnSpPr>
        <p:spPr>
          <a:xfrm flipH="1">
            <a:off x="4086225" y="3624263"/>
            <a:ext cx="9525" cy="51435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71" name=""/>
          <p:cNvCxnSpPr>
            <a:stCxn id="13" idx="3"/>
            <a:endCxn id="16" idx="1"/>
          </p:cNvCxnSpPr>
          <p:nvPr/>
        </p:nvCxnSpPr>
        <p:spPr>
          <a:xfrm>
            <a:off x="7591425" y="4710113"/>
            <a:ext cx="638175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5" name="">
            <a:extLst>
              <a:ext uri="{FF2B5EF4-FFF2-40B4-BE49-F238E27FC236}">
                <ns2:creationId id="{21C123C0-E983-4052-B0E0-2E32DDC0DA21}"/>
              </a:ext>
            </a:extLst>
          </p:cNvPr>
          <p:cNvSpPr>
            <a:spLocks noGrp="1"/>
          </p:cNvSpPr>
          <p:nvPr/>
        </p:nvSpPr>
        <p:spPr>
          <a:xfrm>
            <a:off x="628650" y="5457825"/>
            <a:ext cx="10763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一致检查：关系 · 请求版本 · 接收方 · 内容摘要 · 有效期</a:t>
            </a:r>
          </a:p>
        </p:txBody>
      </p:sp>
      <p:sp>
        <p:nvSpPr>
          <p:cNvPr id="36" name="">
            <a:extLst>
              <a:ext uri="{FF2B5EF4-FFF2-40B4-BE49-F238E27FC236}">
                <ns2:creationId id="{8475F506-EC1C-4B85-BDFF-6C46F706A8D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真实执行后 13 项检查曾全部通过。授权后来过期，不改变历史回执，也不产生新的执行权限。</a:t>
            </a:r>
          </a:p>
        </p:txBody>
      </p:sp>
      <p:sp>
        <p:nvSpPr>
          <p:cNvPr id="37" name="">
            <a:extLst>
              <a:ext uri="{FF2B5EF4-FFF2-40B4-BE49-F238E27FC236}">
                <ns2:creationId id="{DD20359C-D292-4A1E-A24A-C89F2736A238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99fabd5438b74f18"/>
              </a:rPr>
              <a:t>MYA 实现与实测</a:t>
            </a:r>
          </a:p>
        </p:txBody>
      </p:sp>
    </p:spTree>
    <p:extLst>
      <p:ext uri="{BB962C8B-B14F-4D97-AF65-F5344CB8AC3E}">
        <ns4:creationId val="763577089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">
            <a:extLst>
              <a:ext uri="{FF2B5EF4-FFF2-40B4-BE49-F238E27FC236}">
                <ns2:creationId id="{D250A4D5-629E-40BC-A26D-F3780F647C7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两个检查入口，一条授权协作流程</a:t>
            </a:r>
          </a:p>
        </p:txBody>
      </p:sp>
      <p:sp>
        <p:nvSpPr>
          <p:cNvPr id="2" name="">
            <a:extLst>
              <a:ext uri="{FF2B5EF4-FFF2-40B4-BE49-F238E27FC236}">
                <ns2:creationId id="{15712490-1ACD-4F6E-BB1E-53EC0637422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外部拦截与内部检查点配合，让认证器融入现有业务流程</a:t>
            </a:r>
          </a:p>
        </p:txBody>
      </p:sp>
      <p:sp>
        <p:nvSpPr>
          <p:cNvPr id="3" name="">
            <a:extLst>
              <a:ext uri="{FF2B5EF4-FFF2-40B4-BE49-F238E27FC236}">
                <ns2:creationId id="{59A99F20-A123-4120-91FF-3570E4C855E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4" name="">
            <a:extLst>
              <a:ext uri="{FF2B5EF4-FFF2-40B4-BE49-F238E27FC236}">
                <ns2:creationId id="{6E72E3A6-6C80-4F1D-9018-550BE9185FB5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4905375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A0C510DB-3FF9-4A48-B320-E4FFF4B93162}"/>
              </a:ext>
            </a:extLst>
          </p:cNvPr>
          <p:cNvSpPr>
            <a:spLocks noGrp="1"/>
          </p:cNvSpPr>
          <p:nvPr/>
        </p:nvSpPr>
        <p:spPr>
          <a:xfrm>
            <a:off x="762000" y="19240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入口 A：业务系统拦截</a:t>
            </a:r>
          </a:p>
        </p:txBody>
      </p:sp>
      <p:sp>
        <p:nvSpPr>
          <p:cNvPr id="6" name="">
            <a:extLst>
              <a:ext uri="{FF2B5EF4-FFF2-40B4-BE49-F238E27FC236}">
                <ns2:creationId id="{02B6E10F-3960-4D78-8B4D-EF38BC27A43C}"/>
              </a:ext>
            </a:extLst>
          </p:cNvPr>
          <p:cNvSpPr>
            <a:spLocks noGrp="1"/>
          </p:cNvSpPr>
          <p:nvPr/>
        </p:nvSpPr>
        <p:spPr>
          <a:xfrm>
            <a:off x="762000" y="2314575"/>
            <a:ext cx="4619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返回缺失授权、凭证要求或受信挑战</a:t>
            </a:r>
          </a:p>
        </p:txBody>
      </p:sp>
      <p:sp>
        <p:nvSpPr>
          <p:cNvPr id="7" name="">
            <a:extLst>
              <a:ext uri="{FF2B5EF4-FFF2-40B4-BE49-F238E27FC236}">
                <ns2:creationId id="{F25EB20D-E977-4F52-8812-11E332B69C61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4905375" cy="1057275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8" name="">
            <a:extLst>
              <a:ext uri="{FF2B5EF4-FFF2-40B4-BE49-F238E27FC236}">
                <ns2:creationId id="{3E8C9491-FF9D-42E4-8935-D78BB191CC6F}"/>
              </a:ext>
            </a:extLst>
          </p:cNvPr>
          <p:cNvSpPr>
            <a:spLocks noGrp="1"/>
          </p:cNvSpPr>
          <p:nvPr/>
        </p:nvSpPr>
        <p:spPr>
          <a:xfrm>
            <a:off x="6810375" y="1924050"/>
            <a:ext cx="4619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入口 B：Agent 运行环境 Hook</a:t>
            </a:r>
          </a:p>
        </p:txBody>
      </p:sp>
      <p:sp>
        <p:nvSpPr>
          <p:cNvPr id="9" name="">
            <a:extLst>
              <a:ext uri="{FF2B5EF4-FFF2-40B4-BE49-F238E27FC236}">
                <ns2:creationId id="{65B330E8-C88B-46A0-B143-4B927056BF8A}"/>
              </a:ext>
            </a:extLst>
          </p:cNvPr>
          <p:cNvSpPr>
            <a:spLocks noGrp="1"/>
          </p:cNvSpPr>
          <p:nvPr/>
        </p:nvSpPr>
        <p:spPr>
          <a:xfrm>
            <a:off x="6810375" y="2314575"/>
            <a:ext cx="46196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工具执行前检查；不足则阻止并反馈</a:t>
            </a:r>
          </a:p>
        </p:txBody>
      </p:sp>
      <p:sp>
        <p:nvSpPr>
          <p:cNvPr id="10" name="">
            <a:extLst>
              <a:ext uri="{FF2B5EF4-FFF2-40B4-BE49-F238E27FC236}">
                <ns2:creationId id="{2DCA8757-4596-4B0A-9B92-C1B08693030D}"/>
              </a:ext>
            </a:extLst>
          </p:cNvPr>
          <p:cNvSpPr>
            <a:spLocks noGrp="1"/>
          </p:cNvSpPr>
          <p:nvPr/>
        </p:nvSpPr>
        <p:spPr>
          <a:xfrm>
            <a:off x="3514725" y="3390900"/>
            <a:ext cx="5162550" cy="1028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9C4C1F14-8CF5-49B0-BE15-AE11CB16AB28}"/>
              </a:ext>
            </a:extLst>
          </p:cNvPr>
          <p:cNvSpPr>
            <a:spLocks noGrp="1"/>
          </p:cNvSpPr>
          <p:nvPr/>
        </p:nvSpPr>
        <p:spPr>
          <a:xfrm>
            <a:off x="3657600" y="3505200"/>
            <a:ext cx="4876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理解要求，自主决定调用 Skill</a:t>
            </a:r>
          </a:p>
        </p:txBody>
      </p:sp>
      <p:sp>
        <p:nvSpPr>
          <p:cNvPr id="12" name="">
            <a:extLst>
              <a:ext uri="{FF2B5EF4-FFF2-40B4-BE49-F238E27FC236}">
                <ns2:creationId id="{66BE41D8-300C-4CFE-A3A0-E1B6BC5B68F0}"/>
              </a:ext>
            </a:extLst>
          </p:cNvPr>
          <p:cNvSpPr>
            <a:spLocks noGrp="1"/>
          </p:cNvSpPr>
          <p:nvPr/>
        </p:nvSpPr>
        <p:spPr>
          <a:xfrm>
            <a:off x="3657600" y="3895725"/>
            <a:ext cx="48768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读取授权要求；选择钱包能力处理，并持续跟进</a:t>
            </a:r>
          </a:p>
        </p:txBody>
      </p:sp>
      <p:cxnSp>
        <p:nvCxnSpPr>
          <p:cNvPr id="43" name=""/>
          <p:cNvCxnSpPr>
            <a:stCxn id="4" idx="2"/>
            <a:endCxn id="10" idx="1"/>
          </p:cNvCxnSpPr>
          <p:nvPr/>
        </p:nvCxnSpPr>
        <p:spPr>
          <a:xfrm>
            <a:off x="3071813" y="2867025"/>
            <a:ext cx="442913" cy="1038225"/>
          </a:xfrm>
          <a:prstGeom prst="bentConnector5">
            <a:avLst>
              <a:gd name="adj1" fmla="val 0"/>
              <a:gd name="adj2" fmla="val 22018"/>
              <a:gd name="adj3" fmla="val 48387"/>
            </a:avLst>
          </a:prstGeom>
          <a:ln w="19050">
            <a:solidFill>
              <a:srgbClr val="137D67"/>
            </a:solidFill>
            <a:tailEnd type="arrow" w="med" len="med"/>
          </a:ln>
        </p:spPr>
      </p:cxnSp>
      <p:cxnSp>
        <p:nvCxnSpPr>
          <p:cNvPr id="44" name=""/>
          <p:cNvCxnSpPr>
            <a:stCxn id="7" idx="2"/>
            <a:endCxn id="10" idx="3"/>
          </p:cNvCxnSpPr>
          <p:nvPr/>
        </p:nvCxnSpPr>
        <p:spPr>
          <a:xfrm flipH="1">
            <a:off x="8677275" y="2867025"/>
            <a:ext cx="442913" cy="1038225"/>
          </a:xfrm>
          <a:prstGeom prst="bentConnector5">
            <a:avLst>
              <a:gd name="adj1" fmla="val 0"/>
              <a:gd name="adj2" fmla="val 22018"/>
              <a:gd name="adj3" fmla="val 48387"/>
            </a:avLst>
          </a:prstGeom>
          <a:ln w="19050">
            <a:solidFill>
              <a:srgbClr val="137D67"/>
            </a:solidFill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029BB178-19F1-4433-B391-CC43CE93F1F7}"/>
              </a:ext>
            </a:extLst>
          </p:cNvPr>
          <p:cNvSpPr>
            <a:spLocks noGrp="1"/>
          </p:cNvSpPr>
          <p:nvPr/>
        </p:nvSpPr>
        <p:spPr>
          <a:xfrm>
            <a:off x="619125" y="4876800"/>
            <a:ext cx="2876550" cy="10191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7D71E245-B687-4238-8386-D4C91A13F06A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Skill → 钱包</a:t>
            </a:r>
          </a:p>
        </p:txBody>
      </p:sp>
      <p:sp>
        <p:nvSpPr>
          <p:cNvPr id="17" name="">
            <a:extLst>
              <a:ext uri="{FF2B5EF4-FFF2-40B4-BE49-F238E27FC236}">
                <ns2:creationId id="{72AB004B-4C50-4357-BDC5-763C3C0BB634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259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发起请求 · 持续等待</a:t>
            </a:r>
          </a:p>
        </p:txBody>
      </p:sp>
      <p:sp>
        <p:nvSpPr>
          <p:cNvPr id="18" name="">
            <a:extLst>
              <a:ext uri="{FF2B5EF4-FFF2-40B4-BE49-F238E27FC236}">
                <ns2:creationId id="{F8F801AB-3FE0-4E53-B885-E876B02B0FA4}"/>
              </a:ext>
            </a:extLst>
          </p:cNvPr>
          <p:cNvSpPr>
            <a:spLocks noGrp="1"/>
          </p:cNvSpPr>
          <p:nvPr/>
        </p:nvSpPr>
        <p:spPr>
          <a:xfrm>
            <a:off x="4657725" y="4876800"/>
            <a:ext cx="2876550" cy="10191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ns2:creationId id="{C877CFA3-F653-4892-AFB3-839239EEED1B}"/>
              </a:ext>
            </a:extLst>
          </p:cNvPr>
          <p:cNvSpPr>
            <a:spLocks noGrp="1"/>
          </p:cNvSpPr>
          <p:nvPr/>
        </p:nvSpPr>
        <p:spPr>
          <a:xfrm>
            <a:off x="4800600" y="4991100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手机用户决定</a:t>
            </a:r>
          </a:p>
        </p:txBody>
      </p:sp>
      <p:sp>
        <p:nvSpPr>
          <p:cNvPr id="20" name="">
            <a:extLst>
              <a:ext uri="{FF2B5EF4-FFF2-40B4-BE49-F238E27FC236}">
                <ns2:creationId id="{7BC99062-9DD9-4D20-BBBB-5A1EF1B13BBC}"/>
              </a:ext>
            </a:extLst>
          </p:cNvPr>
          <p:cNvSpPr>
            <a:spLocks noGrp="1"/>
          </p:cNvSpPr>
          <p:nvPr/>
        </p:nvSpPr>
        <p:spPr>
          <a:xfrm>
            <a:off x="4800600" y="5381625"/>
            <a:ext cx="259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审阅 / 修改 / 签署授权</a:t>
            </a:r>
          </a:p>
        </p:txBody>
      </p:sp>
      <p:sp>
        <p:nvSpPr>
          <p:cNvPr id="21" name="">
            <a:extLst>
              <a:ext uri="{FF2B5EF4-FFF2-40B4-BE49-F238E27FC236}">
                <ns2:creationId id="{BB8DE261-8F7F-4FDE-B52E-95E28D4B160C}"/>
              </a:ext>
            </a:extLst>
          </p:cNvPr>
          <p:cNvSpPr>
            <a:spLocks noGrp="1"/>
          </p:cNvSpPr>
          <p:nvPr/>
        </p:nvSpPr>
        <p:spPr>
          <a:xfrm>
            <a:off x="8696325" y="4876800"/>
            <a:ext cx="2876550" cy="1019175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4763D159-DC3B-4DBA-8BF8-3AC963CFA6B2}"/>
              </a:ext>
            </a:extLst>
          </p:cNvPr>
          <p:cNvSpPr>
            <a:spLocks noGrp="1"/>
          </p:cNvSpPr>
          <p:nvPr/>
        </p:nvSpPr>
        <p:spPr>
          <a:xfrm>
            <a:off x="8839200" y="4991100"/>
            <a:ext cx="2590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 → 重试</a:t>
            </a:r>
          </a:p>
        </p:txBody>
      </p:sp>
      <p:sp>
        <p:nvSpPr>
          <p:cNvPr id="23" name="">
            <a:extLst>
              <a:ext uri="{FF2B5EF4-FFF2-40B4-BE49-F238E27FC236}">
                <ns2:creationId id="{185ABBD2-7F57-4C8D-A67F-363C5E13DFFE}"/>
              </a:ext>
            </a:extLst>
          </p:cNvPr>
          <p:cNvSpPr>
            <a:spLocks noGrp="1"/>
          </p:cNvSpPr>
          <p:nvPr/>
        </p:nvSpPr>
        <p:spPr>
          <a:xfrm>
            <a:off x="8839200" y="5381625"/>
            <a:ext cx="2590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业务方再验证，执行并回执</a:t>
            </a:r>
          </a:p>
        </p:txBody>
      </p:sp>
      <p:cxnSp>
        <p:nvCxnSpPr>
          <p:cNvPr id="54" name=""/>
          <p:cNvCxnSpPr>
            <a:stCxn id="10" idx="2"/>
            <a:endCxn id="15" idx="0"/>
          </p:cNvCxnSpPr>
          <p:nvPr/>
        </p:nvCxnSpPr>
        <p:spPr>
          <a:xfrm flipH="1">
            <a:off x="2057400" y="4419600"/>
            <a:ext cx="4038600" cy="4572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37D67"/>
            </a:solidFill>
            <a:tailEnd type="arrow" w="med" len="med"/>
          </a:ln>
        </p:spPr>
      </p:cxnSp>
      <p:cxnSp>
        <p:nvCxnSpPr>
          <p:cNvPr id="55" name=""/>
          <p:cNvCxnSpPr>
            <a:stCxn id="15" idx="3"/>
            <a:endCxn id="18" idx="1"/>
          </p:cNvCxnSpPr>
          <p:nvPr/>
        </p:nvCxnSpPr>
        <p:spPr>
          <a:xfrm>
            <a:off x="3495675" y="5386388"/>
            <a:ext cx="11620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6" name=""/>
          <p:cNvCxnSpPr>
            <a:stCxn id="18" idx="3"/>
            <a:endCxn id="21" idx="1"/>
          </p:cNvCxnSpPr>
          <p:nvPr/>
        </p:nvCxnSpPr>
        <p:spPr>
          <a:xfrm>
            <a:off x="7534275" y="5386388"/>
            <a:ext cx="11620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7" name="">
            <a:extLst>
              <a:ext uri="{FF2B5EF4-FFF2-40B4-BE49-F238E27FC236}">
                <ns2:creationId id="{0E8FCBAD-1E71-4746-9290-C9E45B76F86D}"/>
              </a:ext>
            </a:extLst>
          </p:cNvPr>
          <p:cNvSpPr>
            <a:spLocks noGrp="1"/>
          </p:cNvSpPr>
          <p:nvPr/>
        </p:nvSpPr>
        <p:spPr>
          <a:xfrm>
            <a:off x="3609975" y="5086350"/>
            <a:ext cx="1000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申请审批</a:t>
            </a:r>
          </a:p>
        </p:txBody>
      </p:sp>
      <p:sp>
        <p:nvSpPr>
          <p:cNvPr id="28" name="">
            <a:extLst>
              <a:ext uri="{FF2B5EF4-FFF2-40B4-BE49-F238E27FC236}">
                <ns2:creationId id="{29C14939-1ECD-430C-A917-A35CD2759044}"/>
              </a:ext>
            </a:extLst>
          </p:cNvPr>
          <p:cNvSpPr>
            <a:spLocks noGrp="1"/>
          </p:cNvSpPr>
          <p:nvPr/>
        </p:nvSpPr>
        <p:spPr>
          <a:xfrm>
            <a:off x="7600950" y="5086350"/>
            <a:ext cx="1066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授权经钱包</a:t>
            </a:r>
          </a:p>
        </p:txBody>
      </p:sp>
      <p:sp>
        <p:nvSpPr>
          <p:cNvPr id="29" name="">
            <a:extLst>
              <a:ext uri="{FF2B5EF4-FFF2-40B4-BE49-F238E27FC236}">
                <ns2:creationId id="{A6468C49-0BA8-4808-A1F4-E1AD756DF9E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Skill 由 Agent 调用；Hook 不代替 Agent 决策。当前 Hook 热插入未通过，通用外部授权适配仍待扩展。</a:t>
            </a:r>
          </a:p>
        </p:txBody>
      </p:sp>
      <p:sp>
        <p:nvSpPr>
          <p:cNvPr id="30" name="">
            <a:extLst>
              <a:ext uri="{FF2B5EF4-FFF2-40B4-BE49-F238E27FC236}">
                <ns2:creationId id="{2776A0E1-B078-43CA-99AF-A793A6E5D1F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de6ae29809014767"/>
              </a:rPr>
              <a:t>MYA 实现与实测</a:t>
            </a:r>
          </a:p>
        </p:txBody>
      </p:sp>
    </p:spTree>
    <p:extLst>
      <p:ext uri="{BB962C8B-B14F-4D97-AF65-F5344CB8AC3E}">
        <ns4:creationId val="1033655230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3" name="">
            <a:extLst>
              <a:ext uri="{FF2B5EF4-FFF2-40B4-BE49-F238E27FC236}">
                <ns2:creationId id="{88C0FA5B-06E6-4E60-BB43-C81E7F7308C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多 Agent 与企业审批扩展</a:t>
            </a:r>
          </a:p>
        </p:txBody>
      </p:sp>
      <p:sp>
        <p:nvSpPr>
          <p:cNvPr id="2" name="">
            <a:extLst>
              <a:ext uri="{FF2B5EF4-FFF2-40B4-BE49-F238E27FC236}">
                <ns2:creationId id="{53139120-7C1B-484D-B984-652F0CC1DDC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目标架构：用户统一管理关系，业务资源保留最终授权控制</a:t>
            </a:r>
          </a:p>
        </p:txBody>
      </p:sp>
      <p:sp>
        <p:nvSpPr>
          <p:cNvPr id="3" name="">
            <a:extLst>
              <a:ext uri="{FF2B5EF4-FFF2-40B4-BE49-F238E27FC236}">
                <ns2:creationId id="{F8DEC1F8-FF64-458F-8DC4-6CB13AD2104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4" name="">
            <a:extLst>
              <a:ext uri="{FF2B5EF4-FFF2-40B4-BE49-F238E27FC236}">
                <ns2:creationId id="{90EB8D19-2186-49D7-87FE-69E455A42C19}"/>
              </a:ext>
            </a:extLst>
          </p:cNvPr>
          <p:cNvSpPr>
            <a:spLocks noGrp="1"/>
          </p:cNvSpPr>
          <p:nvPr/>
        </p:nvSpPr>
        <p:spPr>
          <a:xfrm>
            <a:off x="504825" y="1809750"/>
            <a:ext cx="2628900" cy="3724275"/>
          </a:xfrm>
          <a:prstGeom prst="rect">
            <a:avLst/>
          </a:prstGeom>
          <a:noFill/>
          <a:ln w="9525">
            <a:solidFill>
              <a:srgbClr val="A6B9AD"/>
            </a:solidFill>
            <a:prstDash val="dash"/>
          </a:ln>
        </p:spPr>
      </p:sp>
      <p:sp>
        <p:nvSpPr>
          <p:cNvPr id="5" name="">
            <a:extLst>
              <a:ext uri="{FF2B5EF4-FFF2-40B4-BE49-F238E27FC236}">
                <ns2:creationId id="{3A44E70E-6111-4319-950D-ACDE075AB1EA}"/>
              </a:ext>
            </a:extLst>
          </p:cNvPr>
          <p:cNvSpPr>
            <a:spLocks noGrp="1"/>
          </p:cNvSpPr>
          <p:nvPr/>
        </p:nvSpPr>
        <p:spPr>
          <a:xfrm>
            <a:off x="619125" y="1885950"/>
            <a:ext cx="24003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不同执行 Agent</a:t>
            </a:r>
          </a:p>
        </p:txBody>
      </p:sp>
      <p:sp>
        <p:nvSpPr>
          <p:cNvPr id="6" name="">
            <a:extLst>
              <a:ext uri="{FF2B5EF4-FFF2-40B4-BE49-F238E27FC236}">
                <ns2:creationId id="{229F306B-637C-4E14-B7A1-D4DDEC3A492C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247900" cy="85725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7" name="">
            <a:extLst>
              <a:ext uri="{FF2B5EF4-FFF2-40B4-BE49-F238E27FC236}">
                <ns2:creationId id="{129713AD-F57C-45F7-9E1E-5F9DE3240EF6}"/>
              </a:ext>
            </a:extLst>
          </p:cNvPr>
          <p:cNvSpPr>
            <a:spLocks noGrp="1"/>
          </p:cNvSpPr>
          <p:nvPr/>
        </p:nvSpPr>
        <p:spPr>
          <a:xfrm>
            <a:off x="828675" y="2457450"/>
            <a:ext cx="1962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研发 Agent</a:t>
            </a:r>
          </a:p>
        </p:txBody>
      </p:sp>
      <p:sp>
        <p:nvSpPr>
          <p:cNvPr id="8" name="">
            <a:extLst>
              <a:ext uri="{FF2B5EF4-FFF2-40B4-BE49-F238E27FC236}">
                <ns2:creationId id="{F895AD5C-3124-4ED2-93A0-464A18AA46BC}"/>
              </a:ext>
            </a:extLst>
          </p:cNvPr>
          <p:cNvSpPr>
            <a:spLocks noGrp="1"/>
          </p:cNvSpPr>
          <p:nvPr/>
        </p:nvSpPr>
        <p:spPr>
          <a:xfrm>
            <a:off x="828675" y="2847975"/>
            <a:ext cx="19621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变更 / 发布</a:t>
            </a:r>
          </a:p>
        </p:txBody>
      </p:sp>
      <p:sp>
        <p:nvSpPr>
          <p:cNvPr id="9" name="">
            <a:extLst>
              <a:ext uri="{FF2B5EF4-FFF2-40B4-BE49-F238E27FC236}">
                <ns2:creationId id="{FF2017D9-600D-4977-A6DF-D4DEB33A333D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2247900" cy="85725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10" name="">
            <a:extLst>
              <a:ext uri="{FF2B5EF4-FFF2-40B4-BE49-F238E27FC236}">
                <ns2:creationId id="{7CCBAD2D-8C9B-4CCE-B3DF-AF1088DE78A4}"/>
              </a:ext>
            </a:extLst>
          </p:cNvPr>
          <p:cNvSpPr>
            <a:spLocks noGrp="1"/>
          </p:cNvSpPr>
          <p:nvPr/>
        </p:nvSpPr>
        <p:spPr>
          <a:xfrm>
            <a:off x="828675" y="3600450"/>
            <a:ext cx="1962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运营 Agent</a:t>
            </a:r>
          </a:p>
        </p:txBody>
      </p:sp>
      <p:sp>
        <p:nvSpPr>
          <p:cNvPr id="11" name="">
            <a:extLst>
              <a:ext uri="{FF2B5EF4-FFF2-40B4-BE49-F238E27FC236}">
                <ns2:creationId id="{273F9DD0-9D22-419A-A1D5-B45F53DAD814}"/>
              </a:ext>
            </a:extLst>
          </p:cNvPr>
          <p:cNvSpPr>
            <a:spLocks noGrp="1"/>
          </p:cNvSpPr>
          <p:nvPr/>
        </p:nvSpPr>
        <p:spPr>
          <a:xfrm>
            <a:off x="828675" y="3990975"/>
            <a:ext cx="19621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复核 / 业务办理</a:t>
            </a:r>
          </a:p>
        </p:txBody>
      </p:sp>
      <p:sp>
        <p:nvSpPr>
          <p:cNvPr id="12" name="">
            <a:extLst>
              <a:ext uri="{FF2B5EF4-FFF2-40B4-BE49-F238E27FC236}">
                <ns2:creationId id="{7AA2FB2E-A8EA-43C0-8DB8-85DA08B18566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2247900" cy="76200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13" name="">
            <a:extLst>
              <a:ext uri="{FF2B5EF4-FFF2-40B4-BE49-F238E27FC236}">
                <ns2:creationId id="{5DC1576D-1662-4EBC-801C-72FE56EEF9BE}"/>
              </a:ext>
            </a:extLst>
          </p:cNvPr>
          <p:cNvSpPr>
            <a:spLocks noGrp="1"/>
          </p:cNvSpPr>
          <p:nvPr/>
        </p:nvSpPr>
        <p:spPr>
          <a:xfrm>
            <a:off x="828675" y="4743450"/>
            <a:ext cx="19621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生活 Agent</a:t>
            </a:r>
          </a:p>
        </p:txBody>
      </p:sp>
      <p:sp>
        <p:nvSpPr>
          <p:cNvPr id="14" name="">
            <a:extLst>
              <a:ext uri="{FF2B5EF4-FFF2-40B4-BE49-F238E27FC236}">
                <ns2:creationId id="{04176777-F9D8-4458-82C9-75DF897EC84B}"/>
              </a:ext>
            </a:extLst>
          </p:cNvPr>
          <p:cNvSpPr>
            <a:spLocks noGrp="1"/>
          </p:cNvSpPr>
          <p:nvPr/>
        </p:nvSpPr>
        <p:spPr>
          <a:xfrm>
            <a:off x="828675" y="5133975"/>
            <a:ext cx="19621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服务 / 支付申请</a:t>
            </a:r>
          </a:p>
        </p:txBody>
      </p:sp>
      <p:sp>
        <p:nvSpPr>
          <p:cNvPr id="15" name="">
            <a:extLst>
              <a:ext uri="{FF2B5EF4-FFF2-40B4-BE49-F238E27FC236}">
                <ns2:creationId id="{D3E2767E-FE3F-41CA-9F12-9BAEFC011B8F}"/>
              </a:ext>
            </a:extLst>
          </p:cNvPr>
          <p:cNvSpPr>
            <a:spLocks noGrp="1"/>
          </p:cNvSpPr>
          <p:nvPr/>
        </p:nvSpPr>
        <p:spPr>
          <a:xfrm>
            <a:off x="4171950" y="3067050"/>
            <a:ext cx="3209925" cy="14097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9DA7FAB4-5008-4F02-8959-ED4903F5F5AF}"/>
              </a:ext>
            </a:extLst>
          </p:cNvPr>
          <p:cNvSpPr>
            <a:spLocks noGrp="1"/>
          </p:cNvSpPr>
          <p:nvPr/>
        </p:nvSpPr>
        <p:spPr>
          <a:xfrm>
            <a:off x="4314825" y="3181350"/>
            <a:ext cx="29241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用户审批入口</a:t>
            </a:r>
          </a:p>
        </p:txBody>
      </p:sp>
      <p:sp>
        <p:nvSpPr>
          <p:cNvPr id="17" name="">
            <a:extLst>
              <a:ext uri="{FF2B5EF4-FFF2-40B4-BE49-F238E27FC236}">
                <ns2:creationId id="{80F5388D-475A-4F48-BCEC-1288F2EC71EA}"/>
              </a:ext>
            </a:extLst>
          </p:cNvPr>
          <p:cNvSpPr>
            <a:spLocks noGrp="1"/>
          </p:cNvSpPr>
          <p:nvPr/>
        </p:nvSpPr>
        <p:spPr>
          <a:xfrm>
            <a:off x="4314825" y="3571875"/>
            <a:ext cx="292417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分别绑定 · 独立范围</a:t>
            </a:r>
          </a:p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版本决策 · 历史审计</a:t>
            </a:r>
          </a:p>
        </p:txBody>
      </p:sp>
      <p:sp>
        <p:nvSpPr>
          <p:cNvPr id="18" name="">
            <a:extLst>
              <a:ext uri="{FF2B5EF4-FFF2-40B4-BE49-F238E27FC236}">
                <ns2:creationId id="{1EF59CED-3413-4183-9AC4-3D8ED759C0EA}"/>
              </a:ext>
            </a:extLst>
          </p:cNvPr>
          <p:cNvSpPr>
            <a:spLocks noGrp="1"/>
          </p:cNvSpPr>
          <p:nvPr/>
        </p:nvSpPr>
        <p:spPr>
          <a:xfrm>
            <a:off x="8448675" y="1990725"/>
            <a:ext cx="31432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19" name="">
            <a:extLst>
              <a:ext uri="{FF2B5EF4-FFF2-40B4-BE49-F238E27FC236}">
                <ns2:creationId id="{B8A45EF7-6690-42D8-9EB7-7A68AE10C27F}"/>
              </a:ext>
            </a:extLst>
          </p:cNvPr>
          <p:cNvSpPr>
            <a:spLocks noGrp="1"/>
          </p:cNvSpPr>
          <p:nvPr/>
        </p:nvSpPr>
        <p:spPr>
          <a:xfrm>
            <a:off x="8591550" y="210502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组织身份与审批体系</a:t>
            </a:r>
          </a:p>
        </p:txBody>
      </p:sp>
      <p:sp>
        <p:nvSpPr>
          <p:cNvPr id="20" name="">
            <a:extLst>
              <a:ext uri="{FF2B5EF4-FFF2-40B4-BE49-F238E27FC236}">
                <ns2:creationId id="{B2533180-02DC-489A-83F9-EF0D2E8EED59}"/>
              </a:ext>
            </a:extLst>
          </p:cNvPr>
          <p:cNvSpPr>
            <a:spLocks noGrp="1"/>
          </p:cNvSpPr>
          <p:nvPr/>
        </p:nvSpPr>
        <p:spPr>
          <a:xfrm>
            <a:off x="8591550" y="2495550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DID / VC · 角色 · 多级审批</a:t>
            </a:r>
          </a:p>
        </p:txBody>
      </p:sp>
      <p:sp>
        <p:nvSpPr>
          <p:cNvPr id="21" name="">
            <a:extLst>
              <a:ext uri="{FF2B5EF4-FFF2-40B4-BE49-F238E27FC236}">
                <ns2:creationId id="{C71E59AB-B4DC-41FF-B0C3-C3FC0F318CD2}"/>
              </a:ext>
            </a:extLst>
          </p:cNvPr>
          <p:cNvSpPr>
            <a:spLocks noGrp="1"/>
          </p:cNvSpPr>
          <p:nvPr/>
        </p:nvSpPr>
        <p:spPr>
          <a:xfrm>
            <a:off x="8448675" y="3790950"/>
            <a:ext cx="314325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A26020"/>
            </a:solidFill>
            <a:prstDash val="dash"/>
          </a:ln>
        </p:spPr>
      </p:sp>
      <p:sp>
        <p:nvSpPr>
          <p:cNvPr id="22" name="">
            <a:extLst>
              <a:ext uri="{FF2B5EF4-FFF2-40B4-BE49-F238E27FC236}">
                <ns2:creationId id="{BBE1D758-9B04-4E43-B4CE-BB9DA321F17D}"/>
              </a:ext>
            </a:extLst>
          </p:cNvPr>
          <p:cNvSpPr>
            <a:spLocks noGrp="1"/>
          </p:cNvSpPr>
          <p:nvPr/>
        </p:nvSpPr>
        <p:spPr>
          <a:xfrm>
            <a:off x="8591550" y="39052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用户侧调查 Agent</a:t>
            </a:r>
          </a:p>
        </p:txBody>
      </p:sp>
      <p:sp>
        <p:nvSpPr>
          <p:cNvPr id="23" name="">
            <a:extLst>
              <a:ext uri="{FF2B5EF4-FFF2-40B4-BE49-F238E27FC236}">
                <ns2:creationId id="{84336CFD-5661-494C-8115-05E8BC9182F0}"/>
              </a:ext>
            </a:extLst>
          </p:cNvPr>
          <p:cNvSpPr>
            <a:spLocks noGrp="1"/>
          </p:cNvSpPr>
          <p:nvPr/>
        </p:nvSpPr>
        <p:spPr>
          <a:xfrm>
            <a:off x="8591550" y="4295775"/>
            <a:ext cx="2857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独立取证 · 比较方案 · 反建议</a:t>
            </a:r>
          </a:p>
        </p:txBody>
      </p:sp>
      <p:cxnSp>
        <p:nvCxnSpPr>
          <p:cNvPr id="56" name=""/>
          <p:cNvCxnSpPr>
            <a:stCxn id="6" idx="3"/>
            <a:endCxn id="15" idx="1"/>
          </p:cNvCxnSpPr>
          <p:nvPr/>
        </p:nvCxnSpPr>
        <p:spPr>
          <a:xfrm>
            <a:off x="2933700" y="2771775"/>
            <a:ext cx="1238250" cy="100012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7" name=""/>
          <p:cNvCxnSpPr>
            <a:stCxn id="9" idx="3"/>
            <a:endCxn id="15" idx="1"/>
          </p:cNvCxnSpPr>
          <p:nvPr/>
        </p:nvCxnSpPr>
        <p:spPr>
          <a:xfrm flipV="1">
            <a:off x="2933700" y="3771900"/>
            <a:ext cx="1238250" cy="14287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8" name=""/>
          <p:cNvCxnSpPr>
            <a:stCxn id="12" idx="3"/>
            <a:endCxn id="15" idx="1"/>
          </p:cNvCxnSpPr>
          <p:nvPr/>
        </p:nvCxnSpPr>
        <p:spPr>
          <a:xfrm flipV="1">
            <a:off x="2933700" y="3771900"/>
            <a:ext cx="1238250" cy="1238250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59" name=""/>
          <p:cNvCxnSpPr>
            <a:stCxn id="15" idx="3"/>
            <a:endCxn id="18" idx="1"/>
          </p:cNvCxnSpPr>
          <p:nvPr/>
        </p:nvCxnSpPr>
        <p:spPr>
          <a:xfrm flipV="1">
            <a:off x="7381875" y="2524125"/>
            <a:ext cx="1066800" cy="1247775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60" name=""/>
          <p:cNvCxnSpPr>
            <a:stCxn id="15" idx="3"/>
            <a:endCxn id="21" idx="1"/>
          </p:cNvCxnSpPr>
          <p:nvPr/>
        </p:nvCxnSpPr>
        <p:spPr>
          <a:xfrm>
            <a:off x="7381875" y="3771900"/>
            <a:ext cx="1066800" cy="552450"/>
          </a:xfrm>
          <a:prstGeom prst="straightConnector1">
            <a:avLst/>
          </a:prstGeom>
          <a:ln w="19050">
            <a:solidFill>
              <a:srgbClr val="137D67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29" name="">
            <a:extLst>
              <a:ext uri="{FF2B5EF4-FFF2-40B4-BE49-F238E27FC236}">
                <ns2:creationId id="{4A681BC8-4475-4831-A77D-BB2A971CCE92}"/>
              </a:ext>
            </a:extLst>
          </p:cNvPr>
          <p:cNvSpPr>
            <a:spLocks noGrp="1"/>
          </p:cNvSpPr>
          <p:nvPr/>
        </p:nvSpPr>
        <p:spPr>
          <a:xfrm>
            <a:off x="8343900" y="3190875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限定资格</a:t>
            </a:r>
          </a:p>
        </p:txBody>
      </p:sp>
      <p:sp>
        <p:nvSpPr>
          <p:cNvPr id="30" name="">
            <a:extLst>
              <a:ext uri="{FF2B5EF4-FFF2-40B4-BE49-F238E27FC236}">
                <ns2:creationId id="{23B3ACF7-767A-47E9-AB8C-E97D1FE8C2A5}"/>
              </a:ext>
            </a:extLst>
          </p:cNvPr>
          <p:cNvSpPr>
            <a:spLocks noGrp="1"/>
          </p:cNvSpPr>
          <p:nvPr/>
        </p:nvSpPr>
        <p:spPr>
          <a:xfrm>
            <a:off x="8505825" y="5057775"/>
            <a:ext cx="30289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7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辅助决策；用户保留决定权</a:t>
            </a:r>
          </a:p>
        </p:txBody>
      </p:sp>
      <p:sp>
        <p:nvSpPr>
          <p:cNvPr id="31" name="">
            <a:extLst>
              <a:ext uri="{FF2B5EF4-FFF2-40B4-BE49-F238E27FC236}">
                <ns2:creationId id="{6673EB10-8BE1-49EC-A3EA-4E14DD1BAB5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虚线均为扩展方向。当前有多绑定结构；真实调查、多级审批、标准 VC 和反诈效果尚待验证。</a:t>
            </a:r>
          </a:p>
        </p:txBody>
      </p:sp>
      <p:sp>
        <p:nvSpPr>
          <p:cNvPr id="32" name="">
            <a:extLst>
              <a:ext uri="{FF2B5EF4-FFF2-40B4-BE49-F238E27FC236}">
                <ns2:creationId id="{763413D5-5AF2-4E32-A885-D64F8D20970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d28d30a6fd7c47a3"/>
              </a:rPr>
              <a:t>MYA 实现与实测</a:t>
            </a:r>
          </a:p>
        </p:txBody>
      </p:sp>
    </p:spTree>
    <p:extLst>
      <p:ext uri="{BB962C8B-B14F-4D97-AF65-F5344CB8AC3E}">
        <ns4:creationId val="1676083175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0F0D8F38-6F0D-4B9E-99D0-70D3875333C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完整演示与验收状态</a:t>
            </a:r>
          </a:p>
        </p:txBody>
      </p:sp>
      <p:sp>
        <p:nvSpPr>
          <p:cNvPr id="2" name="">
            <a:extLst>
              <a:ext uri="{FF2B5EF4-FFF2-40B4-BE49-F238E27FC236}">
                <ns2:creationId id="{8795F0C6-7CEA-4133-950E-DE1F9F03C6C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按“关系 → 决定 → 执行 → 门禁”一次讲完</a:t>
            </a:r>
          </a:p>
        </p:txBody>
      </p:sp>
      <p:sp>
        <p:nvSpPr>
          <p:cNvPr id="3" name="">
            <a:extLst>
              <a:ext uri="{FF2B5EF4-FFF2-40B4-BE49-F238E27FC236}">
                <ns2:creationId id="{26C5BCC0-8C1D-451B-B21C-65BF8FB920C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914775"/>
        </p:xfrm>
        <a:graphic>
          <a:graphicData uri="http://schemas.openxmlformats.org/drawingml/2006/table">
            <a:tbl>
              <a:tblPr/>
              <a:tblGrid>
                <a:gridCol w="2066925"/>
                <a:gridCol w="4933950"/>
                <a:gridCol w="39719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现场动作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已验证 / 待验证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建立关系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同一服务 → QR / 码 → 双端短码确认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真人配对完成；本地回环访问问题已记录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人工决策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成本报告 → 修改 → 安全报告 → 持续等待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真人闭环完成；聊天确认不是执行依据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挑战 → 出示 → 逐项校验 → 签名回执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真人完成；只投递演示收件箱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原生 Hook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前置检查 → Agent 调 Skill → 授权后重试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当前热插入未通过，必须先过探针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008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规则与扩展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单独启用规则；换对象重新审批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规则自动测试通过；组织/调查仍为规划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092BF57B-DEE7-40E1-A301-DA33876DD99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下一轮门禁通过标准：原生拒绝日志 + 无副作用 + 手机真实批准 + 同请求放行 + 签名回执。</a:t>
            </a:r>
          </a:p>
        </p:txBody>
      </p:sp>
      <p:sp>
        <p:nvSpPr>
          <p:cNvPr id="6" name="">
            <a:extLst>
              <a:ext uri="{FF2B5EF4-FFF2-40B4-BE49-F238E27FC236}">
                <ns2:creationId id="{E7264E4C-8BAA-4E5F-A92D-0FA7DB1155EE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ff26ea71a244e9e"/>
              </a:rPr>
              <a:t>MYA 实现与实测</a:t>
            </a:r>
          </a:p>
        </p:txBody>
      </p:sp>
    </p:spTree>
    <p:extLst>
      <p:ext uri="{BB962C8B-B14F-4D97-AF65-F5344CB8AC3E}">
        <ns4:creationId val="1308189478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26CAAFC7-1B93-4237-A319-30BBAB57B15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02  完整演示与验收</a:t>
            </a:r>
          </a:p>
        </p:txBody>
      </p:sp>
      <p:sp>
        <p:nvSpPr>
          <p:cNvPr id="2" name="">
            <a:extLst>
              <a:ext uri="{FF2B5EF4-FFF2-40B4-BE49-F238E27FC236}">
                <ns2:creationId id="{E58A30C4-6EE0-4167-96B5-D8EA19239DE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先看用户怎样完成，再看执行端凭什么放行</a:t>
            </a:r>
          </a:p>
        </p:txBody>
      </p:sp>
      <p:sp>
        <p:nvSpPr>
          <p:cNvPr id="3" name="">
            <a:extLst>
              <a:ext uri="{FF2B5EF4-FFF2-40B4-BE49-F238E27FC236}">
                <ns2:creationId id="{D9D3DDB5-CDB6-49E1-BA41-0FEFBEA9303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>
              <a:ext uri="{FF2B5EF4-FFF2-40B4-BE49-F238E27FC236}">
                <ns2:creationId id="{6992FED7-B8D0-4400-8E8B-1175DC801AFB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20—22</a:t>
            </a:r>
          </a:p>
        </p:txBody>
      </p:sp>
      <p:sp>
        <p:nvSpPr>
          <p:cNvPr id="5" name="">
            <a:extLst>
              <a:ext uri="{FF2B5EF4-FFF2-40B4-BE49-F238E27FC236}">
                <ns2:creationId id="{C400F7ED-E822-4472-81E9-EACD381EDF21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准备与绑定</a:t>
            </a:r>
          </a:p>
        </p:txBody>
      </p:sp>
      <p:sp>
        <p:nvSpPr>
          <p:cNvPr id="6" name="">
            <a:extLst>
              <a:ext uri="{FF2B5EF4-FFF2-40B4-BE49-F238E27FC236}">
                <ns2:creationId id="{90A59B8F-1AE3-4965-9EE7-550A17048AB5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确认同一服务，处理二维码、配对码与远程访问</a:t>
            </a:r>
          </a:p>
        </p:txBody>
      </p:sp>
      <p:sp>
        <p:nvSpPr>
          <p:cNvPr id="7" name="">
            <a:extLst>
              <a:ext uri="{FF2B5EF4-FFF2-40B4-BE49-F238E27FC236}">
                <ns2:creationId id="{BE929085-1973-4AB7-B997-3D5166281D92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23—27</a:t>
            </a:r>
          </a:p>
        </p:txBody>
      </p:sp>
      <p:sp>
        <p:nvSpPr>
          <p:cNvPr id="8" name="">
            <a:extLst>
              <a:ext uri="{FF2B5EF4-FFF2-40B4-BE49-F238E27FC236}">
                <ns2:creationId id="{3CAE20A7-CF55-4DEC-BA17-10E4EAA9EF4C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修改、等待、出示与执行</a:t>
            </a:r>
          </a:p>
        </p:txBody>
      </p:sp>
      <p:sp>
        <p:nvSpPr>
          <p:cNvPr id="9" name="">
            <a:extLst>
              <a:ext uri="{FF2B5EF4-FFF2-40B4-BE49-F238E27FC236}">
                <ns2:creationId id="{D9B31BBB-9364-43BC-926C-A7853280D1D3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手机作决定，Agent 持续等待，逐项核验回执</a:t>
            </a:r>
          </a:p>
        </p:txBody>
      </p:sp>
      <p:sp>
        <p:nvSpPr>
          <p:cNvPr id="10" name="">
            <a:extLst>
              <a:ext uri="{FF2B5EF4-FFF2-40B4-BE49-F238E27FC236}">
                <ns2:creationId id="{9FE754EF-DF31-4E25-8547-7086F5915C0A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28—32</a:t>
            </a:r>
          </a:p>
        </p:txBody>
      </p:sp>
      <p:sp>
        <p:nvSpPr>
          <p:cNvPr id="11" name="">
            <a:extLst>
              <a:ext uri="{FF2B5EF4-FFF2-40B4-BE49-F238E27FC236}">
                <ns2:creationId id="{76A4F70A-40DE-4D89-8416-E22579D8658D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自动规则与 Hook 验收</a:t>
            </a:r>
          </a:p>
        </p:txBody>
      </p:sp>
      <p:sp>
        <p:nvSpPr>
          <p:cNvPr id="12" name="">
            <a:extLst>
              <a:ext uri="{FF2B5EF4-FFF2-40B4-BE49-F238E27FC236}">
                <ns2:creationId id="{6079E456-209C-4E6A-A179-4E9916950DF4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规则需单独同意；明确门禁尚未通过的环节</a:t>
            </a:r>
          </a:p>
        </p:txBody>
      </p:sp>
      <p:sp>
        <p:nvSpPr>
          <p:cNvPr id="13" name="">
            <a:extLst>
              <a:ext uri="{FF2B5EF4-FFF2-40B4-BE49-F238E27FC236}">
                <ns2:creationId id="{1CB1D677-EDD4-4182-84C6-CC8860FE9BB8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演示记录来自 2026-09-15；本轮整理 PPT 未重新运行审批或部署。</a:t>
            </a:r>
          </a:p>
        </p:txBody>
      </p:sp>
    </p:spTree>
    <p:extLst>
      <p:ext uri="{BB962C8B-B14F-4D97-AF65-F5344CB8AC3E}">
        <ns4:creationId val="1165457686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3F4C8D62-37E9-47A3-ABFA-41B1780C456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演示全程：从绑定到执行回执</a:t>
            </a:r>
          </a:p>
        </p:txBody>
      </p:sp>
      <p:sp>
        <p:nvSpPr>
          <p:cNvPr id="2" name="">
            <a:extLst>
              <a:ext uri="{FF2B5EF4-FFF2-40B4-BE49-F238E27FC236}">
                <ns2:creationId id="{58CD83A4-035F-45DF-938C-51BB2F0A4A9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补充演示 · 2026-09-15 下午实测与 Hook 集成尝试</a:t>
            </a:r>
          </a:p>
        </p:txBody>
      </p:sp>
      <p:sp>
        <p:nvSpPr>
          <p:cNvPr id="3" name="">
            <a:extLst>
              <a:ext uri="{FF2B5EF4-FFF2-40B4-BE49-F238E27FC236}">
                <ns2:creationId id="{2FC50BA9-8C59-488E-A9F6-2FA3C83F503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">
            <a:extLst>
              <a:ext uri="{FF2B5EF4-FFF2-40B4-BE49-F238E27FC236}">
                <ns2:creationId id="{E61AE10F-0064-4622-8F09-1C22C26C0745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建立关系</a:t>
            </a:r>
          </a:p>
        </p:txBody>
      </p:sp>
      <p:sp>
        <p:nvSpPr>
          <p:cNvPr id="5" name="">
            <a:extLst>
              <a:ext uri="{FF2B5EF4-FFF2-40B4-BE49-F238E27FC236}">
                <ns2:creationId id="{C4AA9D6D-E5D3-46E1-87B6-B8FF9EE2C9A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Oracle HTTPS → PC 核对服务 → 手机与 Agent 配对。</a:t>
            </a:r>
          </a:p>
        </p:txBody>
      </p:sp>
      <p:sp>
        <p:nvSpPr>
          <p:cNvPr id="6" name="">
            <a:extLst>
              <a:ext uri="{FF2B5EF4-FFF2-40B4-BE49-F238E27FC236}">
                <ns2:creationId id="{C6B4C574-8004-4333-8542-CB46AC3585F7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完成决策</a:t>
            </a:r>
          </a:p>
        </p:txBody>
      </p:sp>
      <p:sp>
        <p:nvSpPr>
          <p:cNvPr id="7" name="">
            <a:extLst>
              <a:ext uri="{FF2B5EF4-FFF2-40B4-BE49-F238E27FC236}">
                <ns2:creationId id="{32357A47-BE36-4F55-920C-659FE5F071FD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成本报告 → 手机要求修改 → 安全版本 → 用户批准。</a:t>
            </a:r>
          </a:p>
        </p:txBody>
      </p:sp>
      <p:sp>
        <p:nvSpPr>
          <p:cNvPr id="8" name="">
            <a:extLst>
              <a:ext uri="{FF2B5EF4-FFF2-40B4-BE49-F238E27FC236}">
                <ns2:creationId id="{BC0AA4D8-71BE-472F-82C7-827BB3A81E28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验证并执行</a:t>
            </a:r>
          </a:p>
        </p:txBody>
      </p:sp>
      <p:sp>
        <p:nvSpPr>
          <p:cNvPr id="9" name="">
            <a:extLst>
              <a:ext uri="{FF2B5EF4-FFF2-40B4-BE49-F238E27FC236}">
                <ns2:creationId id="{EDC76154-084D-46D2-AF0B-C4C1B0CAC7FA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持续等待决定 → 钱包挑战出示 → 资源核验 → 签名回执。</a:t>
            </a:r>
          </a:p>
        </p:txBody>
      </p:sp>
      <p:sp>
        <p:nvSpPr>
          <p:cNvPr id="10" name="">
            <a:extLst>
              <a:ext uri="{FF2B5EF4-FFF2-40B4-BE49-F238E27FC236}">
                <ns2:creationId id="{3C26F5BC-A517-4D5B-953C-AD7AC1942445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验证门禁</a:t>
            </a:r>
          </a:p>
        </p:txBody>
      </p:sp>
      <p:sp>
        <p:nvSpPr>
          <p:cNvPr id="11" name="">
            <a:extLst>
              <a:ext uri="{FF2B5EF4-FFF2-40B4-BE49-F238E27FC236}">
                <ns2:creationId id="{44E37ADC-74DA-4B74-8F82-D734F42B6C6A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安装并信任 Hook → 当前会话探针未被拦截 → 明确下一轮标准。</a:t>
            </a:r>
          </a:p>
        </p:txBody>
      </p:sp>
      <p:sp>
        <p:nvSpPr>
          <p:cNvPr id="12" name="">
            <a:extLst>
              <a:ext uri="{FF2B5EF4-FFF2-40B4-BE49-F238E27FC236}">
                <ns2:creationId id="{F355F5F7-0480-4C90-B3D2-DF171B49C20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本补充区分真人成功、隔离自动测试与未通过项；不把已写配置当作已生效。</a:t>
            </a:r>
          </a:p>
        </p:txBody>
      </p:sp>
      <p:sp>
        <p:nvSpPr>
          <p:cNvPr id="13" name="">
            <a:extLst>
              <a:ext uri="{FF2B5EF4-FFF2-40B4-BE49-F238E27FC236}">
                <ns2:creationId id="{BA29523F-1CA3-4812-8267-A7E3657A866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20a999a7dda4d7f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a95ca2b7e404159"/>
              </a:rPr>
              <a:t>Codex Hooks</a:t>
            </a:r>
          </a:p>
        </p:txBody>
      </p:sp>
    </p:spTree>
    <p:extLst>
      <p:ext uri="{BB962C8B-B14F-4D97-AF65-F5344CB8AC3E}">
        <ns4:creationId val="555023875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A741E4E2-1EDA-4914-9217-A2551CC7733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准备：确认三端连接同一服务</a:t>
            </a:r>
          </a:p>
        </p:txBody>
      </p:sp>
      <p:sp>
        <p:nvSpPr>
          <p:cNvPr id="2" name="">
            <a:extLst>
              <a:ext uri="{FF2B5EF4-FFF2-40B4-BE49-F238E27FC236}">
                <ns2:creationId id="{FB3F9985-CE1D-4688-A6A3-6E4B4D6E701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桌面会话、PC CLI 和手机页面分别核对，避免认错运行环境</a:t>
            </a:r>
          </a:p>
        </p:txBody>
      </p:sp>
      <p:sp>
        <p:nvSpPr>
          <p:cNvPr id="3" name="">
            <a:extLst>
              <a:ext uri="{FF2B5EF4-FFF2-40B4-BE49-F238E27FC236}">
                <ns2:creationId id="{1231E713-C1BB-4FFC-975B-4AAD71ACD40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619500"/>
        </p:xfrm>
        <a:graphic>
          <a:graphicData uri="http://schemas.openxmlformats.org/drawingml/2006/table">
            <a:tbl>
              <a:tblPr/>
              <a:tblGrid>
                <a:gridCol w="1905000"/>
                <a:gridCol w="4552950"/>
                <a:gridCol w="45148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现场展示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通过条件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Oracle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HTTPS、systemd、持久化密钥与数据库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服务代码 0240f65；密钥与既有记录保留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PC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doctor、绑定列表、受信公钥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服务地址和见证指纹与 Oracle 一致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mya-esand.duckdns.org/mobile/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正确 HTTPS 入口，页面保持前台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Codex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实际承载任务的内置进程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0.154.0-alpha.6.2；不同于 PATH 中 CLI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B2EA754-0808-4D9F-A160-206E56140A2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同一服务器上的 active 记录，不能证明当前手机浏览器仍持有该绑定私钥。</a:t>
            </a:r>
          </a:p>
        </p:txBody>
      </p:sp>
      <p:sp>
        <p:nvSpPr>
          <p:cNvPr id="6" name="">
            <a:extLst>
              <a:ext uri="{FF2B5EF4-FFF2-40B4-BE49-F238E27FC236}">
                <ns2:creationId id="{27F902CF-CC48-4D70-BADA-078C400708F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92671b7e46a474d"/>
              </a:rPr>
              <a:t>MYA 代码与实测</a:t>
            </a:r>
          </a:p>
        </p:txBody>
      </p:sp>
    </p:spTree>
    <p:extLst>
      <p:ext uri="{BB962C8B-B14F-4D97-AF65-F5344CB8AC3E}">
        <ns4:creationId val="1703805035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250862F8-D925-42EE-97D7-B96DFB6DF22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绑定排障：二维码、配对码与远程确认</a:t>
            </a:r>
          </a:p>
        </p:txBody>
      </p:sp>
      <p:sp>
        <p:nvSpPr>
          <p:cNvPr id="2" name="">
            <a:extLst>
              <a:ext uri="{FF2B5EF4-FFF2-40B4-BE49-F238E27FC236}">
                <ns2:creationId id="{86393181-1AE6-4295-AA6F-903AF1CD158C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本次真实手机曾显示“连接第一个 Agent”，需要建立当前浏览器的关系</a:t>
            </a:r>
          </a:p>
        </p:txBody>
      </p:sp>
      <p:sp>
        <p:nvSpPr>
          <p:cNvPr id="3" name="">
            <a:extLst>
              <a:ext uri="{FF2B5EF4-FFF2-40B4-BE49-F238E27FC236}">
                <ns2:creationId id="{C87EEC2D-C6B9-44E2-A648-386B4E5A6BF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sp>
        <p:nvSpPr>
          <p:cNvPr id="4" name="">
            <a:extLst>
              <a:ext uri="{FF2B5EF4-FFF2-40B4-BE49-F238E27FC236}">
                <ns2:creationId id="{72167FBE-FA17-4507-9D94-6E6E7E5DF0EE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邀请加入</a:t>
            </a:r>
          </a:p>
        </p:txBody>
      </p:sp>
      <p:sp>
        <p:nvSpPr>
          <p:cNvPr id="5" name="">
            <a:extLst>
              <a:ext uri="{FF2B5EF4-FFF2-40B4-BE49-F238E27FC236}">
                <ns2:creationId id="{73329033-C595-4DF5-89F0-191D43D5DE3A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PC 同时给二维码、8 位配对码和手机邀请链接。</a:t>
            </a:r>
          </a:p>
        </p:txBody>
      </p:sp>
      <p:sp>
        <p:nvSpPr>
          <p:cNvPr id="6" name="">
            <a:extLst>
              <a:ext uri="{FF2B5EF4-FFF2-40B4-BE49-F238E27FC236}">
                <ns2:creationId id="{53AD3FD8-BC58-403B-B6B0-02D5961175B4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短码核对</a:t>
            </a:r>
          </a:p>
        </p:txBody>
      </p:sp>
      <p:sp>
        <p:nvSpPr>
          <p:cNvPr id="7" name="">
            <a:extLst>
              <a:ext uri="{FF2B5EF4-FFF2-40B4-BE49-F238E27FC236}">
                <ns2:creationId id="{1F8645C1-7DE1-449A-ABE7-59E78E220393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配对码用于加入；两端短码用于核对同一密钥关系。</a:t>
            </a:r>
          </a:p>
        </p:txBody>
      </p:sp>
      <p:sp>
        <p:nvSpPr>
          <p:cNvPr id="8" name="">
            <a:extLst>
              <a:ext uri="{FF2B5EF4-FFF2-40B4-BE49-F238E27FC236}">
                <ns2:creationId id="{2E28C6A6-2A7D-4408-BD68-BF02F82B8845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远程限制</a:t>
            </a:r>
          </a:p>
        </p:txBody>
      </p:sp>
      <p:sp>
        <p:nvSpPr>
          <p:cNvPr id="9" name="">
            <a:extLst>
              <a:ext uri="{FF2B5EF4-FFF2-40B4-BE49-F238E27FC236}">
                <ns2:creationId id="{67A3B164-83B8-489F-A59A-44CFC80958A3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127.0.0.1 是浏览器所在机器的回环地址，远程页面不等于 PC 本机。</a:t>
            </a:r>
          </a:p>
        </p:txBody>
      </p:sp>
      <p:sp>
        <p:nvSpPr>
          <p:cNvPr id="10" name="">
            <a:extLst>
              <a:ext uri="{FF2B5EF4-FFF2-40B4-BE49-F238E27FC236}">
                <ns2:creationId id="{C8061A2C-F2B4-42A7-969F-2CB4EBBF1975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本次处理</a:t>
            </a:r>
          </a:p>
        </p:txBody>
      </p:sp>
      <p:sp>
        <p:nvSpPr>
          <p:cNvPr id="11" name="">
            <a:extLst>
              <a:ext uri="{FF2B5EF4-FFF2-40B4-BE49-F238E27FC236}">
                <ns2:creationId id="{AEF4648A-44A0-42B0-9372-9D77DF6F22A1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用户明确授权 Agent 代点 PC 确认；手机由用户确认，关系保存成功。</a:t>
            </a:r>
          </a:p>
        </p:txBody>
      </p:sp>
      <p:sp>
        <p:nvSpPr>
          <p:cNvPr id="12" name="">
            <a:extLst>
              <a:ext uri="{FF2B5EF4-FFF2-40B4-BE49-F238E27FC236}">
                <ns2:creationId id="{91C20D23-5C0B-4C6E-9A17-79D36B9EBD7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正常流程仍是用户核对并分别确认。前面的绑定实图来自已撤销的隔离测试身份。</a:t>
            </a:r>
          </a:p>
        </p:txBody>
      </p:sp>
      <p:sp>
        <p:nvSpPr>
          <p:cNvPr id="13" name="">
            <a:extLst>
              <a:ext uri="{FF2B5EF4-FFF2-40B4-BE49-F238E27FC236}">
                <ns2:creationId id="{5BF3C1FC-E337-4A52-BA23-83EB9AE0D3F8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a6fac3ea9dc4cc7"/>
              </a:rPr>
              <a:t>MYA 代码与实测</a:t>
            </a:r>
          </a:p>
        </p:txBody>
      </p:sp>
    </p:spTree>
    <p:extLst>
      <p:ext uri="{BB962C8B-B14F-4D97-AF65-F5344CB8AC3E}">
        <ns4:creationId val="611751361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68F6CD3C-AC82-4D8D-975C-B9250A1F25D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成本报告：用户要求修改</a:t>
            </a:r>
          </a:p>
        </p:txBody>
      </p:sp>
      <p:sp>
        <p:nvSpPr>
          <p:cNvPr id="2" name="">
            <a:extLst>
              <a:ext uri="{FF2B5EF4-FFF2-40B4-BE49-F238E27FC236}">
                <ns2:creationId id="{BB975F0A-09FE-4EDD-B063-AED33F3F38EE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审批分支保留理由，工作 Agent 负责准备新版本</a:t>
            </a:r>
          </a:p>
        </p:txBody>
      </p:sp>
      <p:sp>
        <p:nvSpPr>
          <p:cNvPr id="3" name="">
            <a:extLst>
              <a:ext uri="{FF2B5EF4-FFF2-40B4-BE49-F238E27FC236}">
                <ns2:creationId id="{F45EC3A3-AC40-41EC-9DB2-5DBBCBF1292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sp>
        <p:nvSpPr>
          <p:cNvPr id="4" name="">
            <a:extLst>
              <a:ext uri="{FF2B5EF4-FFF2-40B4-BE49-F238E27FC236}">
                <ns2:creationId id="{07E372EC-D71D-4E4C-A5D1-D8CB0FF0E3BA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原报告</a:t>
            </a:r>
          </a:p>
        </p:txBody>
      </p:sp>
      <p:sp>
        <p:nvSpPr>
          <p:cNvPr id="5" name="">
            <a:extLst>
              <a:ext uri="{FF2B5EF4-FFF2-40B4-BE49-F238E27FC236}">
                <ns2:creationId id="{C316897B-9835-436E-B526-4EFEB6333287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发送项目进度，附带内部成本信息；手机显示内容和接收方。</a:t>
            </a:r>
          </a:p>
        </p:txBody>
      </p:sp>
      <p:sp>
        <p:nvSpPr>
          <p:cNvPr id="6" name="">
            <a:extLst>
              <a:ext uri="{FF2B5EF4-FFF2-40B4-BE49-F238E27FC236}">
                <ns2:creationId id="{3B43786D-0FD8-4F9F-84F8-0857DAC9E658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手机决定</a:t>
            </a:r>
          </a:p>
        </p:txBody>
      </p:sp>
      <p:sp>
        <p:nvSpPr>
          <p:cNvPr id="7" name="">
            <a:extLst>
              <a:ext uri="{FF2B5EF4-FFF2-40B4-BE49-F238E27FC236}">
                <ns2:creationId id="{F4CFA07C-72F2-4992-A981-606678173FA0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要求移除成本与个人信息，仅同步项目进度字段。</a:t>
            </a:r>
          </a:p>
        </p:txBody>
      </p:sp>
      <p:sp>
        <p:nvSpPr>
          <p:cNvPr id="8" name="">
            <a:extLst>
              <a:ext uri="{FF2B5EF4-FFF2-40B4-BE49-F238E27FC236}">
                <ns2:creationId id="{E6F0D40C-5BEB-4445-9187-49C120A9180B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修订</a:t>
            </a:r>
          </a:p>
        </p:txBody>
      </p:sp>
      <p:sp>
        <p:nvSpPr>
          <p:cNvPr id="9" name="">
            <a:extLst>
              <a:ext uri="{FF2B5EF4-FFF2-40B4-BE49-F238E27FC236}">
                <ns2:creationId id="{AFDE71C3-7FF1-405C-9E2A-EA325F26B46E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生成新的安全报告，新请求引用 supersedes_request_id。</a:t>
            </a:r>
          </a:p>
        </p:txBody>
      </p:sp>
      <p:sp>
        <p:nvSpPr>
          <p:cNvPr id="10" name="">
            <a:extLst>
              <a:ext uri="{FF2B5EF4-FFF2-40B4-BE49-F238E27FC236}">
                <ns2:creationId id="{E5F4ECED-439D-4512-A8FB-A6BDAF81E439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重新授权</a:t>
            </a:r>
          </a:p>
        </p:txBody>
      </p:sp>
      <p:sp>
        <p:nvSpPr>
          <p:cNvPr id="11" name="">
            <a:extLst>
              <a:ext uri="{FF2B5EF4-FFF2-40B4-BE49-F238E27FC236}">
                <ns2:creationId id="{D0E5C22D-6B70-4DAA-84BB-C0A9C3BD7BB6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用户审批修订版；旧请求的决定不能授权不同内容。</a:t>
            </a:r>
          </a:p>
        </p:txBody>
      </p:sp>
      <p:sp>
        <p:nvSpPr>
          <p:cNvPr id="12" name="">
            <a:extLst>
              <a:ext uri="{FF2B5EF4-FFF2-40B4-BE49-F238E27FC236}">
                <ns2:creationId id="{11F1720C-F477-4C11-972A-94A31D016E1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真人修改闭环已完成。现场复现必须创建新请求，不重用历史授权。</a:t>
            </a:r>
          </a:p>
        </p:txBody>
      </p:sp>
      <p:sp>
        <p:nvSpPr>
          <p:cNvPr id="13" name="">
            <a:extLst>
              <a:ext uri="{FF2B5EF4-FFF2-40B4-BE49-F238E27FC236}">
                <ns2:creationId id="{FE8DB482-0085-4C5F-B529-5244BA08169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4d69d7a04b4466e"/>
              </a:rPr>
              <a:t>MYA 代码与实测</a:t>
            </a:r>
          </a:p>
        </p:txBody>
      </p:sp>
    </p:spTree>
    <p:extLst>
      <p:ext uri="{BB962C8B-B14F-4D97-AF65-F5344CB8AC3E}">
        <ns4:creationId val="75559050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812B1C6-3A9B-4CD6-ABD9-3F3FAC75603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修订报告：Agent 持续等待手机决定</a:t>
            </a:r>
          </a:p>
        </p:txBody>
      </p:sp>
      <p:sp>
        <p:nvSpPr>
          <p:cNvPr id="2" name="">
            <a:extLst>
              <a:ext uri="{FF2B5EF4-FFF2-40B4-BE49-F238E27FC236}">
                <ns2:creationId id="{FA5E3648-27EE-4025-BC3D-0D6E4FE24C4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主会话无需再说一次“批准了”</a:t>
            </a:r>
          </a:p>
        </p:txBody>
      </p:sp>
      <p:sp>
        <p:nvSpPr>
          <p:cNvPr id="3" name="">
            <a:extLst>
              <a:ext uri="{FF2B5EF4-FFF2-40B4-BE49-F238E27FC236}">
                <ns2:creationId id="{D4261B1E-32C5-4A3E-A11B-1326A91FB38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sp>
        <p:nvSpPr>
          <p:cNvPr id="4" name="">
            <a:extLst>
              <a:ext uri="{FF2B5EF4-FFF2-40B4-BE49-F238E27FC236}">
                <ns2:creationId id="{7D7A5161-1488-4AC0-88C3-D641D6B2B95B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提交</a:t>
            </a:r>
          </a:p>
        </p:txBody>
      </p:sp>
      <p:sp>
        <p:nvSpPr>
          <p:cNvPr id="5" name="">
            <a:extLst>
              <a:ext uri="{FF2B5EF4-FFF2-40B4-BE49-F238E27FC236}">
                <ns2:creationId id="{066C6FA7-FC01-47F4-AA37-4EAEB914AD83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冻结安全报告、接收方和目的，记录唯一 request_id。</a:t>
            </a:r>
          </a:p>
        </p:txBody>
      </p:sp>
      <p:sp>
        <p:nvSpPr>
          <p:cNvPr id="6" name="">
            <a:extLst>
              <a:ext uri="{FF2B5EF4-FFF2-40B4-BE49-F238E27FC236}">
                <ns2:creationId id="{B888AA24-7839-452F-A3BE-78E862EF32EE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持续等待</a:t>
            </a:r>
          </a:p>
        </p:txBody>
      </p:sp>
      <p:sp>
        <p:nvSpPr>
          <p:cNvPr id="7" name="">
            <a:extLst>
              <a:ext uri="{FF2B5EF4-FFF2-40B4-BE49-F238E27FC236}">
                <ns2:creationId id="{BFB92EB7-9485-404C-A389-422CD673BB89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每次等待最多 20 秒；循环至决定、过期、取消或持续错误。</a:t>
            </a:r>
          </a:p>
        </p:txBody>
      </p:sp>
      <p:sp>
        <p:nvSpPr>
          <p:cNvPr id="8" name="">
            <a:extLst>
              <a:ext uri="{FF2B5EF4-FFF2-40B4-BE49-F238E27FC236}">
                <ns2:creationId id="{8594497E-4155-4D44-B6E6-5D89BA4F23D0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收到批准</a:t>
            </a:r>
          </a:p>
        </p:txBody>
      </p:sp>
      <p:sp>
        <p:nvSpPr>
          <p:cNvPr id="9" name="">
            <a:extLst>
              <a:ext uri="{FF2B5EF4-FFF2-40B4-BE49-F238E27FC236}">
                <ns2:creationId id="{62752163-6A8C-4143-A723-BD15CF25174E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以手机签名授权为依据，自动进入钱包出示和执行。</a:t>
            </a:r>
          </a:p>
        </p:txBody>
      </p:sp>
      <p:sp>
        <p:nvSpPr>
          <p:cNvPr id="10" name="">
            <a:extLst>
              <a:ext uri="{FF2B5EF4-FFF2-40B4-BE49-F238E27FC236}">
                <ns2:creationId id="{8FAAD4F2-8908-4828-ADC9-003081AB0F1E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收到修改</a:t>
            </a:r>
          </a:p>
        </p:txBody>
      </p:sp>
      <p:sp>
        <p:nvSpPr>
          <p:cNvPr id="11" name="">
            <a:extLst>
              <a:ext uri="{FF2B5EF4-FFF2-40B4-BE49-F238E27FC236}">
                <ns2:creationId id="{345AE0E7-B6E5-4D19-A022-7CF623E78AA4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准备新版本再申请；拒绝、超时与网络失败均不算批准。</a:t>
            </a:r>
          </a:p>
        </p:txBody>
      </p:sp>
      <p:sp>
        <p:nvSpPr>
          <p:cNvPr id="12" name="">
            <a:extLst>
              <a:ext uri="{FF2B5EF4-FFF2-40B4-BE49-F238E27FC236}">
                <ns2:creationId id="{6C95026E-41F0-4812-A351-9BA9A4DB5B8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真人最新一轮：工具先收到手机批准并执行，用户随后才在聊天中告知“批准了”。</a:t>
            </a:r>
          </a:p>
        </p:txBody>
      </p:sp>
      <p:sp>
        <p:nvSpPr>
          <p:cNvPr id="13" name="">
            <a:extLst>
              <a:ext uri="{FF2B5EF4-FFF2-40B4-BE49-F238E27FC236}">
                <ns2:creationId id="{F3468368-8FDB-4EA2-B4D8-E386DDD335D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b21787af3104890"/>
              </a:rPr>
              <a:t>MYA 代码与实测</a:t>
            </a:r>
          </a:p>
        </p:txBody>
      </p:sp>
    </p:spTree>
    <p:extLst>
      <p:ext uri="{BB962C8B-B14F-4D97-AF65-F5344CB8AC3E}">
        <ns4:creationId val="22424387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680C82AE-26CF-4F05-8413-4B5D4B9FC69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钱包出示：用挑战绑定本次交易</a:t>
            </a:r>
          </a:p>
        </p:txBody>
      </p:sp>
      <p:sp>
        <p:nvSpPr>
          <p:cNvPr id="2" name="">
            <a:extLst>
              <a:ext uri="{FF2B5EF4-FFF2-40B4-BE49-F238E27FC236}">
                <ns2:creationId id="{B85DAC78-8D78-4A10-9FC2-951E4326FC0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出示既有授权凭证，并证明当前持有 Agent 私钥</a:t>
            </a:r>
          </a:p>
        </p:txBody>
      </p:sp>
      <p:sp>
        <p:nvSpPr>
          <p:cNvPr id="3" name="">
            <a:extLst>
              <a:ext uri="{FF2B5EF4-FFF2-40B4-BE49-F238E27FC236}">
                <ns2:creationId id="{91CEA2B8-8CD0-4707-9214-EDBD9A15BDC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667125"/>
        </p:xfrm>
        <a:graphic>
          <a:graphicData uri="http://schemas.openxmlformats.org/drawingml/2006/table">
            <a:tbl>
              <a:tblPr/>
              <a:tblGrid>
                <a:gridCol w="1952625"/>
                <a:gridCol w="4857750"/>
                <a:gridCol w="41624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发送或校验什么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意义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资源出题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签名挑战、流水号、nonce、端点和行动摘要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限定这次出示的对象与目的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钱包核对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服务签名、固定 origin、验证 URI 与请求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不向任意返回地址发送凭证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钱包出示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关系、见证、行动授权与短时持钥证明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读取凭证不等于可以伪造授权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资源执行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重新校验状态、单次消费、签署回执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出示通过与执行成功分别留证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6B5295BC-719E-4F04-8D01-B04EDF91EB8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演示命令：mya execute --request ID --presentation</a:t>
            </a:r>
          </a:p>
        </p:txBody>
      </p:sp>
      <p:sp>
        <p:nvSpPr>
          <p:cNvPr id="6" name="">
            <a:extLst>
              <a:ext uri="{FF2B5EF4-FFF2-40B4-BE49-F238E27FC236}">
                <ns2:creationId id="{10B92916-BBEA-4BD0-BE1D-20749FF90ED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ef091b7f9374d71"/>
              </a:rPr>
              <a:t>MYA 代码与实测</a:t>
            </a:r>
          </a:p>
        </p:txBody>
      </p:sp>
    </p:spTree>
    <p:extLst>
      <p:ext uri="{BB962C8B-B14F-4D97-AF65-F5344CB8AC3E}">
        <ns4:creationId val="562687816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C525465C-30FA-42E3-B8A7-5257C6C2A94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逐项校验：授权与执行是否一致</a:t>
            </a:r>
          </a:p>
        </p:txBody>
      </p:sp>
      <p:sp>
        <p:nvSpPr>
          <p:cNvPr id="2" name="">
            <a:extLst>
              <a:ext uri="{FF2B5EF4-FFF2-40B4-BE49-F238E27FC236}">
                <ns2:creationId id="{FE145FAD-DFCF-4E62-8905-E76B1CBD701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最新真人执行后，当时 13 项检查通过</a:t>
            </a:r>
          </a:p>
        </p:txBody>
      </p:sp>
      <p:sp>
        <p:nvSpPr>
          <p:cNvPr id="3" name="">
            <a:extLst>
              <a:ext uri="{FF2B5EF4-FFF2-40B4-BE49-F238E27FC236}">
                <ns2:creationId id="{AD1A5C8A-1473-4BE7-9350-B176E254582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571875"/>
        </p:xfrm>
        <a:graphic>
          <a:graphicData uri="http://schemas.openxmlformats.org/drawingml/2006/table">
            <a:tbl>
              <a:tblPr/>
              <a:tblGrid>
                <a:gridCol w="2238375"/>
                <a:gridCol w="5048250"/>
                <a:gridCol w="368617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证据组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检查项目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解释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关系资格 · 4 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手机签名、见证签名、关联、有效期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这组公钥属于已确认关系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当前行动 · 4 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请求完整性、授权签名、范围、时效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批准匹配请求、内容与接收方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执行事实 · 3 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回执签名、关联、执行时授权有效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实际执行的是获批对象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在线状态 · 2 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关系仍有效、请求未取消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避免只看离线签名就放行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02CC091B-2C55-4270-8F77-593E8DB96FA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授权后来过期是正常现象。历史回执仍可验证，不能用它重新授权另一项行动。</a:t>
            </a:r>
          </a:p>
        </p:txBody>
      </p:sp>
      <p:sp>
        <p:nvSpPr>
          <p:cNvPr id="6" name="">
            <a:extLst>
              <a:ext uri="{FF2B5EF4-FFF2-40B4-BE49-F238E27FC236}">
                <ns2:creationId id="{34DE2CF7-9452-4F90-A78A-D68876AF0165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d2e9cdbc8b0841c3"/>
              </a:rPr>
              <a:t>MYA 代码与实测</a:t>
            </a:r>
          </a:p>
        </p:txBody>
      </p:sp>
    </p:spTree>
    <p:extLst>
      <p:ext uri="{BB962C8B-B14F-4D97-AF65-F5344CB8AC3E}">
        <ns4:creationId val="1620998783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8DBFCAB-2B35-4553-94F7-40C8C0D6D1F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实测结果：一份可追溯的执行回执</a:t>
            </a:r>
          </a:p>
        </p:txBody>
      </p:sp>
      <p:sp>
        <p:nvSpPr>
          <p:cNvPr id="2" name="">
            <a:extLst>
              <a:ext uri="{FF2B5EF4-FFF2-40B4-BE49-F238E27FC236}">
                <ns2:creationId id="{42CD454F-BDC0-4304-B032-669D5CA3D83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2026-09-15 15:45:51（中国时间） · 安全报告 → supplier-a</a:t>
            </a:r>
          </a:p>
        </p:txBody>
      </p:sp>
      <p:sp>
        <p:nvSpPr>
          <p:cNvPr id="3" name="">
            <a:extLst>
              <a:ext uri="{FF2B5EF4-FFF2-40B4-BE49-F238E27FC236}">
                <ns2:creationId id="{B901472B-108B-4965-8F1F-A9156AE82628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  <p:sp>
        <p:nvSpPr>
          <p:cNvPr id="4" name="">
            <a:extLst>
              <a:ext uri="{FF2B5EF4-FFF2-40B4-BE49-F238E27FC236}">
                <ns2:creationId id="{6388D366-F639-4E3A-ABB7-2EF777069D8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请求</a:t>
            </a:r>
          </a:p>
        </p:txBody>
      </p:sp>
      <p:sp>
        <p:nvSpPr>
          <p:cNvPr id="5" name="">
            <a:extLst>
              <a:ext uri="{FF2B5EF4-FFF2-40B4-BE49-F238E27FC236}">
                <ns2:creationId id="{BD55E0B4-C900-4E28-959D-31E5CA82EAC1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5a0ad59f-2c45-4130-b343-c65bf977e1b8</a:t>
            </a:r>
          </a:p>
        </p:txBody>
      </p:sp>
      <p:sp>
        <p:nvSpPr>
          <p:cNvPr id="6" name="">
            <a:extLst>
              <a:ext uri="{FF2B5EF4-FFF2-40B4-BE49-F238E27FC236}">
                <ns2:creationId id="{D0B87BBD-66B2-487E-BA96-ABA09091F139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</a:t>
            </a:r>
          </a:p>
        </p:txBody>
      </p:sp>
      <p:sp>
        <p:nvSpPr>
          <p:cNvPr id="7" name="">
            <a:extLst>
              <a:ext uri="{FF2B5EF4-FFF2-40B4-BE49-F238E27FC236}">
                <ns2:creationId id="{D6856E54-8656-4D25-B22F-A4212D6A2E43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21a6627c-b7da-4f37-8f57-80b9fc00634e</a:t>
            </a:r>
          </a:p>
        </p:txBody>
      </p:sp>
      <p:sp>
        <p:nvSpPr>
          <p:cNvPr id="8" name="">
            <a:extLst>
              <a:ext uri="{FF2B5EF4-FFF2-40B4-BE49-F238E27FC236}">
                <ns2:creationId id="{0BAE2473-3D77-4BF4-AD3D-BB5C169C3061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验证流水</a:t>
            </a:r>
          </a:p>
        </p:txBody>
      </p:sp>
      <p:sp>
        <p:nvSpPr>
          <p:cNvPr id="9" name="">
            <a:extLst>
              <a:ext uri="{FF2B5EF4-FFF2-40B4-BE49-F238E27FC236}">
                <ns2:creationId id="{7BDC4049-0432-4466-88AD-CDB8195BBC14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d9c01eb7-ae3a-48ea-baed-28a7bdfef52d</a:t>
            </a:r>
          </a:p>
        </p:txBody>
      </p:sp>
      <p:sp>
        <p:nvSpPr>
          <p:cNvPr id="10" name="">
            <a:extLst>
              <a:ext uri="{FF2B5EF4-FFF2-40B4-BE49-F238E27FC236}">
                <ns2:creationId id="{83141F3D-9A32-42D6-9B6D-3291B2B3650A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最终结果</a:t>
            </a:r>
          </a:p>
        </p:txBody>
      </p:sp>
      <p:sp>
        <p:nvSpPr>
          <p:cNvPr id="11" name="">
            <a:extLst>
              <a:ext uri="{FF2B5EF4-FFF2-40B4-BE49-F238E27FC236}">
                <ns2:creationId id="{1995A63B-E9A9-4283-AB65-E1B8F594D1B8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delivered_to_demo_inbox · 项目进度 60%</a:t>
            </a:r>
          </a:p>
        </p:txBody>
      </p:sp>
      <p:sp>
        <p:nvSpPr>
          <p:cNvPr id="12" name="">
            <a:extLst>
              <a:ext uri="{FF2B5EF4-FFF2-40B4-BE49-F238E27FC236}">
                <ns2:creationId id="{CFCD4B6B-40F7-436C-8763-A6F74FA8F725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只投递演示收件箱。没有发送真实邮件、付款或部署生产变更。</a:t>
            </a:r>
          </a:p>
        </p:txBody>
      </p:sp>
      <p:sp>
        <p:nvSpPr>
          <p:cNvPr id="13" name="">
            <a:extLst>
              <a:ext uri="{FF2B5EF4-FFF2-40B4-BE49-F238E27FC236}">
                <ns2:creationId id="{60D5EDAD-7143-4CD6-8816-4F141039364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063ec232e6a4f82"/>
              </a:rPr>
              <a:t>MYA 代码与实测</a:t>
            </a:r>
          </a:p>
        </p:txBody>
      </p:sp>
    </p:spTree>
    <p:extLst>
      <p:ext uri="{BB962C8B-B14F-4D97-AF65-F5344CB8AC3E}">
        <ns4:creationId val="2141099132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35818467-7EB7-430A-91DA-27B5417BD72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5：自动规则需要单独同意</a:t>
            </a:r>
          </a:p>
        </p:txBody>
      </p:sp>
      <p:sp>
        <p:nvSpPr>
          <p:cNvPr id="2" name="">
            <a:extLst>
              <a:ext uri="{FF2B5EF4-FFF2-40B4-BE49-F238E27FC236}">
                <ns2:creationId id="{60098588-4130-4F20-B23D-DF1E1881804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这一项已有自动测试，真人现场启用应作为独立步骤</a:t>
            </a:r>
          </a:p>
        </p:txBody>
      </p:sp>
      <p:sp>
        <p:nvSpPr>
          <p:cNvPr id="3" name="">
            <a:extLst>
              <a:ext uri="{FF2B5EF4-FFF2-40B4-BE49-F238E27FC236}">
                <ns2:creationId id="{E7717B1A-99CD-441E-8C94-E20F605E608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sp>
        <p:nvSpPr>
          <p:cNvPr id="4" name="">
            <a:extLst>
              <a:ext uri="{FF2B5EF4-FFF2-40B4-BE49-F238E27FC236}">
                <ns2:creationId id="{BFC7CB98-74A4-486D-9298-6B9AC40B33FA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规则草案</a:t>
            </a:r>
          </a:p>
        </p:txBody>
      </p:sp>
      <p:sp>
        <p:nvSpPr>
          <p:cNvPr id="5" name="">
            <a:extLst>
              <a:ext uri="{FF2B5EF4-FFF2-40B4-BE49-F238E27FC236}">
                <ns2:creationId id="{E976AA99-A1BC-4986-A8EB-20D165914046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从审批历史提出建议，用户在手机单独确认启用。</a:t>
            </a:r>
          </a:p>
        </p:txBody>
      </p:sp>
      <p:sp>
        <p:nvSpPr>
          <p:cNvPr id="6" name="">
            <a:extLst>
              <a:ext uri="{FF2B5EF4-FFF2-40B4-BE49-F238E27FC236}">
                <ns2:creationId id="{EE537DE7-27E8-4A28-B0BA-C903DA6A8BD4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限定范围</a:t>
            </a:r>
          </a:p>
        </p:txBody>
      </p:sp>
      <p:sp>
        <p:nvSpPr>
          <p:cNvPr id="7" name="">
            <a:extLst>
              <a:ext uri="{FF2B5EF4-FFF2-40B4-BE49-F238E27FC236}">
                <ns2:creationId id="{C5551204-8440-4F49-92B0-3575374EBA42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指定收件人、项目、字段、次数与有效期。</a:t>
            </a:r>
          </a:p>
        </p:txBody>
      </p:sp>
      <p:sp>
        <p:nvSpPr>
          <p:cNvPr id="8" name="">
            <a:extLst>
              <a:ext uri="{FF2B5EF4-FFF2-40B4-BE49-F238E27FC236}">
                <ns2:creationId id="{0EB92FBE-5D10-4C5F-B714-51DA1418DCA6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例外转人工</a:t>
            </a:r>
          </a:p>
        </p:txBody>
      </p:sp>
      <p:sp>
        <p:nvSpPr>
          <p:cNvPr id="9" name="">
            <a:extLst>
              <a:ext uri="{FF2B5EF4-FFF2-40B4-BE49-F238E27FC236}">
                <ns2:creationId id="{618C76F6-944E-40B1-B8CD-C709F6B62941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换收件人、超范围或出现未知字段，重新提交人工审批。</a:t>
            </a:r>
          </a:p>
        </p:txBody>
      </p:sp>
      <p:sp>
        <p:nvSpPr>
          <p:cNvPr id="10" name="">
            <a:extLst>
              <a:ext uri="{FF2B5EF4-FFF2-40B4-BE49-F238E27FC236}">
                <ns2:creationId id="{9E6C845C-E54D-4AD8-BFCD-F396A73E4C11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随时终止</a:t>
            </a:r>
          </a:p>
        </p:txBody>
      </p:sp>
      <p:sp>
        <p:nvSpPr>
          <p:cNvPr id="11" name="">
            <a:extLst>
              <a:ext uri="{FF2B5EF4-FFF2-40B4-BE49-F238E27FC236}">
                <ns2:creationId id="{F638A7ED-CC19-4A31-898D-3ED5FBDAF116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暂停规则、撤销关系或取消请求，资源端检查当前状态。</a:t>
            </a:r>
          </a:p>
        </p:txBody>
      </p:sp>
      <p:sp>
        <p:nvSpPr>
          <p:cNvPr id="12" name="">
            <a:extLst>
              <a:ext uri="{FF2B5EF4-FFF2-40B4-BE49-F238E27FC236}">
                <ns2:creationId id="{CA0ADD18-EE9D-496C-ACEE-0C8DE3B2DB6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本次没有替用户启用自动规则。不能把单次人工批准解释成长期委托。</a:t>
            </a:r>
          </a:p>
        </p:txBody>
      </p:sp>
      <p:sp>
        <p:nvSpPr>
          <p:cNvPr id="13" name="">
            <a:extLst>
              <a:ext uri="{FF2B5EF4-FFF2-40B4-BE49-F238E27FC236}">
                <ns2:creationId id="{B1B2E6AB-B3EB-4979-814A-FEE196C99E2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227e37980e84376"/>
              </a:rPr>
              <a:t>MYA 代码与实测</a:t>
            </a:r>
          </a:p>
        </p:txBody>
      </p:sp>
    </p:spTree>
    <p:extLst>
      <p:ext uri="{BB962C8B-B14F-4D97-AF65-F5344CB8AC3E}">
        <ns4:creationId val="1275094181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B92ADC2B-5970-4AED-9ECD-17B2C482294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Hook 接入：在工具执行前设置检查点</a:t>
            </a:r>
          </a:p>
        </p:txBody>
      </p:sp>
      <p:sp>
        <p:nvSpPr>
          <p:cNvPr id="2" name="">
            <a:extLst>
              <a:ext uri="{FF2B5EF4-FFF2-40B4-BE49-F238E27FC236}">
                <ns2:creationId id="{1FA0D1CF-BFB1-465C-A1E0-FEB42245ABD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三层配合，各自承担不同职责</a:t>
            </a:r>
          </a:p>
        </p:txBody>
      </p:sp>
      <p:sp>
        <p:nvSpPr>
          <p:cNvPr id="3" name="">
            <a:extLst>
              <a:ext uri="{FF2B5EF4-FFF2-40B4-BE49-F238E27FC236}">
                <ns2:creationId id="{23B7FE75-84C2-4BE2-A095-A64198BC6A7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238500"/>
        </p:xfrm>
        <a:graphic>
          <a:graphicData uri="http://schemas.openxmlformats.org/drawingml/2006/table">
            <a:tbl>
              <a:tblPr/>
              <a:tblGrid>
                <a:gridCol w="2619375"/>
                <a:gridCol w="4714875"/>
                <a:gridCol w="36385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本轮实现或设计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Skill · 协作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提交、持续等待、修改、出示和回执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 Agent 按流程调用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PreToolUse · 前置门禁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对严格 MYA execute 命令检查授权并 deny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需要原生加载；不覆盖任意 shell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 · 强制授权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对实际执行再验签、核对范围和当前状态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真正的业务执行必须接入受控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2180A73C-746F-4D1F-9ED2-9A05D21EA6B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Hook 拒绝后，Agent 申请并等待；批准后重试。检查通过不替代执行端的再次验证。</a:t>
            </a:r>
          </a:p>
        </p:txBody>
      </p:sp>
      <p:sp>
        <p:nvSpPr>
          <p:cNvPr id="6" name="">
            <a:extLst>
              <a:ext uri="{FF2B5EF4-FFF2-40B4-BE49-F238E27FC236}">
                <ns2:creationId id="{5DDA060F-81CB-4296-A3C2-39961915F4CA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a17cdb050b84ae2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2acfcdb9641428d"/>
              </a:rPr>
              <a:t>Codex Hooks</a:t>
            </a:r>
          </a:p>
        </p:txBody>
      </p:sp>
    </p:spTree>
    <p:extLst>
      <p:ext uri="{BB962C8B-B14F-4D97-AF65-F5344CB8AC3E}">
        <ns4:creationId val="1742586023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EF0CAF85-9FB9-4DBB-A103-43AFD56AB51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验收状态：当前会话热插入未通过</a:t>
            </a:r>
          </a:p>
        </p:txBody>
      </p:sp>
      <p:sp>
        <p:nvSpPr>
          <p:cNvPr id="2" name="">
            <a:extLst>
              <a:ext uri="{FF2B5EF4-FFF2-40B4-BE49-F238E27FC236}">
                <ns2:creationId id="{ADA43263-29C2-498D-910D-0422AFEE13F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已安装、已信任，与当前进程真正拦截，是不同状态</a:t>
            </a:r>
          </a:p>
        </p:txBody>
      </p:sp>
      <p:sp>
        <p:nvSpPr>
          <p:cNvPr id="3" name="">
            <a:extLst>
              <a:ext uri="{FF2B5EF4-FFF2-40B4-BE49-F238E27FC236}">
                <ns2:creationId id="{39E73279-A4BB-4E78-86F7-D13B9D012E4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619500"/>
        </p:xfrm>
        <a:graphic>
          <a:graphicData uri="http://schemas.openxmlformats.org/drawingml/2006/table">
            <a:tbl>
              <a:tblPr/>
              <a:tblGrid>
                <a:gridCol w="2809875"/>
                <a:gridCol w="4333875"/>
                <a:gridCol w="3829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能说明什么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 Hook 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写入并保存时间戳回滚清单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定义已安装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原生 /hooks 审阅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同版本 CLI 显示 Trusted / Sync / 30s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定义已被信任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当前会话两次 canary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两次均执行并写入测试标记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当前热插入没有生效证据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处理函数与协议测试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18 项通过；旧授权因过期被拒绝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逻辑可测试，不能替代原生拦截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F02AC3B0-9299-4EA8-BB2A-7F02D6D64EA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未重启正在工作的桌面应用，也未用另一个模型会话冒充当前进程的成功。</a:t>
            </a:r>
          </a:p>
        </p:txBody>
      </p:sp>
      <p:sp>
        <p:nvSpPr>
          <p:cNvPr id="6" name="">
            <a:extLst>
              <a:ext uri="{FF2B5EF4-FFF2-40B4-BE49-F238E27FC236}">
                <ns2:creationId id="{47C28A4A-E1DF-429B-8054-A93F9994B76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171c16dc4544065"/>
              </a:rPr>
              <a:t>Codex Hooks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2d02ae995d894215"/>
              </a:rPr>
              <a:t>MYA 代码与实测</a:t>
            </a:r>
          </a:p>
        </p:txBody>
      </p:sp>
    </p:spTree>
    <p:extLst>
      <p:ext uri="{BB962C8B-B14F-4D97-AF65-F5344CB8AC3E}">
        <ns4:creationId val="1567128556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C4B2637-24D3-4445-9B96-6C24BADBB01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下一轮验收：五项证据同时成立</a:t>
            </a:r>
          </a:p>
        </p:txBody>
      </p:sp>
      <p:sp>
        <p:nvSpPr>
          <p:cNvPr id="2" name="">
            <a:extLst>
              <a:ext uri="{FF2B5EF4-FFF2-40B4-BE49-F238E27FC236}">
                <ns2:creationId id="{EC1A01F8-22BB-440D-AD92-B15148A5CAB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先证明原生拦截，再开始手机审批</a:t>
            </a:r>
          </a:p>
        </p:txBody>
      </p:sp>
      <p:sp>
        <p:nvSpPr>
          <p:cNvPr id="3" name="">
            <a:extLst>
              <a:ext uri="{FF2B5EF4-FFF2-40B4-BE49-F238E27FC236}">
                <ns2:creationId id="{52F12993-E0CF-4B81-8ED2-57115FD1943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  <p:sp>
        <p:nvSpPr>
          <p:cNvPr id="4" name="">
            <a:extLst>
              <a:ext uri="{FF2B5EF4-FFF2-40B4-BE49-F238E27FC236}">
                <ns2:creationId id="{91D1C440-88DD-4226-9E8F-DE5CB367303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1 探针先过</a:t>
            </a:r>
          </a:p>
        </p:txBody>
      </p:sp>
      <p:sp>
        <p:nvSpPr>
          <p:cNvPr id="5" name="">
            <a:extLst>
              <a:ext uri="{FF2B5EF4-FFF2-40B4-BE49-F238E27FC236}">
                <ns2:creationId id="{507339C3-FAA5-4B7D-804A-6F756093A84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原生返回 CANARY_BLOCKED，日志匹配本次调用，标记未更新。</a:t>
            </a:r>
          </a:p>
        </p:txBody>
      </p:sp>
      <p:sp>
        <p:nvSpPr>
          <p:cNvPr id="6" name="">
            <a:extLst>
              <a:ext uri="{FF2B5EF4-FFF2-40B4-BE49-F238E27FC236}">
                <ns2:creationId id="{EF30EFE0-D9AF-4BB1-94B2-3628F87AEB77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2 未批准拒绝</a:t>
            </a:r>
          </a:p>
        </p:txBody>
      </p:sp>
      <p:sp>
        <p:nvSpPr>
          <p:cNvPr id="7" name="">
            <a:extLst>
              <a:ext uri="{FF2B5EF4-FFF2-40B4-BE49-F238E27FC236}">
                <ns2:creationId id="{3C2788B5-775B-4839-84EC-30F8F8B9FCA8}"/>
              </a:ext>
            </a:extLst>
          </p:cNvPr>
          <p:cNvSpPr>
            <a:spLocks noGrp="1"/>
          </p:cNvSpPr>
          <p:nvPr/>
        </p:nvSpPr>
        <p:spPr>
          <a:xfrm>
            <a:off x="2705100" y="28003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新请求直接 execute 被 Hook 拒绝，资源端无执行回执。</a:t>
            </a:r>
          </a:p>
        </p:txBody>
      </p:sp>
      <p:sp>
        <p:nvSpPr>
          <p:cNvPr id="8" name="">
            <a:extLst>
              <a:ext uri="{FF2B5EF4-FFF2-40B4-BE49-F238E27FC236}">
                <ns2:creationId id="{4EE6E846-6887-41E5-927B-FBEF48AC94D5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3 手机真实授权</a:t>
            </a:r>
          </a:p>
        </p:txBody>
      </p:sp>
      <p:sp>
        <p:nvSpPr>
          <p:cNvPr id="9" name="">
            <a:extLst>
              <a:ext uri="{FF2B5EF4-FFF2-40B4-BE49-F238E27FC236}">
                <ns2:creationId id="{D5BB2BAD-4D8F-4F85-A733-83692E8B9EB3}"/>
              </a:ext>
            </a:extLst>
          </p:cNvPr>
          <p:cNvSpPr>
            <a:spLocks noGrp="1"/>
          </p:cNvSpPr>
          <p:nvPr/>
        </p:nvSpPr>
        <p:spPr>
          <a:xfrm>
            <a:off x="2705100" y="37433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用户审阅或要求修改；Agent 持续等待新版本的批准。</a:t>
            </a:r>
          </a:p>
        </p:txBody>
      </p:sp>
      <p:sp>
        <p:nvSpPr>
          <p:cNvPr id="10" name="">
            <a:extLst>
              <a:ext uri="{FF2B5EF4-FFF2-40B4-BE49-F238E27FC236}">
                <ns2:creationId id="{FAD06F9A-4F4D-444C-BA07-C07836346A84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4–5 放行与回执</a:t>
            </a:r>
          </a:p>
        </p:txBody>
      </p:sp>
      <p:sp>
        <p:nvSpPr>
          <p:cNvPr id="11" name="">
            <a:extLst>
              <a:ext uri="{FF2B5EF4-FFF2-40B4-BE49-F238E27FC236}">
                <ns2:creationId id="{46A6F5C2-EA01-4F31-80D2-A223422749DE}"/>
              </a:ext>
            </a:extLst>
          </p:cNvPr>
          <p:cNvSpPr>
            <a:spLocks noGrp="1"/>
          </p:cNvSpPr>
          <p:nvPr/>
        </p:nvSpPr>
        <p:spPr>
          <a:xfrm>
            <a:off x="2705100" y="46863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同请求重试通过 Hook；钱包出示、资源执行、签名回执对应。</a:t>
            </a:r>
          </a:p>
        </p:txBody>
      </p:sp>
      <p:sp>
        <p:nvSpPr>
          <p:cNvPr id="12" name="">
            <a:extLst>
              <a:ext uri="{FF2B5EF4-FFF2-40B4-BE49-F238E27FC236}">
                <ns2:creationId id="{E10BA77F-42A2-4175-B0E0-38756A68D527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若 canary 仍打印 CANARY_EXECUTED，就判定加载失败，不能继续宣称 Hook 验收成功。</a:t>
            </a:r>
          </a:p>
        </p:txBody>
      </p:sp>
      <p:sp>
        <p:nvSpPr>
          <p:cNvPr id="13" name="">
            <a:extLst>
              <a:ext uri="{FF2B5EF4-FFF2-40B4-BE49-F238E27FC236}">
                <ns2:creationId id="{5DD94182-A2ED-4835-862B-42272166061E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67302cc169c4ea1"/>
              </a:rPr>
              <a:t>Codex Hooks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639aff946d8497c"/>
              </a:rPr>
              <a:t>MYA 代码与实测</a:t>
            </a:r>
          </a:p>
        </p:txBody>
      </p:sp>
    </p:spTree>
    <p:extLst>
      <p:ext uri="{BB962C8B-B14F-4D97-AF65-F5344CB8AC3E}">
        <ns4:creationId val="1364961495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7C3DDC50-25C6-4237-BD24-084F9993822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现场演示顺序与讲解重点</a:t>
            </a:r>
          </a:p>
        </p:txBody>
      </p:sp>
      <p:sp>
        <p:nvSpPr>
          <p:cNvPr id="2" name="">
            <a:extLst>
              <a:ext uri="{FF2B5EF4-FFF2-40B4-BE49-F238E27FC236}">
                <ns2:creationId id="{FD3304C4-7173-45C9-A80B-BC030010DA7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建议约 15–20 分钟；已完成事实与现场待测分开</a:t>
            </a:r>
          </a:p>
        </p:txBody>
      </p:sp>
      <p:sp>
        <p:nvSpPr>
          <p:cNvPr id="3" name="">
            <a:extLst>
              <a:ext uri="{FF2B5EF4-FFF2-40B4-BE49-F238E27FC236}">
                <ns2:creationId id="{5FB3FC41-F0FF-491B-8800-56A5843837C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="609600" y="1857375"/>
          <a:ext cx="10972800" cy="3571875"/>
        </p:xfrm>
        <a:graphic>
          <a:graphicData uri="http://schemas.openxmlformats.org/drawingml/2006/table">
            <a:tbl>
              <a:tblPr/>
              <a:tblGrid>
                <a:gridCol w="2095500"/>
                <a:gridCol w="5048250"/>
                <a:gridCol w="3829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展示内容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观众应理解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开场与绑定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远程审批、密码学关系、QR＋码＋两端短码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谁和谁建立了什么关系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修改与等待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成本报告、修改理由、安全版本、持续轮询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用户批准的是哪个具体行动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出示与回执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受信挑战、钱包签名、逐项结果、执行记录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凭什么放行，实际发生了什么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规则与 Hook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单独启用规则；演示原生拦截判定标准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有限授权与强制边界在哪里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F78B2FC7-FE0F-452F-B0C3-E9DDADC4CE1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操作命令、异常分支、真实记录及下一轮验收，均见仓库完整演示文档。</a:t>
            </a:r>
          </a:p>
        </p:txBody>
      </p:sp>
      <p:sp>
        <p:nvSpPr>
          <p:cNvPr id="6" name="">
            <a:extLst>
              <a:ext uri="{FF2B5EF4-FFF2-40B4-BE49-F238E27FC236}">
                <ns2:creationId id="{7467E3F9-41C2-4BD4-A437-DB5DD87EAA3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9caa79e548554867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96ed236c9f64eb3"/>
              </a:rPr>
              <a:t>Codex Hooks</a:t>
            </a:r>
          </a:p>
        </p:txBody>
      </p:sp>
    </p:spTree>
    <p:extLst>
      <p:ext uri="{BB962C8B-B14F-4D97-AF65-F5344CB8AC3E}">
        <ns4:creationId val="503916836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E4655E3-92D0-4EF9-A466-814941E9FDC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03  同类产品与差异化</a:t>
            </a:r>
          </a:p>
        </p:txBody>
      </p:sp>
      <p:sp>
        <p:nvSpPr>
          <p:cNvPr id="2" name="">
            <a:extLst>
              <a:ext uri="{FF2B5EF4-FFF2-40B4-BE49-F238E27FC236}">
                <ns2:creationId id="{4C4A7B4B-FE7A-4EA4-AD09-20B57E07BDF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先了解同一厂商的产品体系，再判断 MYA 值得验证的组合</a:t>
            </a:r>
          </a:p>
        </p:txBody>
      </p:sp>
      <p:sp>
        <p:nvSpPr>
          <p:cNvPr id="3" name="">
            <a:extLst>
              <a:ext uri="{FF2B5EF4-FFF2-40B4-BE49-F238E27FC236}">
                <ns2:creationId id="{EA18A65A-F97D-4C8E-94B0-8FBC4468B9C3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  <p:sp>
        <p:nvSpPr>
          <p:cNvPr id="4" name="">
            <a:extLst>
              <a:ext uri="{FF2B5EF4-FFF2-40B4-BE49-F238E27FC236}">
                <ns2:creationId id="{AD6B0936-E88A-48D4-980E-D709C0E0BD00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34—36</a:t>
            </a:r>
          </a:p>
        </p:txBody>
      </p:sp>
      <p:sp>
        <p:nvSpPr>
          <p:cNvPr id="5" name="">
            <a:extLst>
              <a:ext uri="{FF2B5EF4-FFF2-40B4-BE49-F238E27FC236}">
                <ns2:creationId id="{900C1AF6-C2C2-4E8D-A7FB-AA1C6FD339E4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与 AgentBee</a:t>
            </a:r>
          </a:p>
        </p:txBody>
      </p:sp>
      <p:sp>
        <p:nvSpPr>
          <p:cNvPr id="6" name="">
            <a:extLst>
              <a:ext uri="{FF2B5EF4-FFF2-40B4-BE49-F238E27FC236}">
                <ns2:creationId id="{076E0CF5-08B1-4B55-8328-6D19526538AE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身份平台、手机认证器与硬件审批设备</a:t>
            </a:r>
          </a:p>
        </p:txBody>
      </p:sp>
      <p:sp>
        <p:nvSpPr>
          <p:cNvPr id="7" name="">
            <a:extLst>
              <a:ext uri="{FF2B5EF4-FFF2-40B4-BE49-F238E27FC236}">
                <ns2:creationId id="{6291B52E-5A25-4C18-BFE8-4177248AF54E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37—38</a:t>
            </a:r>
          </a:p>
        </p:txBody>
      </p:sp>
      <p:sp>
        <p:nvSpPr>
          <p:cNvPr id="8" name="">
            <a:extLst>
              <a:ext uri="{FF2B5EF4-FFF2-40B4-BE49-F238E27FC236}">
                <ns2:creationId id="{07A86942-AE04-402B-8920-DAFC4A1EE3DC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公司背景与证据边界</a:t>
            </a:r>
          </a:p>
        </p:txBody>
      </p:sp>
      <p:sp>
        <p:nvSpPr>
          <p:cNvPr id="9" name="">
            <a:extLst>
              <a:ext uri="{FF2B5EF4-FFF2-40B4-BE49-F238E27FC236}">
                <ns2:creationId id="{5E7C1F53-8345-4538-AC82-F6E4DC852A1D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区分登记事实、厂商声明和未核实信息</a:t>
            </a:r>
          </a:p>
        </p:txBody>
      </p:sp>
      <p:sp>
        <p:nvSpPr>
          <p:cNvPr id="10" name="">
            <a:extLst>
              <a:ext uri="{FF2B5EF4-FFF2-40B4-BE49-F238E27FC236}">
                <ns2:creationId id="{88CDB413-5BFD-4847-B361-5C4EA7754639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39—40</a:t>
            </a:r>
          </a:p>
        </p:txBody>
      </p:sp>
      <p:sp>
        <p:nvSpPr>
          <p:cNvPr id="11" name="">
            <a:extLst>
              <a:ext uri="{FF2B5EF4-FFF2-40B4-BE49-F238E27FC236}">
                <ns2:creationId id="{714A73AA-A137-42EE-8E21-3F2CCE2CB8AA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的方向与验证方法</a:t>
            </a:r>
          </a:p>
        </p:txBody>
      </p:sp>
      <p:sp>
        <p:nvSpPr>
          <p:cNvPr id="12" name="">
            <a:extLst>
              <a:ext uri="{FF2B5EF4-FFF2-40B4-BE49-F238E27FC236}">
                <ns2:creationId id="{912FB641-FA3C-4DF1-9957-1B0ACCC65289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比较完整任务体验，形成下一轮试点指标</a:t>
            </a:r>
          </a:p>
        </p:txBody>
      </p:sp>
      <p:sp>
        <p:nvSpPr>
          <p:cNvPr id="13" name="">
            <a:extLst>
              <a:ext uri="{FF2B5EF4-FFF2-40B4-BE49-F238E27FC236}">
                <ns2:creationId id="{995C1795-9809-4429-893C-74DC6D1DBB7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远程确认和密码学签名已有同类实现；差异化要由完整流程与实测证明。</a:t>
            </a:r>
          </a:p>
        </p:txBody>
      </p:sp>
    </p:spTree>
    <p:extLst>
      <p:ext uri="{BB962C8B-B14F-4D97-AF65-F5344CB8AC3E}">
        <ns4:creationId val="912169419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0" name="">
            <a:extLst>
              <a:ext uri="{FF2B5EF4-FFF2-40B4-BE49-F238E27FC236}">
                <ns2:creationId id="{19E8B127-F861-46D8-B03B-AB1963D50A3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与 AgentBee 属于同一产品体系</a:t>
            </a:r>
          </a:p>
        </p:txBody>
      </p:sp>
      <p:sp>
        <p:nvSpPr>
          <p:cNvPr id="2" name="">
            <a:extLst>
              <a:ext uri="{FF2B5EF4-FFF2-40B4-BE49-F238E27FC236}">
                <ns2:creationId id="{33020BCC-90F1-4CB1-9F9B-B6057BC7575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CyberSecAI Ltd：平台、手机认证器与硬件审批设备</a:t>
            </a:r>
          </a:p>
        </p:txBody>
      </p:sp>
      <p:sp>
        <p:nvSpPr>
          <p:cNvPr id="3" name="">
            <a:extLst>
              <a:ext uri="{FF2B5EF4-FFF2-40B4-BE49-F238E27FC236}">
                <ns2:creationId id="{020FCA35-C0BD-4F26-9278-91400B8C7B8C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34</a:t>
            </a:r>
          </a:p>
        </p:txBody>
      </p:sp>
      <p:sp>
        <p:nvSpPr>
          <p:cNvPr id="4" name="">
            <a:extLst>
              <a:ext uri="{FF2B5EF4-FFF2-40B4-BE49-F238E27FC236}">
                <ns2:creationId id="{78EC7AA3-39E0-470A-BA56-551075BA5AE2}"/>
              </a:ext>
            </a:extLst>
          </p:cNvPr>
          <p:cNvSpPr>
            <a:spLocks noGrp="1"/>
          </p:cNvSpPr>
          <p:nvPr/>
        </p:nvSpPr>
        <p:spPr>
          <a:xfrm>
            <a:off x="3219450" y="1971675"/>
            <a:ext cx="5743575" cy="100965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1F3B7CA6-F87A-4048-BE36-5002ED200863}"/>
              </a:ext>
            </a:extLst>
          </p:cNvPr>
          <p:cNvSpPr>
            <a:spLocks noGrp="1"/>
          </p:cNvSpPr>
          <p:nvPr/>
        </p:nvSpPr>
        <p:spPr>
          <a:xfrm>
            <a:off x="3362325" y="2085975"/>
            <a:ext cx="54578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CyberSecAI Ltd</a:t>
            </a:r>
          </a:p>
        </p:txBody>
      </p:sp>
      <p:sp>
        <p:nvSpPr>
          <p:cNvPr id="6" name="">
            <a:extLst>
              <a:ext uri="{FF2B5EF4-FFF2-40B4-BE49-F238E27FC236}">
                <ns2:creationId id="{8205C1EA-27EA-4B90-B3A6-082D6DD89E73}"/>
              </a:ext>
            </a:extLst>
          </p:cNvPr>
          <p:cNvSpPr>
            <a:spLocks noGrp="1"/>
          </p:cNvSpPr>
          <p:nvPr/>
        </p:nvSpPr>
        <p:spPr>
          <a:xfrm>
            <a:off x="3362325" y="2476500"/>
            <a:ext cx="54578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英国公司，AgentPass / AgentBee 运营主体</a:t>
            </a:r>
          </a:p>
        </p:txBody>
      </p:sp>
      <p:sp>
        <p:nvSpPr>
          <p:cNvPr id="7" name="">
            <a:extLst>
              <a:ext uri="{FF2B5EF4-FFF2-40B4-BE49-F238E27FC236}">
                <ns2:creationId id="{F717A767-0FCD-4B36-91B4-3B44C7A6976A}"/>
              </a:ext>
            </a:extLst>
          </p:cNvPr>
          <p:cNvSpPr>
            <a:spLocks noGrp="1"/>
          </p:cNvSpPr>
          <p:nvPr/>
        </p:nvSpPr>
        <p:spPr>
          <a:xfrm>
            <a:off x="619125" y="4352925"/>
            <a:ext cx="3238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88E1FFF7-01E2-4EE7-98D1-E2E6EB78B14B}"/>
              </a:ext>
            </a:extLst>
          </p:cNvPr>
          <p:cNvSpPr>
            <a:spLocks noGrp="1"/>
          </p:cNvSpPr>
          <p:nvPr/>
        </p:nvSpPr>
        <p:spPr>
          <a:xfrm>
            <a:off x="762000" y="44672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</a:t>
            </a:r>
          </a:p>
        </p:txBody>
      </p:sp>
      <p:sp>
        <p:nvSpPr>
          <p:cNvPr id="9" name="">
            <a:extLst>
              <a:ext uri="{FF2B5EF4-FFF2-40B4-BE49-F238E27FC236}">
                <ns2:creationId id="{66A6904A-9A26-45D6-8DB1-D9BD652A4A18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身份与行动治理平台</a:t>
            </a:r>
          </a:p>
        </p:txBody>
      </p:sp>
      <p:cxnSp>
        <p:nvCxnSpPr>
          <p:cNvPr id="29" name=""/>
          <p:cNvCxnSpPr>
            <a:stCxn id="4" idx="2"/>
            <a:endCxn id="7" idx="0"/>
          </p:cNvCxnSpPr>
          <p:nvPr/>
        </p:nvCxnSpPr>
        <p:spPr>
          <a:xfrm flipH="1">
            <a:off x="2238375" y="2981325"/>
            <a:ext cx="3852863" cy="13716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1" name="">
            <a:extLst>
              <a:ext uri="{FF2B5EF4-FFF2-40B4-BE49-F238E27FC236}">
                <ns2:creationId id="{3A4E7A9A-FFE3-40D4-AB9C-CC70DBE59D02}"/>
              </a:ext>
            </a:extLst>
          </p:cNvPr>
          <p:cNvSpPr>
            <a:spLocks noGrp="1"/>
          </p:cNvSpPr>
          <p:nvPr/>
        </p:nvSpPr>
        <p:spPr>
          <a:xfrm>
            <a:off x="4486275" y="4352925"/>
            <a:ext cx="3238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2" name="">
            <a:extLst>
              <a:ext uri="{FF2B5EF4-FFF2-40B4-BE49-F238E27FC236}">
                <ns2:creationId id="{43E8296F-2BFE-4279-A1FD-14DD3D6F1044}"/>
              </a:ext>
            </a:extLst>
          </p:cNvPr>
          <p:cNvSpPr>
            <a:spLocks noGrp="1"/>
          </p:cNvSpPr>
          <p:nvPr/>
        </p:nvSpPr>
        <p:spPr>
          <a:xfrm>
            <a:off x="4629150" y="44672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Authenticator</a:t>
            </a:r>
          </a:p>
        </p:txBody>
      </p:sp>
      <p:sp>
        <p:nvSpPr>
          <p:cNvPr id="13" name="">
            <a:extLst>
              <a:ext uri="{FF2B5EF4-FFF2-40B4-BE49-F238E27FC236}">
                <ns2:creationId id="{E3B332E5-A56D-442D-821D-D72432EA558E}"/>
              </a:ext>
            </a:extLst>
          </p:cNvPr>
          <p:cNvSpPr>
            <a:spLocks noGrp="1"/>
          </p:cNvSpPr>
          <p:nvPr/>
        </p:nvSpPr>
        <p:spPr>
          <a:xfrm>
            <a:off x="4629150" y="485775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手机审批与硬件密钥签名</a:t>
            </a:r>
          </a:p>
        </p:txBody>
      </p:sp>
      <p:cxnSp>
        <p:nvCxnSpPr>
          <p:cNvPr id="33" name=""/>
          <p:cNvCxnSpPr>
            <a:stCxn id="4" idx="2"/>
            <a:endCxn id="11" idx="0"/>
          </p:cNvCxnSpPr>
          <p:nvPr/>
        </p:nvCxnSpPr>
        <p:spPr>
          <a:xfrm>
            <a:off x="6091238" y="2981325"/>
            <a:ext cx="14288" cy="13716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8EEF7050-D1E1-4738-A097-60C737285B2F}"/>
              </a:ext>
            </a:extLst>
          </p:cNvPr>
          <p:cNvSpPr>
            <a:spLocks noGrp="1"/>
          </p:cNvSpPr>
          <p:nvPr/>
        </p:nvSpPr>
        <p:spPr>
          <a:xfrm>
            <a:off x="8353425" y="4352925"/>
            <a:ext cx="3238500" cy="10668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6" name="">
            <a:extLst>
              <a:ext uri="{FF2B5EF4-FFF2-40B4-BE49-F238E27FC236}">
                <ns2:creationId id="{9DD68CF1-EBC5-40C3-96FA-B88D1B0BA372}"/>
              </a:ext>
            </a:extLst>
          </p:cNvPr>
          <p:cNvSpPr>
            <a:spLocks noGrp="1"/>
          </p:cNvSpPr>
          <p:nvPr/>
        </p:nvSpPr>
        <p:spPr>
          <a:xfrm>
            <a:off x="8496300" y="4467225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AgentBee</a:t>
            </a:r>
          </a:p>
        </p:txBody>
      </p:sp>
      <p:sp>
        <p:nvSpPr>
          <p:cNvPr id="17" name="">
            <a:extLst>
              <a:ext uri="{FF2B5EF4-FFF2-40B4-BE49-F238E27FC236}">
                <ns2:creationId id="{426CD4BA-C207-4AD7-8F27-8B65DF7BD8DE}"/>
              </a:ext>
            </a:extLst>
          </p:cNvPr>
          <p:cNvSpPr>
            <a:spLocks noGrp="1"/>
          </p:cNvSpPr>
          <p:nvPr/>
        </p:nvSpPr>
        <p:spPr>
          <a:xfrm>
            <a:off x="8496300" y="485775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USB 带屏硬件审批设备</a:t>
            </a:r>
          </a:p>
        </p:txBody>
      </p:sp>
      <p:cxnSp>
        <p:nvCxnSpPr>
          <p:cNvPr id="37" name=""/>
          <p:cNvCxnSpPr>
            <a:stCxn id="4" idx="2"/>
            <a:endCxn id="15" idx="0"/>
          </p:cNvCxnSpPr>
          <p:nvPr/>
        </p:nvCxnSpPr>
        <p:spPr>
          <a:xfrm>
            <a:off x="6091238" y="2981325"/>
            <a:ext cx="3881438" cy="137160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>
              <a:ext uri="{FF2B5EF4-FFF2-40B4-BE49-F238E27FC236}">
                <ns2:creationId id="{2D0FF629-C0C9-4AFF-ACB6-D056387DB69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产品能力来自厂商公开说明；本次没有软件接入或硬件实测。</a:t>
            </a:r>
          </a:p>
        </p:txBody>
      </p:sp>
    </p:spTree>
    <p:extLst>
      <p:ext uri="{BB962C8B-B14F-4D97-AF65-F5344CB8AC3E}">
        <ns3:creationId val="945765232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62DB9ED5-147E-427C-A7F5-1371405FEAD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将身份、信任等级与行动控制连接</a:t>
            </a:r>
          </a:p>
        </p:txBody>
      </p:sp>
      <p:sp>
        <p:nvSpPr>
          <p:cNvPr id="2" name="">
            <a:extLst>
              <a:ext uri="{FF2B5EF4-FFF2-40B4-BE49-F238E27FC236}">
                <ns2:creationId id="{3AE46DA2-736D-4E61-8211-E15A62B682E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厂商公开能力，尚未由本次研究独立验证</a:t>
            </a:r>
          </a:p>
        </p:txBody>
      </p:sp>
      <p:sp>
        <p:nvSpPr>
          <p:cNvPr id="3" name="">
            <a:extLst>
              <a:ext uri="{FF2B5EF4-FFF2-40B4-BE49-F238E27FC236}">
                <ns2:creationId id="{E8D0C43D-AD1E-425E-8EE4-C82488E3D40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35</a:t>
            </a:r>
          </a:p>
        </p:txBody>
      </p:sp>
      <p:sp>
        <p:nvSpPr>
          <p:cNvPr id="4" name="">
            <a:extLst>
              <a:ext uri="{FF2B5EF4-FFF2-40B4-BE49-F238E27FC236}">
                <ns2:creationId id="{585CC865-B07A-48E8-BAF7-A7FC579636F7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平台层</a:t>
            </a:r>
          </a:p>
        </p:txBody>
      </p:sp>
      <p:sp>
        <p:nvSpPr>
          <p:cNvPr id="5" name="">
            <a:extLst>
              <a:ext uri="{FF2B5EF4-FFF2-40B4-BE49-F238E27FC236}">
                <ns2:creationId id="{61198C21-0782-4854-8A54-0ED4207B66A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证书、分级信任、签名行动与行为监测，形成治理平台。</a:t>
            </a:r>
          </a:p>
        </p:txBody>
      </p:sp>
      <p:sp>
        <p:nvSpPr>
          <p:cNvPr id="6" name="">
            <a:extLst>
              <a:ext uri="{FF2B5EF4-FFF2-40B4-BE49-F238E27FC236}">
                <ns2:creationId id="{A9BE9C0A-0C41-4D56-BF75-A58CD8B6EDBE}"/>
              </a:ext>
            </a:extLst>
          </p:cNvPr>
          <p:cNvSpPr>
            <a:spLocks noGrp="1"/>
          </p:cNvSpPr>
          <p:nvPr/>
        </p:nvSpPr>
        <p:spPr>
          <a:xfrm>
            <a:off x="628650" y="30099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手机审批层</a:t>
            </a:r>
          </a:p>
        </p:txBody>
      </p:sp>
      <p:sp>
        <p:nvSpPr>
          <p:cNvPr id="7" name="">
            <a:extLst>
              <a:ext uri="{FF2B5EF4-FFF2-40B4-BE49-F238E27FC236}">
                <ns2:creationId id="{979EBF85-8567-43EA-ABDB-5777D7C605B2}"/>
              </a:ext>
            </a:extLst>
          </p:cNvPr>
          <p:cNvSpPr>
            <a:spLocks noGrp="1"/>
          </p:cNvSpPr>
          <p:nvPr/>
        </p:nvSpPr>
        <p:spPr>
          <a:xfrm>
            <a:off x="2705100" y="30099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关键行动由服务端挂起；手机展示参数，用户确认后签名放行。</a:t>
            </a:r>
          </a:p>
        </p:txBody>
      </p:sp>
      <p:sp>
        <p:nvSpPr>
          <p:cNvPr id="8" name="">
            <a:extLst>
              <a:ext uri="{FF2B5EF4-FFF2-40B4-BE49-F238E27FC236}">
                <ns2:creationId id="{21AECBB0-33EE-4965-A6C8-D19495BBC98C}"/>
              </a:ext>
            </a:extLst>
          </p:cNvPr>
          <p:cNvSpPr>
            <a:spLocks noGrp="1"/>
          </p:cNvSpPr>
          <p:nvPr/>
        </p:nvSpPr>
        <p:spPr>
          <a:xfrm>
            <a:off x="628650" y="4162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接入与可用性</a:t>
            </a:r>
          </a:p>
        </p:txBody>
      </p:sp>
      <p:sp>
        <p:nvSpPr>
          <p:cNvPr id="9" name="">
            <a:extLst>
              <a:ext uri="{FF2B5EF4-FFF2-40B4-BE49-F238E27FC236}">
                <ns2:creationId id="{1F9D85CC-F262-42ED-822A-1B521B55388F}"/>
              </a:ext>
            </a:extLst>
          </p:cNvPr>
          <p:cNvSpPr>
            <a:spLocks noGrp="1"/>
          </p:cNvSpPr>
          <p:nvPr/>
        </p:nvSpPr>
        <p:spPr>
          <a:xfrm>
            <a:off x="2705100" y="4162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官网展示 SDK 和产品演示；认证器同时标注生产可用与 App Store 即将上线。</a:t>
            </a:r>
          </a:p>
        </p:txBody>
      </p:sp>
      <p:sp>
        <p:nvSpPr>
          <p:cNvPr id="10" name="">
            <a:extLst>
              <a:ext uri="{FF2B5EF4-FFF2-40B4-BE49-F238E27FC236}">
                <ns2:creationId id="{3CCD3595-C660-41BB-BA66-8D6E0599301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应核查实际可安装版本、集成方式与端到端验证，不能用官网展示替代验收。</a:t>
            </a:r>
          </a:p>
        </p:txBody>
      </p:sp>
    </p:spTree>
    <p:extLst>
      <p:ext uri="{BB962C8B-B14F-4D97-AF65-F5344CB8AC3E}">
        <ns3:creationId val="1606564879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7" name="">
            <a:extLst>
              <a:ext uri="{FF2B5EF4-FFF2-40B4-BE49-F238E27FC236}">
                <ns2:creationId id="{551004EC-0974-4B7C-9BB6-C59BE4B67A8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AgentBee 把关键批准放到独立硬件上</a:t>
            </a:r>
          </a:p>
        </p:txBody>
      </p:sp>
      <p:sp>
        <p:nvSpPr>
          <p:cNvPr id="2" name="">
            <a:extLst>
              <a:ext uri="{FF2B5EF4-FFF2-40B4-BE49-F238E27FC236}">
                <ns2:creationId id="{C8222C47-5BC6-40C0-80AF-5C8142FAA75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厂商公开说明：设备显示行动，用户按键确认，芯片签名</a:t>
            </a:r>
          </a:p>
        </p:txBody>
      </p:sp>
      <p:sp>
        <p:nvSpPr>
          <p:cNvPr id="3" name="">
            <a:extLst>
              <a:ext uri="{FF2B5EF4-FFF2-40B4-BE49-F238E27FC236}">
                <ns2:creationId id="{DED4F157-5569-404D-BF1D-5A6FD61C44E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36</a:t>
            </a:r>
          </a:p>
        </p:txBody>
      </p:sp>
      <p:sp>
        <p:nvSpPr>
          <p:cNvPr id="4" name="">
            <a:extLst>
              <a:ext uri="{FF2B5EF4-FFF2-40B4-BE49-F238E27FC236}">
                <ns2:creationId id="{CB380272-5EB0-4D37-AEB4-FC8D55CB4C16}"/>
              </a:ext>
            </a:extLst>
          </p:cNvPr>
          <p:cNvSpPr>
            <a:spLocks noGrp="1"/>
          </p:cNvSpPr>
          <p:nvPr/>
        </p:nvSpPr>
        <p:spPr>
          <a:xfrm>
            <a:off x="619125" y="2667000"/>
            <a:ext cx="3238500" cy="12954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93B0F1CF-E19B-41F5-8EAA-BC57811FA235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提出行动</a:t>
            </a:r>
          </a:p>
        </p:txBody>
      </p:sp>
      <p:sp>
        <p:nvSpPr>
          <p:cNvPr id="6" name="">
            <a:extLst>
              <a:ext uri="{FF2B5EF4-FFF2-40B4-BE49-F238E27FC236}">
                <ns2:creationId id="{D41273F6-054C-44F9-8E3B-59A96250A28E}"/>
              </a:ext>
            </a:extLst>
          </p:cNvPr>
          <p:cNvSpPr>
            <a:spLocks noGrp="1"/>
          </p:cNvSpPr>
          <p:nvPr/>
        </p:nvSpPr>
        <p:spPr>
          <a:xfrm>
            <a:off x="762000" y="3171825"/>
            <a:ext cx="2952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经 MCP / Skill 接入</a:t>
            </a:r>
          </a:p>
        </p:txBody>
      </p:sp>
      <p:sp>
        <p:nvSpPr>
          <p:cNvPr id="7" name="">
            <a:extLst>
              <a:ext uri="{FF2B5EF4-FFF2-40B4-BE49-F238E27FC236}">
                <ns2:creationId id="{88FE26D3-DA7D-428D-8987-A90AE94E33A5}"/>
              </a:ext>
            </a:extLst>
          </p:cNvPr>
          <p:cNvSpPr>
            <a:spLocks noGrp="1"/>
          </p:cNvSpPr>
          <p:nvPr/>
        </p:nvSpPr>
        <p:spPr>
          <a:xfrm>
            <a:off x="4486275" y="2667000"/>
            <a:ext cx="3238500" cy="12954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ns2:creationId id="{2D2FD2C4-31BF-4181-B178-C18713852C27}"/>
              </a:ext>
            </a:extLst>
          </p:cNvPr>
          <p:cNvSpPr>
            <a:spLocks noGrp="1"/>
          </p:cNvSpPr>
          <p:nvPr/>
        </p:nvSpPr>
        <p:spPr>
          <a:xfrm>
            <a:off x="4629150" y="278130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用户看设备屏幕</a:t>
            </a:r>
          </a:p>
        </p:txBody>
      </p:sp>
      <p:sp>
        <p:nvSpPr>
          <p:cNvPr id="9" name="">
            <a:extLst>
              <a:ext uri="{FF2B5EF4-FFF2-40B4-BE49-F238E27FC236}">
                <ns2:creationId id="{454ECAAC-0879-48B1-BBC0-C7F606D958D3}"/>
              </a:ext>
            </a:extLst>
          </p:cNvPr>
          <p:cNvSpPr>
            <a:spLocks noGrp="1"/>
          </p:cNvSpPr>
          <p:nvPr/>
        </p:nvSpPr>
        <p:spPr>
          <a:xfrm>
            <a:off x="4629150" y="3171825"/>
            <a:ext cx="2952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USB 连接；按键或长按</a:t>
            </a:r>
          </a:p>
        </p:txBody>
      </p:sp>
      <p:sp>
        <p:nvSpPr>
          <p:cNvPr id="10" name="">
            <a:extLst>
              <a:ext uri="{FF2B5EF4-FFF2-40B4-BE49-F238E27FC236}">
                <ns2:creationId id="{580C3B0A-8782-4D59-9A29-04356BEB6547}"/>
              </a:ext>
            </a:extLst>
          </p:cNvPr>
          <p:cNvSpPr>
            <a:spLocks noGrp="1"/>
          </p:cNvSpPr>
          <p:nvPr/>
        </p:nvSpPr>
        <p:spPr>
          <a:xfrm>
            <a:off x="8353425" y="2667000"/>
            <a:ext cx="3238500" cy="1295400"/>
          </a:xfrm>
          <a:prstGeom prst="rect">
            <a:avLst/>
          </a:prstGeom>
          <a:solidFill>
            <a:srgbClr val="FFFFFF"/>
          </a:solidFill>
          <a:ln w="14288">
            <a:solidFill>
              <a:srgbClr val="137D67"/>
            </a:solidFill>
            <a:prstDash val="solid"/>
          </a:ln>
        </p:spPr>
      </p:sp>
      <p:sp>
        <p:nvSpPr>
          <p:cNvPr id="11" name="">
            <a:extLst>
              <a:ext uri="{FF2B5EF4-FFF2-40B4-BE49-F238E27FC236}">
                <ns2:creationId id="{414D7BBE-FF0D-49AE-AA68-9C62F52876D5}"/>
              </a:ext>
            </a:extLst>
          </p:cNvPr>
          <p:cNvSpPr>
            <a:spLocks noGrp="1"/>
          </p:cNvSpPr>
          <p:nvPr/>
        </p:nvSpPr>
        <p:spPr>
          <a:xfrm>
            <a:off x="8496300" y="2781300"/>
            <a:ext cx="2952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设备签名放行</a:t>
            </a:r>
          </a:p>
        </p:txBody>
      </p:sp>
      <p:sp>
        <p:nvSpPr>
          <p:cNvPr id="12" name="">
            <a:extLst>
              <a:ext uri="{FF2B5EF4-FFF2-40B4-BE49-F238E27FC236}">
                <ns2:creationId id="{01524AD6-B068-4D97-85C0-C1DAB04F8BC6}"/>
              </a:ext>
            </a:extLst>
          </p:cNvPr>
          <p:cNvSpPr>
            <a:spLocks noGrp="1"/>
          </p:cNvSpPr>
          <p:nvPr/>
        </p:nvSpPr>
        <p:spPr>
          <a:xfrm>
            <a:off x="8496300" y="3171825"/>
            <a:ext cx="295275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ECDSA P-256，留下签名证据</a:t>
            </a:r>
          </a:p>
        </p:txBody>
      </p:sp>
      <p:cxnSp>
        <p:nvCxnSpPr>
          <p:cNvPr id="29" name=""/>
          <p:cNvCxnSpPr>
            <a:stCxn id="4" idx="3"/>
            <a:endCxn id="7" idx="1"/>
          </p:cNvCxnSpPr>
          <p:nvPr/>
        </p:nvCxnSpPr>
        <p:spPr>
          <a:xfrm>
            <a:off x="3857625" y="331470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0" name=""/>
          <p:cNvCxnSpPr>
            <a:stCxn id="7" idx="3"/>
            <a:endCxn id="10" idx="1"/>
          </p:cNvCxnSpPr>
          <p:nvPr/>
        </p:nvCxnSpPr>
        <p:spPr>
          <a:xfrm>
            <a:off x="7724775" y="3314700"/>
            <a:ext cx="628650" cy="0"/>
          </a:xfrm>
          <a:prstGeom prst="straightConnector1">
            <a:avLst/>
          </a:prstGeom>
          <a:ln w="19050">
            <a:solidFill>
              <a:srgbClr val="137D6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5" name="">
            <a:extLst>
              <a:ext uri="{FF2B5EF4-FFF2-40B4-BE49-F238E27FC236}">
                <ns2:creationId id="{9CED13A3-5C02-4FC7-B934-345351371C89}"/>
              </a:ext>
            </a:extLst>
          </p:cNvPr>
          <p:cNvSpPr>
            <a:spLocks noGrp="1"/>
          </p:cNvSpPr>
          <p:nvPr/>
        </p:nvSpPr>
        <p:spPr>
          <a:xfrm>
            <a:off x="638175" y="4600575"/>
            <a:ext cx="10668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它与 MYA 的共同点：把关键决定交给用户，并让执行入口验证授权。</a:t>
            </a:r>
          </a:p>
        </p:txBody>
      </p:sp>
      <p:sp>
        <p:nvSpPr>
          <p:cNvPr id="16" name="">
            <a:extLst>
              <a:ext uri="{FF2B5EF4-FFF2-40B4-BE49-F238E27FC236}">
                <ns2:creationId id="{E611613F-1950-4C46-B444-A94FA1850A5D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官网提供 Early Access；硬件防护、交付规模及不可绕过性尚未实测。</a:t>
            </a:r>
          </a:p>
        </p:txBody>
      </p:sp>
    </p:spTree>
    <p:extLst>
      <p:ext uri="{BB962C8B-B14F-4D97-AF65-F5344CB8AC3E}">
        <ns3:creationId val="1640775947"/>
      </p:ext>
    </p:extLst>
  </p:cSld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C060F65F-9781-44C1-A15F-BE6B0C01298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公司背景：可核实主体，商业成熟度仍需核查</a:t>
            </a:r>
          </a:p>
        </p:txBody>
      </p:sp>
      <p:sp>
        <p:nvSpPr>
          <p:cNvPr id="2" name="">
            <a:extLst>
              <a:ext uri="{FF2B5EF4-FFF2-40B4-BE49-F238E27FC236}">
                <ns2:creationId id="{D570DF5C-EF39-426E-8B2C-D566EEFFC1A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CYBERSECAI LTD · 英国 Companies House 编号 16837162</a:t>
            </a:r>
          </a:p>
        </p:txBody>
      </p:sp>
      <p:sp>
        <p:nvSpPr>
          <p:cNvPr id="3" name="">
            <a:extLst>
              <a:ext uri="{FF2B5EF4-FFF2-40B4-BE49-F238E27FC236}">
                <ns2:creationId id="{FF8DD470-FE8F-4A99-8BCC-0C0B2D23452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37</a:t>
            </a:r>
          </a:p>
        </p:txBody>
      </p:sp>
      <p:sp>
        <p:nvSpPr>
          <p:cNvPr id="4" name="">
            <a:extLst>
              <a:ext uri="{FF2B5EF4-FFF2-40B4-BE49-F238E27FC236}">
                <ns2:creationId id="{C4F10911-0738-4847-AA3D-4E8C15BA113A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登记事实</a:t>
            </a:r>
          </a:p>
        </p:txBody>
      </p:sp>
      <p:sp>
        <p:nvSpPr>
          <p:cNvPr id="5" name="">
            <a:extLst>
              <a:ext uri="{FF2B5EF4-FFF2-40B4-BE49-F238E27FC236}">
                <ns2:creationId id="{746AD0C3-1453-4002-919F-BCD37A9B0B7E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2025 年 11 月 6 日成立，登记状态 Active；首份账目提交期限为 2027 年 8 月。</a:t>
            </a:r>
          </a:p>
        </p:txBody>
      </p:sp>
      <p:sp>
        <p:nvSpPr>
          <p:cNvPr id="6" name="">
            <a:extLst>
              <a:ext uri="{FF2B5EF4-FFF2-40B4-BE49-F238E27FC236}">
                <ns2:creationId id="{A9654F39-CE8E-4A5B-9FD7-9CF62EAD4A9A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控制关系</a:t>
            </a:r>
          </a:p>
        </p:txBody>
      </p:sp>
      <p:sp>
        <p:nvSpPr>
          <p:cNvPr id="7" name="">
            <a:extLst>
              <a:ext uri="{FF2B5EF4-FFF2-40B4-BE49-F238E27FC236}">
                <ns2:creationId id="{6F484F87-107E-4312-AFEC-94577107349A}"/>
              </a:ext>
            </a:extLst>
          </p:cNvPr>
          <p:cNvSpPr>
            <a:spLocks noGrp="1"/>
          </p:cNvSpPr>
          <p:nvPr/>
        </p:nvSpPr>
        <p:spPr>
          <a:xfrm>
            <a:off x="2705100" y="30289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董事 Raza Al-Rehman Sharif；登记持股和投票权均为 75% 或以上。</a:t>
            </a:r>
          </a:p>
        </p:txBody>
      </p:sp>
      <p:sp>
        <p:nvSpPr>
          <p:cNvPr id="8" name="">
            <a:extLst>
              <a:ext uri="{FF2B5EF4-FFF2-40B4-BE49-F238E27FC236}">
                <ns2:creationId id="{F4A092C3-BEE6-44F3-9F33-2F3A1B1D42F6}"/>
              </a:ext>
            </a:extLst>
          </p:cNvPr>
          <p:cNvSpPr>
            <a:spLocks noGrp="1"/>
          </p:cNvSpPr>
          <p:nvPr/>
        </p:nvSpPr>
        <p:spPr>
          <a:xfrm>
            <a:off x="628650" y="42005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团队背景</a:t>
            </a:r>
          </a:p>
        </p:txBody>
      </p:sp>
      <p:sp>
        <p:nvSpPr>
          <p:cNvPr id="9" name="">
            <a:extLst>
              <a:ext uri="{FF2B5EF4-FFF2-40B4-BE49-F238E27FC236}">
                <ns2:creationId id="{6EF4C0F4-D0CB-4739-BA73-D254C610122C}"/>
              </a:ext>
            </a:extLst>
          </p:cNvPr>
          <p:cNvSpPr>
            <a:spLocks noGrp="1"/>
          </p:cNvSpPr>
          <p:nvPr/>
        </p:nvSpPr>
        <p:spPr>
          <a:xfrm>
            <a:off x="2705100" y="42005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其个人网站自述为创始人，拥有长期网络安全经历；履历细节仍需独立核实。</a:t>
            </a:r>
          </a:p>
        </p:txBody>
      </p:sp>
      <p:sp>
        <p:nvSpPr>
          <p:cNvPr id="10" name="">
            <a:extLst>
              <a:ext uri="{FF2B5EF4-FFF2-40B4-BE49-F238E27FC236}">
                <ns2:creationId id="{FCD828B8-2A0F-472F-B7A5-48877B51DC3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公司登记可以验证法律主体，不等于产品成熟度、收入、融资或客户规模。</a:t>
            </a:r>
          </a:p>
        </p:txBody>
      </p:sp>
    </p:spTree>
    <p:extLst>
      <p:ext uri="{BB962C8B-B14F-4D97-AF65-F5344CB8AC3E}">
        <ns3:creationId val="391179858"/>
      </p:ext>
    </p:extLst>
  </p:cSld>
</p:sld>
</file>

<file path=ppt/slides/slide3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3E1A378E-22D3-40BB-8A3B-FDF785E8833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技术活动与市场证明需要分开判断</a:t>
            </a:r>
          </a:p>
        </p:txBody>
      </p:sp>
      <p:sp>
        <p:nvSpPr>
          <p:cNvPr id="2" name="">
            <a:extLst>
              <a:ext uri="{FF2B5EF4-FFF2-40B4-BE49-F238E27FC236}">
                <ns2:creationId id="{978F593F-78A6-4853-B682-DCA70A5AA4C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现有公开资料支持“有明确产品方向”，尚不足以证明规模落地</a:t>
            </a:r>
          </a:p>
        </p:txBody>
      </p:sp>
      <p:sp>
        <p:nvSpPr>
          <p:cNvPr id="3" name="">
            <a:extLst>
              <a:ext uri="{FF2B5EF4-FFF2-40B4-BE49-F238E27FC236}">
                <ns2:creationId id="{CD079024-1D74-429E-ADC9-9435ED88C668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38</a:t>
            </a:r>
          </a:p>
        </p:txBody>
      </p:sp>
      <p:sp>
        <p:nvSpPr>
          <p:cNvPr id="4" name="">
            <a:extLst>
              <a:ext uri="{FF2B5EF4-FFF2-40B4-BE49-F238E27FC236}">
                <ns2:creationId id="{F7904103-B95F-4DD5-953D-52767E21EF9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标准与专利</a:t>
            </a:r>
          </a:p>
        </p:txBody>
      </p:sp>
      <p:sp>
        <p:nvSpPr>
          <p:cNvPr id="5" name="">
            <a:extLst>
              <a:ext uri="{FF2B5EF4-FFF2-40B4-BE49-F238E27FC236}">
                <ns2:creationId id="{C23306D3-81D3-4E41-9D4C-DF530E288F3A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官网展示 Internet-Draft、Patent Pending 与控制项映射；不等于 RFC、获授专利或认证。</a:t>
            </a:r>
          </a:p>
        </p:txBody>
      </p:sp>
      <p:sp>
        <p:nvSpPr>
          <p:cNvPr id="6" name="">
            <a:extLst>
              <a:ext uri="{FF2B5EF4-FFF2-40B4-BE49-F238E27FC236}">
                <ns2:creationId id="{E7DDB711-66C3-429D-BC2B-147AD0688194}"/>
              </a:ext>
            </a:extLst>
          </p:cNvPr>
          <p:cNvSpPr>
            <a:spLocks noGrp="1"/>
          </p:cNvSpPr>
          <p:nvPr/>
        </p:nvSpPr>
        <p:spPr>
          <a:xfrm>
            <a:off x="628650" y="30289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客户与融资</a:t>
            </a:r>
          </a:p>
        </p:txBody>
      </p:sp>
      <p:sp>
        <p:nvSpPr>
          <p:cNvPr id="7" name="">
            <a:extLst>
              <a:ext uri="{FF2B5EF4-FFF2-40B4-BE49-F238E27FC236}">
                <ns2:creationId id="{36FA8221-7A68-4734-9A2A-4FCCD105B6F5}"/>
              </a:ext>
            </a:extLst>
          </p:cNvPr>
          <p:cNvSpPr>
            <a:spLocks noGrp="1"/>
          </p:cNvSpPr>
          <p:nvPr/>
        </p:nvSpPr>
        <p:spPr>
          <a:xfrm>
            <a:off x="2705100" y="30289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官网有集成者证言；客户规模、收入与融资尚未独立核实。</a:t>
            </a:r>
          </a:p>
        </p:txBody>
      </p:sp>
      <p:sp>
        <p:nvSpPr>
          <p:cNvPr id="8" name="">
            <a:extLst>
              <a:ext uri="{FF2B5EF4-FFF2-40B4-BE49-F238E27FC236}">
                <ns2:creationId id="{9C4D981A-24D6-41FD-AA9E-4A04D3844C3A}"/>
              </a:ext>
            </a:extLst>
          </p:cNvPr>
          <p:cNvSpPr>
            <a:spLocks noGrp="1"/>
          </p:cNvSpPr>
          <p:nvPr/>
        </p:nvSpPr>
        <p:spPr>
          <a:xfrm>
            <a:off x="628650" y="42005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下一步核查</a:t>
            </a:r>
          </a:p>
        </p:txBody>
      </p:sp>
      <p:sp>
        <p:nvSpPr>
          <p:cNvPr id="9" name="">
            <a:extLst>
              <a:ext uri="{FF2B5EF4-FFF2-40B4-BE49-F238E27FC236}">
                <ns2:creationId id="{6A30A675-8E35-4999-B799-2FA54655B78B}"/>
              </a:ext>
            </a:extLst>
          </p:cNvPr>
          <p:cNvSpPr>
            <a:spLocks noGrp="1"/>
          </p:cNvSpPr>
          <p:nvPr/>
        </p:nvSpPr>
        <p:spPr>
          <a:xfrm>
            <a:off x="2705100" y="42005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核查可用版本、验签与绕过测试、密钥保护和客户参考。</a:t>
            </a:r>
          </a:p>
        </p:txBody>
      </p:sp>
      <p:sp>
        <p:nvSpPr>
          <p:cNvPr id="10" name="">
            <a:extLst>
              <a:ext uri="{FF2B5EF4-FFF2-40B4-BE49-F238E27FC236}">
                <ns2:creationId id="{2039BE35-2D40-430E-9B50-22E93AE64E9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缺少公开证据不等于不存在；不把营销用语当成第三方背书。</a:t>
            </a:r>
          </a:p>
        </p:txBody>
      </p:sp>
    </p:spTree>
    <p:extLst>
      <p:ext uri="{BB962C8B-B14F-4D97-AF65-F5344CB8AC3E}">
        <ns3:creationId val="1533359451"/>
      </p:ext>
    </p:extLst>
  </p:cSld>
</p:sld>
</file>

<file path=ppt/slides/slide3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C2F3E2D0-2B37-4C97-8320-AAF14406BDE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的差异化应由完整体验证明</a:t>
            </a:r>
          </a:p>
        </p:txBody>
      </p:sp>
      <p:sp>
        <p:nvSpPr>
          <p:cNvPr id="2" name="">
            <a:extLst>
              <a:ext uri="{FF2B5EF4-FFF2-40B4-BE49-F238E27FC236}">
                <ns2:creationId id="{6041892E-7461-45F2-A7C4-8D8F0C65F22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远程审批、签名与二维码绑定，不能直接宣称为 MYA 独有</a:t>
            </a:r>
          </a:p>
        </p:txBody>
      </p:sp>
      <p:sp>
        <p:nvSpPr>
          <p:cNvPr id="3" name="">
            <a:extLst>
              <a:ext uri="{FF2B5EF4-FFF2-40B4-BE49-F238E27FC236}">
                <ns2:creationId id="{43703F12-D89C-4A67-BF8E-32A37A6D0CA3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39</a:t>
            </a:r>
          </a:p>
        </p:txBody>
      </p:sp>
      <p:sp>
        <p:nvSpPr>
          <p:cNvPr id="4" name="">
            <a:extLst>
              <a:ext uri="{FF2B5EF4-FFF2-40B4-BE49-F238E27FC236}">
                <ns2:creationId id="{E8D76802-5365-42C5-8B5D-EA4F4CB5486B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已展示的组合</a:t>
            </a:r>
          </a:p>
        </p:txBody>
      </p:sp>
      <p:sp>
        <p:nvSpPr>
          <p:cNvPr id="5" name="">
            <a:extLst>
              <a:ext uri="{FF2B5EF4-FFF2-40B4-BE49-F238E27FC236}">
                <ns2:creationId id="{054C7C14-F224-4509-83C3-570A527536FE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密码学绑定关系，要求修改后重新审批，钱包挑战出示，执行回执逐项校验。</a:t>
            </a:r>
          </a:p>
        </p:txBody>
      </p:sp>
      <p:sp>
        <p:nvSpPr>
          <p:cNvPr id="6" name="">
            <a:extLst>
              <a:ext uri="{FF2B5EF4-FFF2-40B4-BE49-F238E27FC236}">
                <ns2:creationId id="{C461F665-3ECC-4115-A19E-6AEB23A2A055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继续发展的方向</a:t>
            </a:r>
          </a:p>
        </p:txBody>
      </p:sp>
      <p:sp>
        <p:nvSpPr>
          <p:cNvPr id="7" name="">
            <a:extLst>
              <a:ext uri="{FF2B5EF4-FFF2-40B4-BE49-F238E27FC236}">
                <ns2:creationId id="{936C96FA-9E81-4949-B6CA-B08F8E8C50C9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统一入口表达任务意图，衔接第三方权限，审批侧调查与反建议。</a:t>
            </a:r>
          </a:p>
        </p:txBody>
      </p:sp>
      <p:sp>
        <p:nvSpPr>
          <p:cNvPr id="8" name="">
            <a:extLst>
              <a:ext uri="{FF2B5EF4-FFF2-40B4-BE49-F238E27FC236}">
                <ns2:creationId id="{32BD6EC2-2D3C-4932-B0B6-9262FE82AFDA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比较方法</a:t>
            </a:r>
          </a:p>
        </p:txBody>
      </p:sp>
      <p:sp>
        <p:nvSpPr>
          <p:cNvPr id="9" name="">
            <a:extLst>
              <a:ext uri="{FF2B5EF4-FFF2-40B4-BE49-F238E27FC236}">
                <ns2:creationId id="{5770A1FB-723C-4450-96C2-1A84A4325C5C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同一业务任务下比较跳转次数、理解准确率、恢复成功率与越权拒绝率。</a:t>
            </a:r>
          </a:p>
        </p:txBody>
      </p:sp>
      <p:sp>
        <p:nvSpPr>
          <p:cNvPr id="10" name="">
            <a:extLst>
              <a:ext uri="{FF2B5EF4-FFF2-40B4-BE49-F238E27FC236}">
                <ns2:creationId id="{62A5D8B1-8366-44B4-96BE-EF11166543E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与 AgentPass 的能力差异尚需对照实测；硬件密钥保护并非当前 MYA Web 的能力。</a:t>
            </a:r>
          </a:p>
        </p:txBody>
      </p:sp>
    </p:spTree>
    <p:extLst>
      <p:ext uri="{BB962C8B-B14F-4D97-AF65-F5344CB8AC3E}">
        <ns3:creationId val="969168875"/>
      </p:ext>
    </p:extLst>
  </p:cSld>
</p:sld>
</file>

<file path=ppt/slides/slide4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A711F4F8-0371-4B6E-AC28-261294B540A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下一轮验证：授权是否更容易完成，也更准确</a:t>
            </a:r>
          </a:p>
        </p:txBody>
      </p:sp>
      <p:sp>
        <p:nvSpPr>
          <p:cNvPr id="2" name="">
            <a:extLst>
              <a:ext uri="{FF2B5EF4-FFF2-40B4-BE49-F238E27FC236}">
                <ns2:creationId id="{CEDF1312-9E6C-4B8A-8796-305EAE798EE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先以研发运维和企业表格任务试点，再扩展银行与个人服务</a:t>
            </a:r>
          </a:p>
        </p:txBody>
      </p:sp>
      <p:sp>
        <p:nvSpPr>
          <p:cNvPr id="3" name="">
            <a:extLst>
              <a:ext uri="{FF2B5EF4-FFF2-40B4-BE49-F238E27FC236}">
                <ns2:creationId id="{66C44937-0EA1-47DC-A72F-7291417118BA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40</a:t>
            </a:r>
          </a:p>
        </p:txBody>
      </p:sp>
      <p:sp>
        <p:nvSpPr>
          <p:cNvPr id="4" name="">
            <a:extLst>
              <a:ext uri="{FF2B5EF4-FFF2-40B4-BE49-F238E27FC236}">
                <ns2:creationId id="{53EB071E-1C16-4C4C-AC62-CC2B9B81E4F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端到端体验</a:t>
            </a:r>
          </a:p>
        </p:txBody>
      </p:sp>
      <p:sp>
        <p:nvSpPr>
          <p:cNvPr id="5" name="">
            <a:extLst>
              <a:ext uri="{FF2B5EF4-FFF2-40B4-BE49-F238E27FC236}">
                <ns2:creationId id="{BB38A166-8EFC-4134-8258-957E4FE8FA1B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从缺权限到完成任务：统计跳转次数、用户操作、等待时长和恢复失败。</a:t>
            </a:r>
          </a:p>
        </p:txBody>
      </p:sp>
      <p:sp>
        <p:nvSpPr>
          <p:cNvPr id="6" name="">
            <a:extLst>
              <a:ext uri="{FF2B5EF4-FFF2-40B4-BE49-F238E27FC236}">
                <ns2:creationId id="{4ED82CAC-5B8C-468E-AD17-E61D6DE31312}"/>
              </a:ext>
            </a:extLst>
          </p:cNvPr>
          <p:cNvSpPr>
            <a:spLocks noGrp="1"/>
          </p:cNvSpPr>
          <p:nvPr/>
        </p:nvSpPr>
        <p:spPr>
          <a:xfrm>
            <a:off x="628650" y="3019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意图与执行</a:t>
            </a:r>
          </a:p>
        </p:txBody>
      </p:sp>
      <p:sp>
        <p:nvSpPr>
          <p:cNvPr id="7" name="">
            <a:extLst>
              <a:ext uri="{FF2B5EF4-FFF2-40B4-BE49-F238E27FC236}">
                <ns2:creationId id="{66AC6627-3363-4BDF-9E30-9A8E17F51582}"/>
              </a:ext>
            </a:extLst>
          </p:cNvPr>
          <p:cNvSpPr>
            <a:spLocks noGrp="1"/>
          </p:cNvSpPr>
          <p:nvPr/>
        </p:nvSpPr>
        <p:spPr>
          <a:xfrm>
            <a:off x="2705100" y="3019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核对意图、签名范围与实际行为；对象或内容变化时拒绝旧授权。</a:t>
            </a:r>
          </a:p>
        </p:txBody>
      </p:sp>
      <p:sp>
        <p:nvSpPr>
          <p:cNvPr id="8" name="">
            <a:extLst>
              <a:ext uri="{FF2B5EF4-FFF2-40B4-BE49-F238E27FC236}">
                <ns2:creationId id="{4FA07B2A-0A07-4678-BFC0-753BC024DEF5}"/>
              </a:ext>
            </a:extLst>
          </p:cNvPr>
          <p:cNvSpPr>
            <a:spLocks noGrp="1"/>
          </p:cNvSpPr>
          <p:nvPr/>
        </p:nvSpPr>
        <p:spPr>
          <a:xfrm>
            <a:off x="628650" y="41814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执行保障</a:t>
            </a:r>
          </a:p>
        </p:txBody>
      </p:sp>
      <p:sp>
        <p:nvSpPr>
          <p:cNvPr id="9" name="">
            <a:extLst>
              <a:ext uri="{FF2B5EF4-FFF2-40B4-BE49-F238E27FC236}">
                <ns2:creationId id="{4D63A171-5CBB-453C-804B-9DBB69346556}"/>
              </a:ext>
            </a:extLst>
          </p:cNvPr>
          <p:cNvSpPr>
            <a:spLocks noGrp="1"/>
          </p:cNvSpPr>
          <p:nvPr/>
        </p:nvSpPr>
        <p:spPr>
          <a:xfrm>
            <a:off x="2705100" y="41814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先证明 Hook 真正拦截且无副作用，再验证批准后重试与可核查回执。</a:t>
            </a:r>
          </a:p>
        </p:txBody>
      </p:sp>
      <p:sp>
        <p:nvSpPr>
          <p:cNvPr id="10" name="">
            <a:extLst>
              <a:ext uri="{FF2B5EF4-FFF2-40B4-BE49-F238E27FC236}">
                <ns2:creationId id="{0553F3B4-6EE6-4C6E-B93D-8846BED79FB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当前会话 Hook 热插入未通过；第三方授权编排与审批侧调查需要单独开发验收。</a:t>
            </a:r>
          </a:p>
        </p:txBody>
      </p:sp>
    </p:spTree>
    <p:extLst>
      <p:ext uri="{BB962C8B-B14F-4D97-AF65-F5344CB8AC3E}">
        <ns3:creationId val="1645840640"/>
      </p:ext>
    </p:extLst>
  </p:cSld>
</p:sld>
</file>

<file path=ppt/slides/slide4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3F51D5FF-6CB6-4F87-8755-1508A418A83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补充材料 A：产品、关系与授权</a:t>
            </a:r>
          </a:p>
        </p:txBody>
      </p:sp>
      <p:sp>
        <p:nvSpPr>
          <p:cNvPr id="2" name="">
            <a:extLst>
              <a:ext uri="{FF2B5EF4-FFF2-40B4-BE49-F238E27FC236}">
                <ns2:creationId id="{B206AAE8-6B5A-4E90-A104-6AEE679AA77C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原完整版内容保留在此，供讨论时按需展开</a:t>
            </a:r>
          </a:p>
        </p:txBody>
      </p:sp>
      <p:sp>
        <p:nvSpPr>
          <p:cNvPr id="3" name="">
            <a:extLst>
              <a:ext uri="{FF2B5EF4-FFF2-40B4-BE49-F238E27FC236}">
                <ns2:creationId id="{03192779-5E3B-4F8D-B74A-0F88473B28C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41</a:t>
            </a:r>
          </a:p>
        </p:txBody>
      </p:sp>
      <p:sp>
        <p:nvSpPr>
          <p:cNvPr id="4" name="">
            <a:extLst>
              <a:ext uri="{FF2B5EF4-FFF2-40B4-BE49-F238E27FC236}">
                <ns2:creationId id="{509138D3-2E2E-4B5C-AAED-47AE8F3452C4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42—47</a:t>
            </a:r>
          </a:p>
        </p:txBody>
      </p:sp>
      <p:sp>
        <p:nvSpPr>
          <p:cNvPr id="5" name="">
            <a:extLst>
              <a:ext uri="{FF2B5EF4-FFF2-40B4-BE49-F238E27FC236}">
                <ns2:creationId id="{4E963D93-BBE0-4346-BA8B-7D7F57014051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原版概览与绑定解释</a:t>
            </a:r>
          </a:p>
        </p:txBody>
      </p:sp>
      <p:sp>
        <p:nvSpPr>
          <p:cNvPr id="6" name="">
            <a:extLst>
              <a:ext uri="{FF2B5EF4-FFF2-40B4-BE49-F238E27FC236}">
                <ns2:creationId id="{50034168-C418-4CAA-9D50-0F02CACE696D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产品定义、绑定实图与密码学分层</a:t>
            </a:r>
          </a:p>
        </p:txBody>
      </p:sp>
      <p:sp>
        <p:nvSpPr>
          <p:cNvPr id="7" name="">
            <a:extLst>
              <a:ext uri="{FF2B5EF4-FFF2-40B4-BE49-F238E27FC236}">
                <ns2:creationId id="{A111C370-8CA7-4579-BBCC-BFB5BAF40B80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48—53</a:t>
            </a:r>
          </a:p>
        </p:txBody>
      </p:sp>
      <p:sp>
        <p:nvSpPr>
          <p:cNvPr id="8" name="">
            <a:extLst>
              <a:ext uri="{FF2B5EF4-FFF2-40B4-BE49-F238E27FC236}">
                <ns2:creationId id="{1FB8D9F2-8D18-405C-B207-A605C93D3EFF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能力边界与审批协作</a:t>
            </a:r>
          </a:p>
        </p:txBody>
      </p:sp>
      <p:sp>
        <p:nvSpPr>
          <p:cNvPr id="9" name="">
            <a:extLst>
              <a:ext uri="{FF2B5EF4-FFF2-40B4-BE49-F238E27FC236}">
                <ns2:creationId id="{3F4AE1E4-D29F-46CD-A179-6A991108BA2B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当前实现、安全条件、修改分支与多 Agent</a:t>
            </a:r>
          </a:p>
        </p:txBody>
      </p:sp>
      <p:sp>
        <p:nvSpPr>
          <p:cNvPr id="10" name="">
            <a:extLst>
              <a:ext uri="{FF2B5EF4-FFF2-40B4-BE49-F238E27FC236}">
                <ns2:creationId id="{FA692956-0AE3-4EFC-A4D0-110C327DC0B5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54—57</a:t>
            </a:r>
          </a:p>
        </p:txBody>
      </p:sp>
      <p:sp>
        <p:nvSpPr>
          <p:cNvPr id="11" name="">
            <a:extLst>
              <a:ext uri="{FF2B5EF4-FFF2-40B4-BE49-F238E27FC236}">
                <ns2:creationId id="{77690353-7C45-426D-9052-39B23C394D35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组织身份与现有审批体系</a:t>
            </a:r>
          </a:p>
        </p:txBody>
      </p:sp>
      <p:sp>
        <p:nvSpPr>
          <p:cNvPr id="12" name="">
            <a:extLst>
              <a:ext uri="{FF2B5EF4-FFF2-40B4-BE49-F238E27FC236}">
                <ns2:creationId id="{FB5735F2-7D59-490D-B583-5A046CD3AD52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关系管理、DID / VC 与企业系统对接</a:t>
            </a:r>
          </a:p>
        </p:txBody>
      </p:sp>
      <p:sp>
        <p:nvSpPr>
          <p:cNvPr id="13" name="">
            <a:extLst>
              <a:ext uri="{FF2B5EF4-FFF2-40B4-BE49-F238E27FC236}">
                <ns2:creationId id="{1012C8D5-F60A-4410-84A0-BD34096FEFC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架构采用正文定义；补充材料中的来源与历史状态保留，规划不代表已实现。</a:t>
            </a:r>
          </a:p>
        </p:txBody>
      </p:sp>
    </p:spTree>
    <p:extLst>
      <p:ext uri="{BB962C8B-B14F-4D97-AF65-F5344CB8AC3E}">
        <ns4:creationId val="1095956836"/>
      </p:ext>
    </p:extLst>
  </p:cSld>
</p:sld>
</file>

<file path=ppt/slides/slide42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/>
          <p:cNvPicPr>
            <a:picLocks noChangeAspect="1"/>
          </p:cNvPicPr>
          <p:nvPr/>
        </p:nvPicPr>
        <p:blipFill>
          <a:blip r:embed="R15cdde7ad57b455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3:creationId id="{5CF44BE6-27D4-460B-AADD-636E376E317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5619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</a:t>
            </a:r>
          </a:p>
        </p:txBody>
      </p:sp>
      <p:sp>
        <p:nvSpPr>
          <p:cNvPr id="3" name="">
            <a:extLst>
              <a:ext uri="{FF2B5EF4-FFF2-40B4-BE49-F238E27FC236}">
                <ns3:creationId id="{5E7FC3ED-6EA6-456E-BEA9-F97E4FB83CDA}"/>
              </a:ext>
            </a:extLst>
          </p:cNvPr>
          <p:cNvSpPr>
            <a:spLocks noGrp="1"/>
          </p:cNvSpPr>
          <p:nvPr/>
        </p:nvSpPr>
        <p:spPr>
          <a:xfrm>
            <a:off x="628650" y="1905000"/>
            <a:ext cx="623887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</a:t>
            </a:r>
          </a:p>
          <a:p>
            <a:pPr>
              <a:buNone/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for Any Agent</a:t>
            </a:r>
          </a:p>
        </p:txBody>
      </p:sp>
      <p:sp>
        <p:nvSpPr>
          <p:cNvPr id="4" name="">
            <a:extLst>
              <a:ext uri="{FF2B5EF4-FFF2-40B4-BE49-F238E27FC236}">
                <ns3:creationId id="{AB012A83-4969-4F7A-8966-93E105F54886}"/>
              </a:ext>
            </a:extLst>
          </p:cNvPr>
          <p:cNvSpPr>
            <a:spLocks noGrp="1"/>
          </p:cNvSpPr>
          <p:nvPr/>
        </p:nvSpPr>
        <p:spPr>
          <a:xfrm>
            <a:off x="647700" y="3895725"/>
            <a:ext cx="6315075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  <a:p>
            <a:pPr>
              <a:buNone/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审批通道与 Agent 密码学绑定</a:t>
            </a:r>
          </a:p>
        </p:txBody>
      </p:sp>
      <p:sp>
        <p:nvSpPr>
          <p:cNvPr id="5" name="">
            <a:extLst>
              <a:ext uri="{FF2B5EF4-FFF2-40B4-BE49-F238E27FC236}">
                <ns3:creationId id="{70008762-3FAE-4D79-9189-DFB9DB3F62C5}"/>
              </a:ext>
            </a:extLst>
          </p:cNvPr>
          <p:cNvSpPr>
            <a:spLocks noGrp="1"/>
          </p:cNvSpPr>
          <p:nvPr/>
        </p:nvSpPr>
        <p:spPr>
          <a:xfrm>
            <a:off x="647700" y="5667375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产品愿景与已验证 Demo</a:t>
            </a:r>
          </a:p>
        </p:txBody>
      </p:sp>
      <p:sp>
        <p:nvSpPr>
          <p:cNvPr id="6" name="">
            <a:extLst>
              <a:ext uri="{FF2B5EF4-FFF2-40B4-BE49-F238E27FC236}">
                <ns3:creationId id="{D24F371F-2468-43E8-B964-4EBE5E47B16C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fc1cd3251d34013"/>
              </a:rPr>
              <a:t>MYA 代码与实测</a:t>
            </a:r>
          </a:p>
        </p:txBody>
      </p:sp>
    </p:spTree>
    <p:extLst>
      <p:ext uri="{BB962C8B-B14F-4D97-AF65-F5344CB8AC3E}">
        <ns4:creationId val="622028894"/>
      </p:ext>
    </p:extLst>
  </p:cSld>
</p:sld>
</file>

<file path=ppt/slides/slide4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0F01B54A-74EC-44D1-81FF-22281612F12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远程可信审批与密码学绑定</a:t>
            </a:r>
          </a:p>
        </p:txBody>
      </p:sp>
      <p:sp>
        <p:nvSpPr>
          <p:cNvPr id="2" name="">
            <a:extLst>
              <a:ext uri="{FF2B5EF4-FFF2-40B4-BE49-F238E27FC236}">
                <ns2:creationId id="{02D282C5-3C3C-4163-B98C-4B415C888D1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的产品基础：用户在独立手机通道授权具体 Agent 的具体行动</a:t>
            </a:r>
          </a:p>
        </p:txBody>
      </p:sp>
      <p:sp>
        <p:nvSpPr>
          <p:cNvPr id="3" name="">
            <a:extLst>
              <a:ext uri="{FF2B5EF4-FFF2-40B4-BE49-F238E27FC236}">
                <ns2:creationId id="{5F6CF3FE-015C-4617-AD4F-26288B5466E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43</a:t>
            </a:r>
          </a:p>
        </p:txBody>
      </p:sp>
      <p:sp>
        <p:nvSpPr>
          <p:cNvPr id="4" name="">
            <a:extLst>
              <a:ext uri="{FF2B5EF4-FFF2-40B4-BE49-F238E27FC236}">
                <ns2:creationId id="{9293C71E-D77E-4AB6-9AF6-19F5F5CB4155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</p:txBody>
      </p:sp>
      <p:sp>
        <p:nvSpPr>
          <p:cNvPr id="5" name="">
            <a:extLst>
              <a:ext uri="{FF2B5EF4-FFF2-40B4-BE49-F238E27FC236}">
                <ns2:creationId id="{AA0A4D3D-34A2-416D-9B6A-1C1C5E13B4A3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PC 提出请求，手机展示并签署，资源端核验批准内容。</a:t>
            </a:r>
          </a:p>
        </p:txBody>
      </p:sp>
      <p:sp>
        <p:nvSpPr>
          <p:cNvPr id="6" name="">
            <a:extLst>
              <a:ext uri="{FF2B5EF4-FFF2-40B4-BE49-F238E27FC236}">
                <ns2:creationId id="{127277D0-D5B0-42EE-AEB7-54AE9C87BF72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密码学绑定</a:t>
            </a:r>
          </a:p>
        </p:txBody>
      </p:sp>
      <p:sp>
        <p:nvSpPr>
          <p:cNvPr id="7" name="">
            <a:extLst>
              <a:ext uri="{FF2B5EF4-FFF2-40B4-BE49-F238E27FC236}">
                <ns2:creationId id="{2AF8E7FE-5E7F-4160-A94A-FA8ED005BB30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先确认双方公钥与关系。后续消息验签、加密，并校验所属绑定。</a:t>
            </a:r>
          </a:p>
        </p:txBody>
      </p:sp>
      <p:sp>
        <p:nvSpPr>
          <p:cNvPr id="8" name="">
            <a:extLst>
              <a:ext uri="{FF2B5EF4-FFF2-40B4-BE49-F238E27FC236}">
                <ns2:creationId id="{8E1BD684-0E6A-4283-A213-359983AECB03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行动一致性</a:t>
            </a:r>
          </a:p>
        </p:txBody>
      </p:sp>
      <p:sp>
        <p:nvSpPr>
          <p:cNvPr id="9" name="">
            <a:extLst>
              <a:ext uri="{FF2B5EF4-FFF2-40B4-BE49-F238E27FC236}">
                <ns2:creationId id="{151BB468-B2E5-4FC2-B5FA-460BDB7845A7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将授权关联接收方与最终内容，资源端检查实际执行是否匹配。</a:t>
            </a:r>
          </a:p>
        </p:txBody>
      </p:sp>
      <p:sp>
        <p:nvSpPr>
          <p:cNvPr id="10" name="">
            <a:extLst>
              <a:ext uri="{FF2B5EF4-FFF2-40B4-BE49-F238E27FC236}">
                <ns2:creationId id="{C3E42D06-2C8A-4A9F-B99B-97490F702033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决策辅助扩展</a:t>
            </a:r>
          </a:p>
        </p:txBody>
      </p:sp>
      <p:sp>
        <p:nvSpPr>
          <p:cNvPr id="11" name="">
            <a:extLst>
              <a:ext uri="{FF2B5EF4-FFF2-40B4-BE49-F238E27FC236}">
                <ns2:creationId id="{C16962B9-95D6-479F-92AB-5DEB065F7283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在此基础上加入用户侧调查、反建议和多轮审批分支。</a:t>
            </a:r>
          </a:p>
        </p:txBody>
      </p:sp>
      <p:sp>
        <p:nvSpPr>
          <p:cNvPr id="12" name="">
            <a:extLst>
              <a:ext uri="{FF2B5EF4-FFF2-40B4-BE49-F238E27FC236}">
                <ns2:creationId id="{6713FDAE-DCED-4D99-B5B9-D8312CD7BB8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可信范围：来源、完整性与授权一致性。真实身份、终端安全和判断正确性需要额外保障。</a:t>
            </a:r>
          </a:p>
        </p:txBody>
      </p:sp>
      <p:sp>
        <p:nvSpPr>
          <p:cNvPr id="13" name="">
            <a:extLst>
              <a:ext uri="{FF2B5EF4-FFF2-40B4-BE49-F238E27FC236}">
                <ns2:creationId id="{B756AE64-9D32-4734-99FF-A079C666F3C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04b9f5a8cea4863"/>
              </a:rPr>
              <a:t>MYA 代码与实测</a:t>
            </a:r>
          </a:p>
        </p:txBody>
      </p:sp>
    </p:spTree>
    <p:extLst>
      <p:ext uri="{BB962C8B-B14F-4D97-AF65-F5344CB8AC3E}">
        <ns4:creationId val="1440345717"/>
      </p:ext>
    </p:extLst>
  </p:cSld>
</p:sld>
</file>

<file path=ppt/slides/slide4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36B2B830-FEDD-4440-92C0-B35AC297BAC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1：电脑发起，手机加入</a:t>
            </a:r>
          </a:p>
        </p:txBody>
      </p:sp>
      <p:sp>
        <p:nvSpPr>
          <p:cNvPr id="2" name="">
            <a:extLst>
              <a:ext uri="{FF2B5EF4-FFF2-40B4-BE49-F238E27FC236}">
                <ns2:creationId id="{339CA6FF-3D99-4A47-80BB-5D1620291BD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每次邀请面向一个具体 Agent 实例，用户在自己的手机上认领</a:t>
            </a:r>
          </a:p>
        </p:txBody>
      </p:sp>
      <p:sp>
        <p:nvSpPr>
          <p:cNvPr id="3" name="">
            <a:extLst>
              <a:ext uri="{FF2B5EF4-FFF2-40B4-BE49-F238E27FC236}">
                <ns2:creationId id="{0DD3D229-5DE8-460D-8F1B-A64D2B6D794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44</a:t>
            </a:r>
          </a:p>
        </p:txBody>
      </p:sp>
      <p:pic>
        <p:nvPicPr>
          <p:cNvPr id="20" name=""/>
          <p:cNvPicPr>
            <a:picLocks noChangeAspect="1"/>
          </p:cNvPicPr>
          <p:nvPr/>
        </p:nvPicPr>
        <p:blipFill>
          <a:blip r:embed="Ra1773d614b84466a"/>
          <a:stretch/>
        </p:blipFill>
        <p:spPr>
          <a:xfrm>
            <a:off x="645432" y="1714500"/>
            <a:ext cx="3243036" cy="4191000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ns2:creationId id="{4EA2ADC9-FDCB-41A4-92F7-10BA6068376B}"/>
              </a:ext>
            </a:extLst>
          </p:cNvPr>
          <p:cNvSpPr>
            <a:spLocks noGrp="1"/>
          </p:cNvSpPr>
          <p:nvPr/>
        </p:nvSpPr>
        <p:spPr>
          <a:xfrm>
            <a:off x="4457700" y="1828800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1 可信入口</a:t>
            </a:r>
          </a:p>
        </p:txBody>
      </p:sp>
      <p:sp>
        <p:nvSpPr>
          <p:cNvPr id="6" name="">
            <a:extLst>
              <a:ext uri="{FF2B5EF4-FFF2-40B4-BE49-F238E27FC236}">
                <ns2:creationId id="{29F8DC57-56C5-4A24-ADD2-D5934F714A26}"/>
              </a:ext>
            </a:extLst>
          </p:cNvPr>
          <p:cNvSpPr>
            <a:spLocks noGrp="1"/>
          </p:cNvSpPr>
          <p:nvPr/>
        </p:nvSpPr>
        <p:spPr>
          <a:xfrm>
            <a:off x="6153150" y="1828800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先确认服务地址与见证公钥指纹。</a:t>
            </a:r>
          </a:p>
        </p:txBody>
      </p:sp>
      <p:sp>
        <p:nvSpPr>
          <p:cNvPr id="7" name="">
            <a:extLst>
              <a:ext uri="{FF2B5EF4-FFF2-40B4-BE49-F238E27FC236}">
                <ns2:creationId id="{DB0EE5E4-8BC9-4CDE-BB37-6F7473A5B70A}"/>
              </a:ext>
            </a:extLst>
          </p:cNvPr>
          <p:cNvSpPr>
            <a:spLocks noGrp="1"/>
          </p:cNvSpPr>
          <p:nvPr/>
        </p:nvSpPr>
        <p:spPr>
          <a:xfrm>
            <a:off x="4457700" y="279082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2 创建邀请</a:t>
            </a:r>
          </a:p>
        </p:txBody>
      </p:sp>
      <p:sp>
        <p:nvSpPr>
          <p:cNvPr id="8" name="">
            <a:extLst>
              <a:ext uri="{FF2B5EF4-FFF2-40B4-BE49-F238E27FC236}">
                <ns2:creationId id="{B0BD9561-AD0E-442F-98FA-607C345CA63D}"/>
              </a:ext>
            </a:extLst>
          </p:cNvPr>
          <p:cNvSpPr>
            <a:spLocks noGrp="1"/>
          </p:cNvSpPr>
          <p:nvPr/>
        </p:nvSpPr>
        <p:spPr>
          <a:xfrm>
            <a:off x="6153150" y="2790825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电脑显示二维码和配对码。邀请包含关系校验材料。</a:t>
            </a:r>
          </a:p>
        </p:txBody>
      </p:sp>
      <p:sp>
        <p:nvSpPr>
          <p:cNvPr id="9" name="">
            <a:extLst>
              <a:ext uri="{FF2B5EF4-FFF2-40B4-BE49-F238E27FC236}">
                <ns2:creationId id="{E5C4A592-40F9-4D20-BCFB-1713AFFB299C}"/>
              </a:ext>
            </a:extLst>
          </p:cNvPr>
          <p:cNvSpPr>
            <a:spLocks noGrp="1"/>
          </p:cNvSpPr>
          <p:nvPr/>
        </p:nvSpPr>
        <p:spPr>
          <a:xfrm>
            <a:off x="4457700" y="3752850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3 手机加入</a:t>
            </a:r>
          </a:p>
        </p:txBody>
      </p:sp>
      <p:sp>
        <p:nvSpPr>
          <p:cNvPr id="10" name="">
            <a:extLst>
              <a:ext uri="{FF2B5EF4-FFF2-40B4-BE49-F238E27FC236}">
                <ns2:creationId id="{4F992DD3-C21F-4C72-AA73-8B7CFBB9747E}"/>
              </a:ext>
            </a:extLst>
          </p:cNvPr>
          <p:cNvSpPr>
            <a:spLocks noGrp="1"/>
          </p:cNvSpPr>
          <p:nvPr/>
        </p:nvSpPr>
        <p:spPr>
          <a:xfrm>
            <a:off x="6153150" y="3752850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扫码打开 HTTPS 页面，手机生成并保存本地密钥。</a:t>
            </a:r>
          </a:p>
        </p:txBody>
      </p:sp>
      <p:sp>
        <p:nvSpPr>
          <p:cNvPr id="11" name="">
            <a:extLst>
              <a:ext uri="{FF2B5EF4-FFF2-40B4-BE49-F238E27FC236}">
                <ns2:creationId id="{66780136-1FC0-4330-A5DE-2769A3D15C4B}"/>
              </a:ext>
            </a:extLst>
          </p:cNvPr>
          <p:cNvSpPr>
            <a:spLocks noGrp="1"/>
          </p:cNvSpPr>
          <p:nvPr/>
        </p:nvSpPr>
        <p:spPr>
          <a:xfrm>
            <a:off x="4457700" y="4714875"/>
            <a:ext cx="1504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接下来</a:t>
            </a:r>
          </a:p>
        </p:txBody>
      </p:sp>
      <p:sp>
        <p:nvSpPr>
          <p:cNvPr id="12" name="">
            <a:extLst>
              <a:ext uri="{FF2B5EF4-FFF2-40B4-BE49-F238E27FC236}">
                <ns2:creationId id="{443105DD-BFB1-4B71-B1AD-61F222E1D073}"/>
              </a:ext>
            </a:extLst>
          </p:cNvPr>
          <p:cNvSpPr>
            <a:spLocks noGrp="1"/>
          </p:cNvSpPr>
          <p:nvPr/>
        </p:nvSpPr>
        <p:spPr>
          <a:xfrm>
            <a:off x="6153150" y="4714875"/>
            <a:ext cx="57150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两端各自计算短码，用户核对并分别确认。</a:t>
            </a:r>
          </a:p>
        </p:txBody>
      </p:sp>
      <p:sp>
        <p:nvSpPr>
          <p:cNvPr id="13" name="">
            <a:extLst>
              <a:ext uri="{FF2B5EF4-FFF2-40B4-BE49-F238E27FC236}">
                <ns2:creationId id="{82D5BD3F-D9DF-40E0-8380-24AE2907D4D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真实页面，使用隔离测试身份。图中邀请已完成，测试绑定已撤销。</a:t>
            </a:r>
          </a:p>
        </p:txBody>
      </p:sp>
      <p:sp>
        <p:nvSpPr>
          <p:cNvPr id="14" name="">
            <a:extLst>
              <a:ext uri="{FF2B5EF4-FFF2-40B4-BE49-F238E27FC236}">
                <ns2:creationId id="{175F0ADA-7EDC-4F72-A4CD-780697261A2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1285333e2e446f7"/>
              </a:rPr>
              <a:t>MYA 代码与实测</a:t>
            </a:r>
          </a:p>
        </p:txBody>
      </p:sp>
    </p:spTree>
    <p:extLst>
      <p:ext uri="{BB962C8B-B14F-4D97-AF65-F5344CB8AC3E}">
        <ns4:creationId val="1676770853"/>
      </p:ext>
    </p:extLst>
  </p:cSld>
</p:sld>
</file>

<file path=ppt/slides/slide4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A9079E18-BE42-4CAB-9D26-721ABF5AA2F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2：核对同一关系的短码</a:t>
            </a:r>
          </a:p>
        </p:txBody>
      </p:sp>
      <p:sp>
        <p:nvSpPr>
          <p:cNvPr id="2" name="">
            <a:extLst>
              <a:ext uri="{FF2B5EF4-FFF2-40B4-BE49-F238E27FC236}">
                <ns2:creationId id="{64FF3128-43DA-48A7-A7A1-C0923297FEA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电脑与手机都显示 P4PR N4RW，用户必须在两端分别确认</a:t>
            </a:r>
          </a:p>
        </p:txBody>
      </p:sp>
      <p:sp>
        <p:nvSpPr>
          <p:cNvPr id="3" name="">
            <a:extLst>
              <a:ext uri="{FF2B5EF4-FFF2-40B4-BE49-F238E27FC236}">
                <ns2:creationId id="{6342EAD0-48AA-4142-85C8-277007EC5AC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45</a:t>
            </a:r>
          </a:p>
        </p:txBody>
      </p:sp>
      <p:sp>
        <p:nvSpPr>
          <p:cNvPr id="4" name="">
            <a:extLst>
              <a:ext uri="{FF2B5EF4-FFF2-40B4-BE49-F238E27FC236}">
                <ns2:creationId id="{AC276283-2338-4C2A-82A3-14685BAB9E33}"/>
              </a:ext>
            </a:extLst>
          </p:cNvPr>
          <p:cNvSpPr>
            <a:spLocks noGrp="1"/>
          </p:cNvSpPr>
          <p:nvPr/>
        </p:nvSpPr>
        <p:spPr>
          <a:xfrm>
            <a:off x="628650" y="190500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电脑确认</a:t>
            </a:r>
          </a:p>
        </p:txBody>
      </p:sp>
      <p:pic>
        <p:nvPicPr>
          <p:cNvPr id="18" name=""/>
          <p:cNvPicPr>
            <a:picLocks noChangeAspect="1"/>
          </p:cNvPicPr>
          <p:nvPr/>
        </p:nvPicPr>
        <p:blipFill>
          <a:blip r:embed="Rcae747eb56c64559"/>
          <a:stretch/>
        </p:blipFill>
        <p:spPr>
          <a:xfrm>
            <a:off x="628650" y="2591777"/>
            <a:ext cx="5048250" cy="2588846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13CDF2C1-02E2-47CF-956A-CF501CB3EB32}"/>
              </a:ext>
            </a:extLst>
          </p:cNvPr>
          <p:cNvSpPr>
            <a:spLocks noGrp="1"/>
          </p:cNvSpPr>
          <p:nvPr/>
        </p:nvSpPr>
        <p:spPr>
          <a:xfrm>
            <a:off x="628650" y="5457825"/>
            <a:ext cx="5048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同一次配对，两端分别确认</a:t>
            </a:r>
          </a:p>
        </p:txBody>
      </p:sp>
      <p:sp>
        <p:nvSpPr>
          <p:cNvPr id="7" name="">
            <a:extLst>
              <a:ext uri="{FF2B5EF4-FFF2-40B4-BE49-F238E27FC236}">
                <ns2:creationId id="{70B30086-E7EC-4170-917B-8012408AA5D5}"/>
              </a:ext>
            </a:extLst>
          </p:cNvPr>
          <p:cNvSpPr>
            <a:spLocks noGrp="1"/>
          </p:cNvSpPr>
          <p:nvPr/>
        </p:nvSpPr>
        <p:spPr>
          <a:xfrm>
            <a:off x="7334250" y="17526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手机确认</a:t>
            </a:r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 r:embed="Rdc9341979f1e48c0"/>
          <a:stretch/>
        </p:blipFill>
        <p:spPr>
          <a:xfrm>
            <a:off x="7232820" y="2171700"/>
            <a:ext cx="3346111" cy="3714750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ns2:creationId id="{89044946-A843-4BE4-BB70-4237A59ED2F4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短码是关系材料摘要的可读表示。配对码用于加入邀请，两者承担不同职责。</a:t>
            </a:r>
          </a:p>
        </p:txBody>
      </p:sp>
      <p:sp>
        <p:nvSpPr>
          <p:cNvPr id="10" name="">
            <a:extLst>
              <a:ext uri="{FF2B5EF4-FFF2-40B4-BE49-F238E27FC236}">
                <ns2:creationId id="{F8D1DFF4-FF91-4531-856D-5EA7270AED5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83bdd25f79541f7"/>
              </a:rPr>
              <a:t>MYA 代码与实测</a:t>
            </a:r>
          </a:p>
        </p:txBody>
      </p:sp>
    </p:spTree>
    <p:extLst>
      <p:ext uri="{BB962C8B-B14F-4D97-AF65-F5344CB8AC3E}">
        <ns4:creationId val="1264626937"/>
      </p:ext>
    </p:extLst>
  </p:cSld>
</p:sld>
</file>

<file path=ppt/slides/slide4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67FA3768-F645-48DB-933C-C0701BF41FA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3：签署关系，后续逐次授权</a:t>
            </a:r>
          </a:p>
        </p:txBody>
      </p:sp>
      <p:sp>
        <p:nvSpPr>
          <p:cNvPr id="2" name="">
            <a:extLst>
              <a:ext uri="{FF2B5EF4-FFF2-40B4-BE49-F238E27FC236}">
                <ns2:creationId id="{72785807-674B-44A0-8499-BCE94C758BD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绑定完成后，Agent 获得提交请求的关系资格</a:t>
            </a:r>
          </a:p>
        </p:txBody>
      </p:sp>
      <p:sp>
        <p:nvSpPr>
          <p:cNvPr id="3" name="">
            <a:extLst>
              <a:ext uri="{FF2B5EF4-FFF2-40B4-BE49-F238E27FC236}">
                <ns2:creationId id="{79CE38A6-F993-44E8-8934-28427E41054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46</a:t>
            </a:r>
          </a:p>
        </p:txBody>
      </p:sp>
      <p:sp>
        <p:nvSpPr>
          <p:cNvPr id="4" name="">
            <a:extLst>
              <a:ext uri="{FF2B5EF4-FFF2-40B4-BE49-F238E27FC236}">
                <ns2:creationId id="{933962FA-AC84-4675-BB88-3211B61C6AB8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手机签署</a:t>
            </a:r>
          </a:p>
        </p:txBody>
      </p:sp>
      <p:sp>
        <p:nvSpPr>
          <p:cNvPr id="5" name="">
            <a:extLst>
              <a:ext uri="{FF2B5EF4-FFF2-40B4-BE49-F238E27FC236}">
                <ns2:creationId id="{CE61AA1D-230C-4362-9387-7BA2342DF556}"/>
              </a:ext>
            </a:extLst>
          </p:cNvPr>
          <p:cNvSpPr>
            <a:spLocks noGrp="1"/>
          </p:cNvSpPr>
          <p:nvPr/>
        </p:nvSpPr>
        <p:spPr>
          <a:xfrm>
            <a:off x="2276475" y="1857375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手机签名覆盖 Agent 公钥、手机公钥、范围及有效期。</a:t>
            </a:r>
          </a:p>
        </p:txBody>
      </p:sp>
      <p:sp>
        <p:nvSpPr>
          <p:cNvPr id="6" name="">
            <a:extLst>
              <a:ext uri="{FF2B5EF4-FFF2-40B4-BE49-F238E27FC236}">
                <ns2:creationId id="{7A13A813-5CC8-4DEF-9941-91F2E95BC1E3}"/>
              </a:ext>
            </a:extLst>
          </p:cNvPr>
          <p:cNvSpPr>
            <a:spLocks noGrp="1"/>
          </p:cNvSpPr>
          <p:nvPr/>
        </p:nvSpPr>
        <p:spPr>
          <a:xfrm>
            <a:off x="628650" y="2800350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确认</a:t>
            </a:r>
          </a:p>
        </p:txBody>
      </p:sp>
      <p:sp>
        <p:nvSpPr>
          <p:cNvPr id="7" name="">
            <a:extLst>
              <a:ext uri="{FF2B5EF4-FFF2-40B4-BE49-F238E27FC236}">
                <ns2:creationId id="{00BD4272-2E2E-4BEC-B1E2-81CC0F7DA2D7}"/>
              </a:ext>
            </a:extLst>
          </p:cNvPr>
          <p:cNvSpPr>
            <a:spLocks noGrp="1"/>
          </p:cNvSpPr>
          <p:nvPr/>
        </p:nvSpPr>
        <p:spPr>
          <a:xfrm>
            <a:off x="2276475" y="2800350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对同一关系摘要签名，证明持有对应密钥。</a:t>
            </a:r>
          </a:p>
        </p:txBody>
      </p:sp>
      <p:sp>
        <p:nvSpPr>
          <p:cNvPr id="8" name="">
            <a:extLst>
              <a:ext uri="{FF2B5EF4-FFF2-40B4-BE49-F238E27FC236}">
                <ns2:creationId id="{C78D70C1-E8C9-4822-B729-A2F94484E45B}"/>
              </a:ext>
            </a:extLst>
          </p:cNvPr>
          <p:cNvSpPr>
            <a:spLocks noGrp="1"/>
          </p:cNvSpPr>
          <p:nvPr/>
        </p:nvSpPr>
        <p:spPr>
          <a:xfrm>
            <a:off x="628650" y="3743325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见证核验</a:t>
            </a:r>
          </a:p>
        </p:txBody>
      </p:sp>
      <p:sp>
        <p:nvSpPr>
          <p:cNvPr id="9" name="">
            <a:extLst>
              <a:ext uri="{FF2B5EF4-FFF2-40B4-BE49-F238E27FC236}">
                <ns2:creationId id="{E951E7CD-7280-460D-A7F8-50577F13F95D}"/>
              </a:ext>
            </a:extLst>
          </p:cNvPr>
          <p:cNvSpPr>
            <a:spLocks noGrp="1"/>
          </p:cNvSpPr>
          <p:nvPr/>
        </p:nvSpPr>
        <p:spPr>
          <a:xfrm>
            <a:off x="2276475" y="3743325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服务核验双方材料一致，签发配对见证。</a:t>
            </a:r>
          </a:p>
        </p:txBody>
      </p:sp>
      <p:sp>
        <p:nvSpPr>
          <p:cNvPr id="10" name="">
            <a:extLst>
              <a:ext uri="{FF2B5EF4-FFF2-40B4-BE49-F238E27FC236}">
                <ns2:creationId id="{2EBA40F1-4A5E-4B93-A159-9E29E3DA1C64}"/>
              </a:ext>
            </a:extLst>
          </p:cNvPr>
          <p:cNvSpPr>
            <a:spLocks noGrp="1"/>
          </p:cNvSpPr>
          <p:nvPr/>
        </p:nvSpPr>
        <p:spPr>
          <a:xfrm>
            <a:off x="628650" y="4686300"/>
            <a:ext cx="14573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绑定完成</a:t>
            </a:r>
          </a:p>
        </p:txBody>
      </p:sp>
      <p:sp>
        <p:nvSpPr>
          <p:cNvPr id="11" name="">
            <a:extLst>
              <a:ext uri="{FF2B5EF4-FFF2-40B4-BE49-F238E27FC236}">
                <ns2:creationId id="{F11A46ED-6EF0-41F9-9FEE-A776241BA168}"/>
              </a:ext>
            </a:extLst>
          </p:cNvPr>
          <p:cNvSpPr>
            <a:spLocks noGrp="1"/>
          </p:cNvSpPr>
          <p:nvPr/>
        </p:nvSpPr>
        <p:spPr>
          <a:xfrm>
            <a:off x="2276475" y="4686300"/>
            <a:ext cx="60007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手机列出已绑定 Agent。每项业务仍需独立授权或有限规则。</a:t>
            </a:r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9fa40b9353d1441e"/>
          <a:srcRect l="0" t="16708" r="0" b="16708"/>
          <a:stretch>
            <a:fillRect l="0" t="0" r="0" b="0"/>
          </a:stretch>
        </p:blipFill>
        <p:spPr>
          <a:xfrm>
            <a:off x="9001125" y="1762125"/>
            <a:ext cx="2552700" cy="3952875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C320B56D-E3DA-4618-90CD-05C87F38553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当前指纹确认是模拟交互。配对签名与加密是真实实现。</a:t>
            </a:r>
          </a:p>
        </p:txBody>
      </p:sp>
      <p:sp>
        <p:nvSpPr>
          <p:cNvPr id="14" name="">
            <a:extLst>
              <a:ext uri="{FF2B5EF4-FFF2-40B4-BE49-F238E27FC236}">
                <ns2:creationId id="{28BDB69D-A5F6-41ED-9BDA-2BFED5405E4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16ca8829e5642c6"/>
              </a:rPr>
              <a:t>MYA 代码与实测</a:t>
            </a:r>
          </a:p>
        </p:txBody>
      </p:sp>
    </p:spTree>
    <p:extLst>
      <p:ext uri="{BB962C8B-B14F-4D97-AF65-F5344CB8AC3E}">
        <ns4:creationId val="323466615"/>
      </p:ext>
    </p:extLst>
  </p:cSld>
</p:sld>
</file>

<file path=ppt/slides/slide4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44E1D547-B406-48E9-86D7-B531B2E5DF4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密码学绑定的具体层次</a:t>
            </a:r>
          </a:p>
        </p:txBody>
      </p:sp>
      <p:sp>
        <p:nvSpPr>
          <p:cNvPr id="2" name="">
            <a:extLst>
              <a:ext uri="{FF2B5EF4-FFF2-40B4-BE49-F238E27FC236}">
                <ns2:creationId id="{99AF9B5C-2C86-447F-8329-0161097D09D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判断其他方案是否具备同类能力，需要先说明绑定对象</a:t>
            </a:r>
          </a:p>
        </p:txBody>
      </p:sp>
      <p:sp>
        <p:nvSpPr>
          <p:cNvPr id="3" name="">
            <a:extLst>
              <a:ext uri="{FF2B5EF4-FFF2-40B4-BE49-F238E27FC236}">
                <ns2:creationId id="{1133E122-AA79-4DAF-87CA-77BF52998D3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19500"/>
        </p:xfrm>
        <a:graphic>
          <a:graphicData uri="http://schemas.openxmlformats.org/drawingml/2006/table">
            <a:tbl>
              <a:tblPr/>
              <a:tblGrid>
                <a:gridCol w="2095500"/>
                <a:gridCol w="4667250"/>
                <a:gridCol w="4210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绑定什么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实际意义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服务传输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HTTPS 服务地址与证书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保护到服务的连接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持续关系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双方公钥、binding_id、用途、有效期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明确哪个手机与哪个 Agent 形成关系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双向消息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签名后加密，含绑定及收发方标识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验证消息来源，限制跨关系替换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具体行动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行动与内容摘要、范围、有效期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资源端将批准与实际执行逐项比对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71908D73-B29E-4709-8A38-C6A4203BBD4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“使用 HTTPS”“设备绑定到账户”“用户与 Agent 关系绑定”“行动绑定”应分别比较。</a:t>
            </a:r>
          </a:p>
        </p:txBody>
      </p:sp>
      <p:sp>
        <p:nvSpPr>
          <p:cNvPr id="6" name="">
            <a:extLst>
              <a:ext uri="{FF2B5EF4-FFF2-40B4-BE49-F238E27FC236}">
                <ns2:creationId id="{3AD28486-E56C-40E4-90F5-B7700C2C0B6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db886427cea49c7"/>
              </a:rPr>
              <a:t>MYA 代码与实测</a:t>
            </a:r>
          </a:p>
        </p:txBody>
      </p:sp>
    </p:spTree>
    <p:extLst>
      <p:ext uri="{BB962C8B-B14F-4D97-AF65-F5344CB8AC3E}">
        <ns4:creationId val="654348798"/>
      </p:ext>
    </p:extLst>
  </p:cSld>
</p:sld>
</file>

<file path=ppt/slides/slide4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38990522-2FD0-44A3-B2BF-A8A60537244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当前产品功能与实现边界</a:t>
            </a:r>
          </a:p>
        </p:txBody>
      </p:sp>
      <p:sp>
        <p:nvSpPr>
          <p:cNvPr id="2" name="">
            <a:extLst>
              <a:ext uri="{FF2B5EF4-FFF2-40B4-BE49-F238E27FC236}">
                <ns2:creationId id="{39445939-5340-41F5-958E-7C2BC83A4D0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截至本次部署和实测，MYA 仍是 Web Demo</a:t>
            </a:r>
          </a:p>
        </p:txBody>
      </p:sp>
      <p:sp>
        <p:nvSpPr>
          <p:cNvPr id="3" name="">
            <a:extLst>
              <a:ext uri="{FF2B5EF4-FFF2-40B4-BE49-F238E27FC236}">
                <ns2:creationId id="{0A64A2B7-862D-4E1F-BF81-22AA6397E47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952875"/>
        </p:xfrm>
        <a:graphic>
          <a:graphicData uri="http://schemas.openxmlformats.org/drawingml/2006/table">
            <a:tbl>
              <a:tblPr/>
              <a:tblGrid>
                <a:gridCol w="3381375"/>
                <a:gridCol w="3143250"/>
                <a:gridCol w="444817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当前状态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配对、加密、签名、见证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已实现，真实密码学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双端短码确认，Demo 凭证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修改、批准、执行、回执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真人流程已跑通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只投递演示收件箱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有限自动规则、例外转人工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已实现，自动测试通过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规则需用户单独启用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 Agent 关系管理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代码与界面支持多绑定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本次真人验收仅绑定一个 Agent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审批侧调查 Agent、DID/VC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当前建议与指纹交互为模拟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FD883618-E0EB-4BA6-AE34-6E39D6DBF647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尚无真实生物识别、手机后台可靠唤醒、组织多级审批或生产级恢复能力。</a:t>
            </a:r>
          </a:p>
        </p:txBody>
      </p:sp>
      <p:sp>
        <p:nvSpPr>
          <p:cNvPr id="6" name="">
            <a:extLst>
              <a:ext uri="{FF2B5EF4-FFF2-40B4-BE49-F238E27FC236}">
                <ns2:creationId id="{14C124C9-BB58-4E85-AD27-EB41B5837CA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ccb7c6f23294c4e"/>
              </a:rPr>
              <a:t>MYA 代码与实测</a:t>
            </a:r>
          </a:p>
        </p:txBody>
      </p:sp>
    </p:spTree>
    <p:extLst>
      <p:ext uri="{BB962C8B-B14F-4D97-AF65-F5344CB8AC3E}">
        <ns4:creationId val="1195553765"/>
      </p:ext>
    </p:extLst>
  </p:cSld>
</p:sld>
</file>

<file path=ppt/slides/slide4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31B3A196-B84C-48F6-AA3E-611D3D5200F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部署角色与授权凭证</a:t>
            </a:r>
          </a:p>
        </p:txBody>
      </p:sp>
      <p:sp>
        <p:nvSpPr>
          <p:cNvPr id="2" name="">
            <a:extLst>
              <a:ext uri="{FF2B5EF4-FFF2-40B4-BE49-F238E27FC236}">
                <ns2:creationId id="{79757184-361D-4FEC-89AD-539BC9A5003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运行位置可以分开，安全职责也应分开</a:t>
            </a:r>
          </a:p>
        </p:txBody>
      </p:sp>
      <p:sp>
        <p:nvSpPr>
          <p:cNvPr id="3" name="">
            <a:extLst>
              <a:ext uri="{FF2B5EF4-FFF2-40B4-BE49-F238E27FC236}">
                <ns2:creationId id="{DFFE8A6D-9499-44AF-A5D6-5D8F2B7A3AC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476625"/>
        </p:xfrm>
        <a:graphic>
          <a:graphicData uri="http://schemas.openxmlformats.org/drawingml/2006/table">
            <a:tbl>
              <a:tblPr/>
              <a:tblGrid>
                <a:gridCol w="2952750"/>
                <a:gridCol w="4857750"/>
                <a:gridCol w="31623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负责什么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PC 上的 Codex 与 CLI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准备最终内容，提交申请，等待决定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冻结内容与请求编号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手机上的用户与审批伙伴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审阅内容，修改或批准，单独授权规则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单次授权或有限委托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Oracle 的见证与消息服务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核验配对材料，转发加密消息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关系凭证、见证签名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资源端执行 API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校验范围、时效、撤销、重放与内容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签名执行回执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49CF607-57EF-4B34-88AB-B8BB265B041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关系凭证说明谁有资格申请。行动授权说明这次能做什么。执行回执说明实际发生了什么。</a:t>
            </a:r>
          </a:p>
        </p:txBody>
      </p:sp>
      <p:sp>
        <p:nvSpPr>
          <p:cNvPr id="6" name="">
            <a:extLst>
              <a:ext uri="{FF2B5EF4-FFF2-40B4-BE49-F238E27FC236}">
                <ns2:creationId id="{3FCCA4FF-E481-4D63-A46D-8AAD4F5814F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5b26793d2b34525"/>
              </a:rPr>
              <a:t>MYA 代码与实测</a:t>
            </a:r>
          </a:p>
        </p:txBody>
      </p:sp>
    </p:spTree>
    <p:extLst>
      <p:ext uri="{BB962C8B-B14F-4D97-AF65-F5344CB8AC3E}">
        <ns4:creationId val="1226213202"/>
      </p:ext>
    </p:extLst>
  </p:cSld>
</p:sld>
</file>

<file path=ppt/slides/slide5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5B5FE4DE-1374-470C-B0AE-084B4A3B77D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真实验收：用户要求修改后再授权</a:t>
            </a:r>
          </a:p>
        </p:txBody>
      </p:sp>
      <p:sp>
        <p:nvSpPr>
          <p:cNvPr id="2" name="">
            <a:extLst>
              <a:ext uri="{FF2B5EF4-FFF2-40B4-BE49-F238E27FC236}">
                <ns2:creationId id="{90377530-F6C4-4A34-90A3-DA2E0339C86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Oracle HTTPS、PC Codex 和用户手机已完成一次修改闭环</a:t>
            </a:r>
          </a:p>
        </p:txBody>
      </p:sp>
      <p:sp>
        <p:nvSpPr>
          <p:cNvPr id="3" name="">
            <a:extLst>
              <a:ext uri="{FF2B5EF4-FFF2-40B4-BE49-F238E27FC236}">
                <ns2:creationId id="{13435620-8A0E-4E42-AE1B-1C4D24BBACD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50</a:t>
            </a:r>
          </a:p>
        </p:txBody>
      </p:sp>
      <p:sp>
        <p:nvSpPr>
          <p:cNvPr id="4" name="">
            <a:extLst>
              <a:ext uri="{FF2B5EF4-FFF2-40B4-BE49-F238E27FC236}">
                <ns2:creationId id="{31F97D02-7CA5-4810-B92D-189D58CAAE7B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原申请</a:t>
            </a:r>
          </a:p>
        </p:txBody>
      </p:sp>
      <p:sp>
        <p:nvSpPr>
          <p:cNvPr id="5" name="">
            <a:extLst>
              <a:ext uri="{FF2B5EF4-FFF2-40B4-BE49-F238E27FC236}">
                <ns2:creationId id="{986FA143-F7D2-470D-8850-49ACFBA6C5B4}"/>
              </a:ext>
            </a:extLst>
          </p:cNvPr>
          <p:cNvSpPr>
            <a:spLocks noGrp="1"/>
          </p:cNvSpPr>
          <p:nvPr/>
        </p:nvSpPr>
        <p:spPr>
          <a:xfrm>
            <a:off x="2295525" y="185737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项目进度 60%，附带合成内部成本 120,000 元。</a:t>
            </a:r>
          </a:p>
        </p:txBody>
      </p:sp>
      <p:sp>
        <p:nvSpPr>
          <p:cNvPr id="6" name="">
            <a:extLst>
              <a:ext uri="{FF2B5EF4-FFF2-40B4-BE49-F238E27FC236}">
                <ns2:creationId id="{354B6EFF-CE0F-478D-B3C9-9651F06F1514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手机意见</a:t>
            </a:r>
          </a:p>
        </p:txBody>
      </p:sp>
      <p:sp>
        <p:nvSpPr>
          <p:cNvPr id="7" name="">
            <a:extLst>
              <a:ext uri="{FF2B5EF4-FFF2-40B4-BE49-F238E27FC236}">
                <ns2:creationId id="{943C2DFE-32F0-42CF-9CDB-8B492397CC2A}"/>
              </a:ext>
            </a:extLst>
          </p:cNvPr>
          <p:cNvSpPr>
            <a:spLocks noGrp="1"/>
          </p:cNvSpPr>
          <p:nvPr/>
        </p:nvSpPr>
        <p:spPr>
          <a:xfrm>
            <a:off x="2295525" y="279082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移除内部成本及个人信息，使用固定进度模板。</a:t>
            </a:r>
          </a:p>
        </p:txBody>
      </p:sp>
      <p:sp>
        <p:nvSpPr>
          <p:cNvPr id="8" name="">
            <a:extLst>
              <a:ext uri="{FF2B5EF4-FFF2-40B4-BE49-F238E27FC236}">
                <ns2:creationId id="{72F41768-7947-4BD4-9067-0B18AF3EC9C7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关联修订</a:t>
            </a:r>
          </a:p>
        </p:txBody>
      </p:sp>
      <p:sp>
        <p:nvSpPr>
          <p:cNvPr id="9" name="">
            <a:extLst>
              <a:ext uri="{FF2B5EF4-FFF2-40B4-BE49-F238E27FC236}">
                <ns2:creationId id="{5EBE7ED8-8061-4D2C-9697-E9AE51433FD2}"/>
              </a:ext>
            </a:extLst>
          </p:cNvPr>
          <p:cNvSpPr>
            <a:spLocks noGrp="1"/>
          </p:cNvSpPr>
          <p:nvPr/>
        </p:nvSpPr>
        <p:spPr>
          <a:xfrm>
            <a:off x="2295525" y="372427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新请求关联原请求，只保留项目进度字段。</a:t>
            </a:r>
          </a:p>
        </p:txBody>
      </p:sp>
      <p:sp>
        <p:nvSpPr>
          <p:cNvPr id="10" name="">
            <a:extLst>
              <a:ext uri="{FF2B5EF4-FFF2-40B4-BE49-F238E27FC236}">
                <ns2:creationId id="{819564EA-296B-4356-95D4-FF2016970E65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执行结果</a:t>
            </a:r>
          </a:p>
        </p:txBody>
      </p:sp>
      <p:sp>
        <p:nvSpPr>
          <p:cNvPr id="11" name="">
            <a:extLst>
              <a:ext uri="{FF2B5EF4-FFF2-40B4-BE49-F238E27FC236}">
                <ns2:creationId id="{93639412-2C4B-4EBB-BBBA-773228DA2DAD}"/>
              </a:ext>
            </a:extLst>
          </p:cNvPr>
          <p:cNvSpPr>
            <a:spLocks noGrp="1"/>
          </p:cNvSpPr>
          <p:nvPr/>
        </p:nvSpPr>
        <p:spPr>
          <a:xfrm>
            <a:off x="2295525" y="4657725"/>
            <a:ext cx="604837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手机批准后执行，独立查询回执确认送达。</a:t>
            </a:r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fc5598f3edca4eb8"/>
          <a:srcRect l="0" t="33100" r="0" b="33100"/>
          <a:stretch>
            <a:fillRect l="0" t="0" r="0" b="0"/>
          </a:stretch>
        </p:blipFill>
        <p:spPr>
          <a:xfrm>
            <a:off x="8953500" y="1762125"/>
            <a:ext cx="2628900" cy="3952875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CB6F91BD-983B-4F80-BB85-2271F3907E3E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右图来自本次公网自动测试。同类真人修订请求：bd4ba443…，回执结果已确认。</a:t>
            </a:r>
          </a:p>
        </p:txBody>
      </p:sp>
      <p:sp>
        <p:nvSpPr>
          <p:cNvPr id="14" name="">
            <a:extLst>
              <a:ext uri="{FF2B5EF4-FFF2-40B4-BE49-F238E27FC236}">
                <ns2:creationId id="{8802A1ED-59C2-47D8-94A1-1A51F7D8E9C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c6e3ca76cfb241bf"/>
              </a:rPr>
              <a:t>MYA 代码与实测</a:t>
            </a:r>
          </a:p>
        </p:txBody>
      </p:sp>
    </p:spTree>
    <p:extLst>
      <p:ext uri="{BB962C8B-B14F-4D97-AF65-F5344CB8AC3E}">
        <ns4:creationId val="1024129126"/>
      </p:ext>
    </p:extLst>
  </p:cSld>
</p:sld>
</file>

<file path=ppt/slides/slide5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E6476E4D-F073-432F-9C46-43B90CEED96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有限自动审批与例外处理</a:t>
            </a:r>
          </a:p>
        </p:txBody>
      </p:sp>
      <p:sp>
        <p:nvSpPr>
          <p:cNvPr id="2" name="">
            <a:extLst>
              <a:ext uri="{FF2B5EF4-FFF2-40B4-BE49-F238E27FC236}">
                <ns2:creationId id="{7CE1C1EC-9A1A-4270-AF8F-F5BD29D99AB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一次批准不会自动成为长期授权</a:t>
            </a:r>
          </a:p>
        </p:txBody>
      </p:sp>
      <p:sp>
        <p:nvSpPr>
          <p:cNvPr id="3" name="">
            <a:extLst>
              <a:ext uri="{FF2B5EF4-FFF2-40B4-BE49-F238E27FC236}">
                <ns2:creationId id="{9F7B9DF3-B216-4C24-BD3A-76DD06C375F6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51</a:t>
            </a:r>
          </a:p>
        </p:txBody>
      </p:sp>
      <p:sp>
        <p:nvSpPr>
          <p:cNvPr id="4" name="">
            <a:extLst>
              <a:ext uri="{FF2B5EF4-FFF2-40B4-BE49-F238E27FC236}">
                <ns2:creationId id="{DDCEEE82-D274-4CE0-ADD5-47F2337BFD49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规则生成</a:t>
            </a:r>
          </a:p>
        </p:txBody>
      </p:sp>
      <p:sp>
        <p:nvSpPr>
          <p:cNvPr id="5" name="">
            <a:extLst>
              <a:ext uri="{FF2B5EF4-FFF2-40B4-BE49-F238E27FC236}">
                <ns2:creationId id="{F09B8E2C-E78B-4FB3-9F29-EBD3285D08C7}"/>
              </a:ext>
            </a:extLst>
          </p:cNvPr>
          <p:cNvSpPr>
            <a:spLocks noGrp="1"/>
          </p:cNvSpPr>
          <p:nvPr/>
        </p:nvSpPr>
        <p:spPr>
          <a:xfrm>
            <a:off x="2295525" y="185737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根据已审阅记录起草，用户核对后单独启用。</a:t>
            </a:r>
          </a:p>
        </p:txBody>
      </p:sp>
      <p:sp>
        <p:nvSpPr>
          <p:cNvPr id="6" name="">
            <a:extLst>
              <a:ext uri="{FF2B5EF4-FFF2-40B4-BE49-F238E27FC236}">
                <ns2:creationId id="{B7FEAAD3-5F66-496C-AF4D-9F55C24AE1BD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范围约束</a:t>
            </a:r>
          </a:p>
        </p:txBody>
      </p:sp>
      <p:sp>
        <p:nvSpPr>
          <p:cNvPr id="7" name="">
            <a:extLst>
              <a:ext uri="{FF2B5EF4-FFF2-40B4-BE49-F238E27FC236}">
                <ns2:creationId id="{4DDFCF69-8978-47FA-9341-86BD66895167}"/>
              </a:ext>
            </a:extLst>
          </p:cNvPr>
          <p:cNvSpPr>
            <a:spLocks noGrp="1"/>
          </p:cNvSpPr>
          <p:nvPr/>
        </p:nvSpPr>
        <p:spPr>
          <a:xfrm>
            <a:off x="2295525" y="279082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限定接收方、项目、固定字段、次数和有效期。</a:t>
            </a:r>
          </a:p>
        </p:txBody>
      </p:sp>
      <p:sp>
        <p:nvSpPr>
          <p:cNvPr id="8" name="">
            <a:extLst>
              <a:ext uri="{FF2B5EF4-FFF2-40B4-BE49-F238E27FC236}">
                <ns2:creationId id="{732B3331-5A90-4AB3-948A-FB723E558D63}"/>
              </a:ext>
            </a:extLst>
          </p:cNvPr>
          <p:cNvSpPr>
            <a:spLocks noGrp="1"/>
          </p:cNvSpPr>
          <p:nvPr/>
        </p:nvSpPr>
        <p:spPr>
          <a:xfrm>
            <a:off x="628650" y="372427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例外回退</a:t>
            </a:r>
          </a:p>
        </p:txBody>
      </p:sp>
      <p:sp>
        <p:nvSpPr>
          <p:cNvPr id="9" name="">
            <a:extLst>
              <a:ext uri="{FF2B5EF4-FFF2-40B4-BE49-F238E27FC236}">
                <ns2:creationId id="{CDC409FF-BE77-451A-93E0-25A7C639ED52}"/>
              </a:ext>
            </a:extLst>
          </p:cNvPr>
          <p:cNvSpPr>
            <a:spLocks noGrp="1"/>
          </p:cNvSpPr>
          <p:nvPr/>
        </p:nvSpPr>
        <p:spPr>
          <a:xfrm>
            <a:off x="2295525" y="372427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换收件人、出现未知字段或超范围时转人工。</a:t>
            </a:r>
          </a:p>
        </p:txBody>
      </p:sp>
      <p:sp>
        <p:nvSpPr>
          <p:cNvPr id="10" name="">
            <a:extLst>
              <a:ext uri="{FF2B5EF4-FFF2-40B4-BE49-F238E27FC236}">
                <ns2:creationId id="{5E55DC41-9099-4A35-A91F-1647B61449F6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147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随时收回</a:t>
            </a:r>
          </a:p>
        </p:txBody>
      </p:sp>
      <p:sp>
        <p:nvSpPr>
          <p:cNvPr id="11" name="">
            <a:extLst>
              <a:ext uri="{FF2B5EF4-FFF2-40B4-BE49-F238E27FC236}">
                <ns2:creationId id="{C82BE690-9EFB-46B3-8F1A-33B1B48AB0B2}"/>
              </a:ext>
            </a:extLst>
          </p:cNvPr>
          <p:cNvSpPr>
            <a:spLocks noGrp="1"/>
          </p:cNvSpPr>
          <p:nvPr/>
        </p:nvSpPr>
        <p:spPr>
          <a:xfrm>
            <a:off x="2295525" y="4657725"/>
            <a:ext cx="59531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暂停规则或撤销关系，执行端重新检查状态。</a:t>
            </a:r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afca4503196341de"/>
          <a:stretch/>
        </p:blipFill>
        <p:spPr>
          <a:xfrm>
            <a:off x="9270421" y="1771650"/>
            <a:ext cx="1804559" cy="3905250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5FCCEBA2-8B3E-456B-85F7-71588F5C10F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已实现并通过自动测试。本次尚未将真人规则启用作为完成项。</a:t>
            </a:r>
          </a:p>
        </p:txBody>
      </p:sp>
      <p:sp>
        <p:nvSpPr>
          <p:cNvPr id="14" name="">
            <a:extLst>
              <a:ext uri="{FF2B5EF4-FFF2-40B4-BE49-F238E27FC236}">
                <ns2:creationId id="{96507C89-B12B-4F0B-94E1-6CF6B92642A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e5fc86efba64cac"/>
              </a:rPr>
              <a:t>MYA 代码与实测</a:t>
            </a:r>
          </a:p>
        </p:txBody>
      </p:sp>
    </p:spTree>
    <p:extLst>
      <p:ext uri="{BB962C8B-B14F-4D97-AF65-F5344CB8AC3E}">
        <ns4:creationId val="241527284"/>
      </p:ext>
    </p:extLst>
  </p:cSld>
</p:sld>
</file>

<file path=ppt/slides/slide5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9F28B213-EA00-4790-A4E3-CA2F2C6B37C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安全优势成立的条件</a:t>
            </a:r>
          </a:p>
        </p:txBody>
      </p:sp>
      <p:sp>
        <p:nvSpPr>
          <p:cNvPr id="2" name="">
            <a:extLst>
              <a:ext uri="{FF2B5EF4-FFF2-40B4-BE49-F238E27FC236}">
                <ns2:creationId id="{CE7EEE5D-29A6-4A5A-BB0E-D72B3FA90F1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带外通道降低主会话中的干扰，强制授权必须落实到资源端</a:t>
            </a:r>
          </a:p>
        </p:txBody>
      </p:sp>
      <p:sp>
        <p:nvSpPr>
          <p:cNvPr id="3" name="">
            <a:extLst>
              <a:ext uri="{FF2B5EF4-FFF2-40B4-BE49-F238E27FC236}">
                <ns2:creationId id="{28E6A0F8-46D9-4C2B-A688-BE3BD854DC4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52</a:t>
            </a:r>
          </a:p>
        </p:txBody>
      </p:sp>
      <p:sp>
        <p:nvSpPr>
          <p:cNvPr id="4" name="">
            <a:extLst>
              <a:ext uri="{FF2B5EF4-FFF2-40B4-BE49-F238E27FC236}">
                <ns2:creationId id="{42452B10-8FED-4BAD-BE52-1AC1307AED0F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明确作用</a:t>
            </a:r>
          </a:p>
        </p:txBody>
      </p:sp>
      <p:sp>
        <p:nvSpPr>
          <p:cNvPr id="5" name="">
            <a:extLst>
              <a:ext uri="{FF2B5EF4-FFF2-40B4-BE49-F238E27FC236}">
                <ns2:creationId id="{29686E63-2261-4796-9A18-9FBF5DF60B78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手机展示并签署具体对象，执行 Agent 无法凭聊天中的“同意”替代授权。</a:t>
            </a:r>
          </a:p>
        </p:txBody>
      </p:sp>
      <p:sp>
        <p:nvSpPr>
          <p:cNvPr id="6" name="">
            <a:extLst>
              <a:ext uri="{FF2B5EF4-FFF2-40B4-BE49-F238E27FC236}">
                <ns2:creationId id="{D34F17CE-A79F-4AC7-8598-7968AFE4D9D2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强制边界</a:t>
            </a:r>
          </a:p>
        </p:txBody>
      </p:sp>
      <p:sp>
        <p:nvSpPr>
          <p:cNvPr id="7" name="">
            <a:extLst>
              <a:ext uri="{FF2B5EF4-FFF2-40B4-BE49-F238E27FC236}">
                <ns2:creationId id="{8F044597-BDFD-4030-8BB6-FE0A29AF2989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资源端拒绝无授权、内容变更、过期、撤销和重放的请求。</a:t>
            </a:r>
          </a:p>
        </p:txBody>
      </p:sp>
      <p:sp>
        <p:nvSpPr>
          <p:cNvPr id="8" name="">
            <a:extLst>
              <a:ext uri="{FF2B5EF4-FFF2-40B4-BE49-F238E27FC236}">
                <ns2:creationId id="{D891DBE8-D632-42DD-AA1F-DA10AE52BA9E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绕过风险</a:t>
            </a:r>
          </a:p>
        </p:txBody>
      </p:sp>
      <p:sp>
        <p:nvSpPr>
          <p:cNvPr id="9" name="">
            <a:extLst>
              <a:ext uri="{FF2B5EF4-FFF2-40B4-BE49-F238E27FC236}">
                <ns2:creationId id="{8CB5490B-18FA-41B3-B257-7266DBA44959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若 Agent 仍握有直连凭据、管理员权限或其他发送入口，就存在旁路。</a:t>
            </a:r>
          </a:p>
        </p:txBody>
      </p:sp>
      <p:sp>
        <p:nvSpPr>
          <p:cNvPr id="10" name="">
            <a:extLst>
              <a:ext uri="{FF2B5EF4-FFF2-40B4-BE49-F238E27FC236}">
                <ns2:creationId id="{D5A1F418-906B-4774-824F-53196DBDE278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当前限制</a:t>
            </a:r>
          </a:p>
        </p:txBody>
      </p:sp>
      <p:sp>
        <p:nvSpPr>
          <p:cNvPr id="11" name="">
            <a:extLst>
              <a:ext uri="{FF2B5EF4-FFF2-40B4-BE49-F238E27FC236}">
                <ns2:creationId id="{F291B07C-A24E-46A8-A209-52DEF320B17F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同源网页可更新，指纹为模拟。带外本身也不等于抗钓鱼。</a:t>
            </a:r>
          </a:p>
        </p:txBody>
      </p:sp>
      <p:sp>
        <p:nvSpPr>
          <p:cNvPr id="12" name="">
            <a:extLst>
              <a:ext uri="{FF2B5EF4-FFF2-40B4-BE49-F238E27FC236}">
                <ns2:creationId id="{58F6DC9F-EDFE-4D2A-A577-11931421CD72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推荐表述：对已纳入授权验证的资源接口强制执行审批。避免宣称整个电脑“不可旁路”。</a:t>
            </a:r>
          </a:p>
        </p:txBody>
      </p:sp>
      <p:sp>
        <p:nvSpPr>
          <p:cNvPr id="13" name="">
            <a:extLst>
              <a:ext uri="{FF2B5EF4-FFF2-40B4-BE49-F238E27FC236}">
                <ns2:creationId id="{56B4BFB4-A72F-4CEE-AE64-22A33063E79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75ed7e989384727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8c57745d7d4916"/>
              </a:rPr>
              <a:t>NIST 63B-4</a:t>
            </a:r>
          </a:p>
        </p:txBody>
      </p:sp>
    </p:spTree>
    <p:extLst>
      <p:ext uri="{BB962C8B-B14F-4D97-AF65-F5344CB8AC3E}">
        <ns4:creationId val="1755024311"/>
      </p:ext>
    </p:extLst>
  </p:cSld>
</p:sld>
</file>

<file path=ppt/slides/slide5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6F4D6C1D-76F6-4434-9C79-2BDE6CB6FF4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审批分支：容纳小范围往返决策</a:t>
            </a:r>
          </a:p>
        </p:txBody>
      </p:sp>
      <p:sp>
        <p:nvSpPr>
          <p:cNvPr id="2" name="">
            <a:extLst>
              <a:ext uri="{FF2B5EF4-FFF2-40B4-BE49-F238E27FC236}">
                <ns2:creationId id="{E5F8B90F-9FDC-4909-B52D-5164E25A539A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当前已有修改反馈。多轮问答、调查与替代方案属于下一阶段</a:t>
            </a:r>
          </a:p>
        </p:txBody>
      </p:sp>
      <p:sp>
        <p:nvSpPr>
          <p:cNvPr id="3" name="">
            <a:extLst>
              <a:ext uri="{FF2B5EF4-FFF2-40B4-BE49-F238E27FC236}">
                <ns2:creationId id="{BA402961-32BC-41E9-A2CE-DF14C7C2E6A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53</a:t>
            </a:r>
          </a:p>
        </p:txBody>
      </p:sp>
      <p:sp>
        <p:nvSpPr>
          <p:cNvPr id="4" name="">
            <a:extLst>
              <a:ext uri="{FF2B5EF4-FFF2-40B4-BE49-F238E27FC236}">
                <ns2:creationId id="{E874DE30-25B9-43FF-94E0-34244A0CABB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Agent</a:t>
            </a:r>
          </a:p>
        </p:txBody>
      </p:sp>
      <p:sp>
        <p:nvSpPr>
          <p:cNvPr id="5" name="">
            <a:extLst>
              <a:ext uri="{FF2B5EF4-FFF2-40B4-BE49-F238E27FC236}">
                <ns2:creationId id="{89DD07D1-3220-4B3D-912B-92421E127C86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申请向合作方发送报告，附最终文件、对象与业务目的。</a:t>
            </a:r>
          </a:p>
        </p:txBody>
      </p:sp>
      <p:sp>
        <p:nvSpPr>
          <p:cNvPr id="6" name="">
            <a:extLst>
              <a:ext uri="{FF2B5EF4-FFF2-40B4-BE49-F238E27FC236}">
                <ns2:creationId id="{ACCA736A-81E4-4D1E-AA45-1B46D12C91F2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4F0B95B2-FC5E-43D9-8B8F-E17C637ADEF0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发现成本附表。可只发送进度，或改成需保密协议的受限附件。</a:t>
            </a:r>
          </a:p>
        </p:txBody>
      </p:sp>
      <p:sp>
        <p:nvSpPr>
          <p:cNvPr id="8" name="">
            <a:extLst>
              <a:ext uri="{FF2B5EF4-FFF2-40B4-BE49-F238E27FC236}">
                <ns2:creationId id="{C2EDD7D5-EF6B-4EAE-A560-A9A253B67EF8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</a:t>
            </a:r>
          </a:p>
        </p:txBody>
      </p:sp>
      <p:sp>
        <p:nvSpPr>
          <p:cNvPr id="9" name="">
            <a:extLst>
              <a:ext uri="{FF2B5EF4-FFF2-40B4-BE49-F238E27FC236}">
                <ns2:creationId id="{D576FFDB-8DC7-4444-85FB-A5010C25E597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先查合同要求。我只希望同步进度，不披露报价依据。</a:t>
            </a:r>
          </a:p>
        </p:txBody>
      </p:sp>
      <p:sp>
        <p:nvSpPr>
          <p:cNvPr id="10" name="">
            <a:extLst>
              <a:ext uri="{FF2B5EF4-FFF2-40B4-BE49-F238E27FC236}">
                <ns2:creationId id="{2E83C105-0965-4002-99A6-D48730208B7A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回到执行侧</a:t>
            </a:r>
          </a:p>
        </p:txBody>
      </p:sp>
      <p:sp>
        <p:nvSpPr>
          <p:cNvPr id="11" name="">
            <a:extLst>
              <a:ext uri="{FF2B5EF4-FFF2-40B4-BE49-F238E27FC236}">
                <ns2:creationId id="{57C66CD7-21FF-443B-A6E3-676F6BF376D6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只返回必要约束和已确认方案，生成新版本重新申请。</a:t>
            </a:r>
          </a:p>
        </p:txBody>
      </p:sp>
      <p:sp>
        <p:nvSpPr>
          <p:cNvPr id="12" name="">
            <a:extLst>
              <a:ext uri="{FF2B5EF4-FFF2-40B4-BE49-F238E27FC236}">
                <ns2:creationId id="{86CBD459-469B-4B0A-987C-7664ECB6E7F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每条分支绑定请求和版本。讨论记录保留在审批侧，最终授权仍需明确动作。</a:t>
            </a:r>
          </a:p>
        </p:txBody>
      </p:sp>
      <p:sp>
        <p:nvSpPr>
          <p:cNvPr id="13" name="">
            <a:extLst>
              <a:ext uri="{FF2B5EF4-FFF2-40B4-BE49-F238E27FC236}">
                <ns2:creationId id="{1EA2E74E-A223-43B2-800D-DD0F9007E5B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5ccaf63b3984f53"/>
              </a:rPr>
              <a:t>MYA 代码与实测</a:t>
            </a:r>
          </a:p>
        </p:txBody>
      </p:sp>
    </p:spTree>
    <p:extLst>
      <p:ext uri="{BB962C8B-B14F-4D97-AF65-F5344CB8AC3E}">
        <ns4:creationId val="739346069"/>
      </p:ext>
    </p:extLst>
  </p:cSld>
</p:sld>
</file>

<file path=ppt/slides/slide5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2F4CB70D-5793-4664-8CBA-6C0572F4C167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审批侧 Agent 的独立性</a:t>
            </a:r>
          </a:p>
        </p:txBody>
      </p:sp>
      <p:sp>
        <p:nvSpPr>
          <p:cNvPr id="2" name="">
            <a:extLst>
              <a:ext uri="{FF2B5EF4-FFF2-40B4-BE49-F238E27FC236}">
                <ns2:creationId id="{711CB62A-6337-4646-9952-6EE6C190651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第二个模型只有获得不同证据和清晰职责，才可能减少单点误导</a:t>
            </a:r>
          </a:p>
        </p:txBody>
      </p:sp>
      <p:sp>
        <p:nvSpPr>
          <p:cNvPr id="3" name="">
            <a:extLst>
              <a:ext uri="{FF2B5EF4-FFF2-40B4-BE49-F238E27FC236}">
                <ns2:creationId id="{B9BA4F58-81FE-4233-B130-A0309DE95F4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1905000"/>
                <a:gridCol w="4629150"/>
                <a:gridCol w="44386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审批侧应做什么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需要限制什么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取证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查合同、策略库、账单、监控或官方渠道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不只复述执行 Agent 的摘要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区分事实、推断、未知项，展示来源与时间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不把流畅解释当作可靠证据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反建议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提出缩小范围、延迟、替代收件人等方案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不私自修改最终执行内容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决策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帮助用户比较代价，保留不同意见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不持有任意执行权或无限自动授权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3EC850E-4117-467A-8DE8-38BCB6E6629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独立目标、独立信息源与权限隔离，比“用了两个 Agent”本身更关键。</a:t>
            </a:r>
          </a:p>
        </p:txBody>
      </p:sp>
      <p:sp>
        <p:nvSpPr>
          <p:cNvPr id="6" name="">
            <a:extLst>
              <a:ext uri="{FF2B5EF4-FFF2-40B4-BE49-F238E27FC236}">
                <ns2:creationId id="{F7B26F99-076C-4AFC-85DE-BA501C661FC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d87cfa4c0e74fe1"/>
              </a:rPr>
              <a:t>NIST AI 600-1</a:t>
            </a:r>
          </a:p>
        </p:txBody>
      </p:sp>
    </p:spTree>
    <p:extLst>
      <p:ext uri="{BB962C8B-B14F-4D97-AF65-F5344CB8AC3E}">
        <ns4:creationId val="240291989"/>
      </p:ext>
    </p:extLst>
  </p:cSld>
</p:sld>
</file>

<file path=ppt/slides/slide5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D697679C-6452-4ABA-ADC6-EE7B5453A54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多 Agent 绑定与用户关系管理</a:t>
            </a:r>
          </a:p>
        </p:txBody>
      </p:sp>
      <p:sp>
        <p:nvSpPr>
          <p:cNvPr id="2" name="">
            <a:extLst>
              <a:ext uri="{FF2B5EF4-FFF2-40B4-BE49-F238E27FC236}">
                <ns2:creationId id="{9F38696B-2173-49E7-9143-ECC2E727372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统一入口需要持续的关系治理</a:t>
            </a:r>
          </a:p>
        </p:txBody>
      </p:sp>
      <p:sp>
        <p:nvSpPr>
          <p:cNvPr id="3" name="">
            <a:extLst>
              <a:ext uri="{FF2B5EF4-FFF2-40B4-BE49-F238E27FC236}">
                <ns2:creationId id="{0923A7EE-392D-45FA-B49B-DF4967840914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55</a:t>
            </a:r>
          </a:p>
        </p:txBody>
      </p:sp>
      <p:sp>
        <p:nvSpPr>
          <p:cNvPr id="4" name="">
            <a:extLst>
              <a:ext uri="{FF2B5EF4-FFF2-40B4-BE49-F238E27FC236}">
                <ns2:creationId id="{BD9F2141-4AB7-4C6A-8F3D-9D4CEC87CE88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用户视角</a:t>
            </a:r>
          </a:p>
        </p:txBody>
      </p:sp>
      <p:sp>
        <p:nvSpPr>
          <p:cNvPr id="5" name="">
            <a:extLst>
              <a:ext uri="{FF2B5EF4-FFF2-40B4-BE49-F238E27FC236}">
                <ns2:creationId id="{F0FC20C2-DC41-44A1-BA69-08DAF13485F5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在一个入口管理开发、财务、采购和生活服务 Agent。</a:t>
            </a:r>
          </a:p>
        </p:txBody>
      </p:sp>
      <p:sp>
        <p:nvSpPr>
          <p:cNvPr id="6" name="">
            <a:extLst>
              <a:ext uri="{FF2B5EF4-FFF2-40B4-BE49-F238E27FC236}">
                <ns2:creationId id="{911FB114-8BF1-47F3-93AC-996213CEC9CD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关系维度</a:t>
            </a:r>
          </a:p>
        </p:txBody>
      </p:sp>
      <p:sp>
        <p:nvSpPr>
          <p:cNvPr id="7" name="">
            <a:extLst>
              <a:ext uri="{FF2B5EF4-FFF2-40B4-BE49-F238E27FC236}">
                <ns2:creationId id="{DE4F7CF3-3DBD-4A20-BE16-4C28BA7D8D65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分别记录所有者、组织、用途、允许申请的业务范围。</a:t>
            </a:r>
          </a:p>
        </p:txBody>
      </p:sp>
      <p:sp>
        <p:nvSpPr>
          <p:cNvPr id="8" name="">
            <a:extLst>
              <a:ext uri="{FF2B5EF4-FFF2-40B4-BE49-F238E27FC236}">
                <ns2:creationId id="{87FAC301-545B-477A-9647-3C8390B4B315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授权维度</a:t>
            </a:r>
          </a:p>
        </p:txBody>
      </p:sp>
      <p:sp>
        <p:nvSpPr>
          <p:cNvPr id="9" name="">
            <a:extLst>
              <a:ext uri="{FF2B5EF4-FFF2-40B4-BE49-F238E27FC236}">
                <ns2:creationId id="{F98E38D1-3BFC-415B-BB69-61830EDB76C6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每个关系独立限额、有效期与审批策略，避免权限互相继承。</a:t>
            </a:r>
          </a:p>
        </p:txBody>
      </p:sp>
      <p:sp>
        <p:nvSpPr>
          <p:cNvPr id="10" name="">
            <a:extLst>
              <a:ext uri="{FF2B5EF4-FFF2-40B4-BE49-F238E27FC236}">
                <ns2:creationId id="{F39EE28A-7973-4488-85C7-B6B7C43157A4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生命周期</a:t>
            </a:r>
          </a:p>
        </p:txBody>
      </p:sp>
      <p:sp>
        <p:nvSpPr>
          <p:cNvPr id="11" name="">
            <a:extLst>
              <a:ext uri="{FF2B5EF4-FFF2-40B4-BE49-F238E27FC236}">
                <ns2:creationId id="{2D7B712B-E204-43A6-9DB0-2D7B2B4E2A41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支持撤销、换机、离职、密钥轮换和恢复后的重新验证。</a:t>
            </a:r>
          </a:p>
        </p:txBody>
      </p:sp>
      <p:sp>
        <p:nvSpPr>
          <p:cNvPr id="12" name="">
            <a:extLst>
              <a:ext uri="{FF2B5EF4-FFF2-40B4-BE49-F238E27FC236}">
                <ns2:creationId id="{87726300-CDB8-4402-A1BD-C4F01562F9F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当前支持多绑定结构与列表。组织归属、恢复和跨租户治理仍需补齐。</a:t>
            </a:r>
          </a:p>
        </p:txBody>
      </p:sp>
      <p:sp>
        <p:nvSpPr>
          <p:cNvPr id="13" name="">
            <a:extLst>
              <a:ext uri="{FF2B5EF4-FFF2-40B4-BE49-F238E27FC236}">
                <ns2:creationId id="{6A71237B-A047-46F2-BD2F-A355044B7B87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e2c91934c75421a"/>
              </a:rPr>
              <a:t>MYA 代码与实测</a:t>
            </a:r>
          </a:p>
        </p:txBody>
      </p:sp>
    </p:spTree>
    <p:extLst>
      <p:ext uri="{BB962C8B-B14F-4D97-AF65-F5344CB8AC3E}">
        <ns4:creationId val="1345820132"/>
      </p:ext>
    </p:extLst>
  </p:cSld>
</p:sld>
</file>

<file path=ppt/slides/slide5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F224DC09-B99F-4234-8036-5372C30A190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DID 与 VC 的增信位置</a:t>
            </a:r>
          </a:p>
        </p:txBody>
      </p:sp>
      <p:sp>
        <p:nvSpPr>
          <p:cNvPr id="2" name="">
            <a:extLst>
              <a:ext uri="{FF2B5EF4-FFF2-40B4-BE49-F238E27FC236}">
                <ns2:creationId id="{47A065B3-6C6F-445E-9660-F7ABF6A83837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身份凭证可增强来源与资格验证，实际业务权限仍由资源方决定</a:t>
            </a:r>
          </a:p>
        </p:txBody>
      </p:sp>
      <p:sp>
        <p:nvSpPr>
          <p:cNvPr id="3" name="">
            <a:extLst>
              <a:ext uri="{FF2B5EF4-FFF2-40B4-BE49-F238E27FC236}">
                <ns2:creationId id="{E8EBD69F-7954-4367-B73B-E04F9746BAE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48075"/>
        </p:xfrm>
        <a:graphic>
          <a:graphicData uri="http://schemas.openxmlformats.org/drawingml/2006/table">
            <a:tbl>
              <a:tblPr/>
              <a:tblGrid>
                <a:gridCol w="2343150"/>
                <a:gridCol w="4248150"/>
                <a:gridCol w="43815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回答的问题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的扩展方式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标识与持钥证明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当前连接的是哪一个主体？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DID 或现有组织身份，绑定当前密钥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组织与角色凭证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谁证明其所属组织、岗位或代理资格？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可信签发方 VC，验证时效和撤销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具体行动授权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此人此刻能批准这笔业务吗？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组织策略与用户授权共同限定范围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执行证明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最终执行是否匹配授权？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行动摘要、版本、执行回执关联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2BA40BF0-7AC3-4A02-B967-8B4CA880095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当前使用 JWK 指纹与 Demo JWS 凭证，尚未实现 DID 或标准 VC 互通。</a:t>
            </a:r>
          </a:p>
        </p:txBody>
      </p:sp>
      <p:sp>
        <p:nvSpPr>
          <p:cNvPr id="6" name="">
            <a:extLst>
              <a:ext uri="{FF2B5EF4-FFF2-40B4-BE49-F238E27FC236}">
                <ns2:creationId id="{ED59441F-8A59-45D0-BF48-386702B10542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c4ad01990bc4361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88bb2a6dd14d52"/>
              </a:rPr>
              <a:t>W3C VC 2.0</a:t>
            </a:r>
          </a:p>
        </p:txBody>
      </p:sp>
    </p:spTree>
    <p:extLst>
      <p:ext uri="{BB962C8B-B14F-4D97-AF65-F5344CB8AC3E}">
        <ns4:creationId val="1281064995"/>
      </p:ext>
    </p:extLst>
  </p:cSld>
</p:sld>
</file>

<file path=ppt/slides/slide5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72A877FC-CB11-40AF-9DFC-27454FDA47F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对接现有审批体系的方式</a:t>
            </a:r>
          </a:p>
        </p:txBody>
      </p:sp>
      <p:sp>
        <p:nvSpPr>
          <p:cNvPr id="2" name="">
            <a:extLst>
              <a:ext uri="{FF2B5EF4-FFF2-40B4-BE49-F238E27FC236}">
                <ns2:creationId id="{14C3AB4E-E129-4F31-AD72-CFC8852E7F3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优先复用组织审批规则，由适配层连接 MYA 与业务系统</a:t>
            </a:r>
          </a:p>
        </p:txBody>
      </p:sp>
      <p:sp>
        <p:nvSpPr>
          <p:cNvPr id="3" name="">
            <a:extLst>
              <a:ext uri="{FF2B5EF4-FFF2-40B4-BE49-F238E27FC236}">
                <ns2:creationId id="{165E44C2-4A84-43AD-8D70-61BFF41A2B5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48075"/>
        </p:xfrm>
        <a:graphic>
          <a:graphicData uri="http://schemas.openxmlformats.org/drawingml/2006/table">
            <a:tbl>
              <a:tblPr/>
              <a:tblGrid>
                <a:gridCol w="2190750"/>
                <a:gridCol w="4476750"/>
                <a:gridCol w="43053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接口层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映射内容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实施要点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交易类型、金额、对象、附件、版本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把自然语言转为可校验的业务字段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人员、角色、审批顺序、会签、替代人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沿用 OA / BPM / 银行现有授权矩阵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外部审批单号、签名、有效范围与状态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验签、幂等、去重，批准版本必须一致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执行闭环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受控接口调用、执行结果与回执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同时满足组织授权和用户授权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0B54895B-45B8-415A-8770-7F31713533BF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“容易对接”取决于 API、身份映射与责任边界。存在可行路径，不能承诺零改造。</a:t>
            </a:r>
          </a:p>
        </p:txBody>
      </p:sp>
      <p:sp>
        <p:nvSpPr>
          <p:cNvPr id="6" name="">
            <a:extLst>
              <a:ext uri="{FF2B5EF4-FFF2-40B4-BE49-F238E27FC236}">
                <ns2:creationId id="{CD21A4D7-5E3C-43B8-9431-EE3B533E804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ed6095877064724"/>
              </a:rPr>
              <a:t>Power Automate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48ce11209dd4b2f"/>
              </a:rPr>
              <a:t>MYA 代码与实测</a:t>
            </a:r>
          </a:p>
        </p:txBody>
      </p:sp>
    </p:spTree>
    <p:extLst>
      <p:ext uri="{BB962C8B-B14F-4D97-AF65-F5344CB8AC3E}">
        <ns4:creationId val="130845720"/>
      </p:ext>
    </p:extLst>
  </p:cSld>
</p:sld>
</file>

<file path=ppt/slides/slide5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F2D91E6E-93AB-4BF0-AC26-8AF16581AFF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补充材料 B：场景、比较与产品路线</a:t>
            </a:r>
          </a:p>
        </p:txBody>
      </p:sp>
      <p:sp>
        <p:nvSpPr>
          <p:cNvPr id="2" name="">
            <a:extLst>
              <a:ext uri="{FF2B5EF4-FFF2-40B4-BE49-F238E27FC236}">
                <ns2:creationId id="{7B15573F-49B2-4D91-B63B-7423B2200F51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从业务使用方式展开价值讨论</a:t>
            </a:r>
          </a:p>
        </p:txBody>
      </p:sp>
      <p:sp>
        <p:nvSpPr>
          <p:cNvPr id="3" name="">
            <a:extLst>
              <a:ext uri="{FF2B5EF4-FFF2-40B4-BE49-F238E27FC236}">
                <ns2:creationId id="{5EEF079B-6FFA-4C85-B8A0-F388CB826E3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58</a:t>
            </a:r>
          </a:p>
        </p:txBody>
      </p:sp>
      <p:sp>
        <p:nvSpPr>
          <p:cNvPr id="4" name="">
            <a:extLst>
              <a:ext uri="{FF2B5EF4-FFF2-40B4-BE49-F238E27FC236}">
                <ns2:creationId id="{CC34A111-D59A-4FAA-93B0-096CBA3DE2F1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59—63</a:t>
            </a:r>
          </a:p>
        </p:txBody>
      </p:sp>
      <p:sp>
        <p:nvSpPr>
          <p:cNvPr id="5" name="">
            <a:extLst>
              <a:ext uri="{FF2B5EF4-FFF2-40B4-BE49-F238E27FC236}">
                <ns2:creationId id="{14217F63-4E5A-4912-B916-DA69C15F6A95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业务场景与双 Agent 协作</a:t>
            </a:r>
          </a:p>
        </p:txBody>
      </p:sp>
      <p:sp>
        <p:nvSpPr>
          <p:cNvPr id="6" name="">
            <a:extLst>
              <a:ext uri="{FF2B5EF4-FFF2-40B4-BE49-F238E27FC236}">
                <ns2:creationId id="{A3D1A613-52A3-4BB9-9A6F-F9D475B01E4D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研发运维、银行运营、企业客户和个人服务</a:t>
            </a:r>
          </a:p>
        </p:txBody>
      </p:sp>
      <p:sp>
        <p:nvSpPr>
          <p:cNvPr id="7" name="">
            <a:extLst>
              <a:ext uri="{FF2B5EF4-FFF2-40B4-BE49-F238E27FC236}">
                <ns2:creationId id="{ADE9DB6C-39A4-4B05-AF04-1453A0767487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64—68</a:t>
            </a:r>
          </a:p>
        </p:txBody>
      </p:sp>
      <p:sp>
        <p:nvSpPr>
          <p:cNvPr id="8" name="">
            <a:extLst>
              <a:ext uri="{FF2B5EF4-FFF2-40B4-BE49-F238E27FC236}">
                <ns2:creationId id="{2005A3DD-C2F3-41C4-A826-60A49EA16669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既有方案与可组合的价值</a:t>
            </a:r>
          </a:p>
        </p:txBody>
      </p:sp>
      <p:sp>
        <p:nvSpPr>
          <p:cNvPr id="9" name="">
            <a:extLst>
              <a:ext uri="{FF2B5EF4-FFF2-40B4-BE49-F238E27FC236}">
                <ns2:creationId id="{019B56E4-1B0C-4302-B2AC-D8A7AAE97C9C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流程审批、远程认证、交易签名与 MYA</a:t>
            </a:r>
          </a:p>
        </p:txBody>
      </p:sp>
      <p:sp>
        <p:nvSpPr>
          <p:cNvPr id="10" name="">
            <a:extLst>
              <a:ext uri="{FF2B5EF4-FFF2-40B4-BE49-F238E27FC236}">
                <ns2:creationId id="{B12D8F3F-19E4-4893-A465-2C1A65615F42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69—73</a:t>
            </a:r>
          </a:p>
        </p:txBody>
      </p:sp>
      <p:sp>
        <p:nvSpPr>
          <p:cNvPr id="11" name="">
            <a:extLst>
              <a:ext uri="{FF2B5EF4-FFF2-40B4-BE49-F238E27FC236}">
                <ns2:creationId id="{EA5EE909-F3CC-41F5-9138-05DE63464411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进入顺序与验证路线</a:t>
            </a:r>
          </a:p>
        </p:txBody>
      </p:sp>
      <p:sp>
        <p:nvSpPr>
          <p:cNvPr id="12" name="">
            <a:extLst>
              <a:ext uri="{FF2B5EF4-FFF2-40B4-BE49-F238E27FC236}">
                <ns2:creationId id="{F67FBFE8-4C80-4D96-A33D-BBCFE3E03F68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场景优先级、试点指标与产品定位</a:t>
            </a:r>
          </a:p>
        </p:txBody>
      </p:sp>
      <p:sp>
        <p:nvSpPr>
          <p:cNvPr id="13" name="">
            <a:extLst>
              <a:ext uri="{FF2B5EF4-FFF2-40B4-BE49-F238E27FC236}">
                <ns2:creationId id="{3AAE5EC8-C6C6-4C02-8C3B-226FDA7F29A3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场景对话为设计推演；竞品比较结合正文最新的 AgentPass / AgentBee 研究阅读。</a:t>
            </a:r>
          </a:p>
        </p:txBody>
      </p:sp>
    </p:spTree>
    <p:extLst>
      <p:ext uri="{BB962C8B-B14F-4D97-AF65-F5344CB8AC3E}">
        <ns4:creationId val="1224449919"/>
      </p:ext>
    </p:extLst>
  </p:cSld>
</p:sld>
</file>

<file path=ppt/slides/slide5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E641AD14-EFD3-4724-82C9-A2540624509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场景模拟：开发与运维</a:t>
            </a:r>
          </a:p>
        </p:txBody>
      </p:sp>
      <p:sp>
        <p:nvSpPr>
          <p:cNvPr id="2" name="">
            <a:extLst>
              <a:ext uri="{FF2B5EF4-FFF2-40B4-BE49-F238E27FC236}">
                <ns2:creationId id="{3A951D0D-BF7B-46C3-BB9E-EF6A7142638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示例：生产环境数据库变更，当前 Demo 未接入真实生产环境</a:t>
            </a:r>
          </a:p>
        </p:txBody>
      </p:sp>
      <p:sp>
        <p:nvSpPr>
          <p:cNvPr id="3" name="">
            <a:extLst>
              <a:ext uri="{FF2B5EF4-FFF2-40B4-BE49-F238E27FC236}">
                <ns2:creationId id="{6436A82A-18E0-46BE-8819-731A51AB9AF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59</a:t>
            </a:r>
          </a:p>
        </p:txBody>
      </p:sp>
      <p:sp>
        <p:nvSpPr>
          <p:cNvPr id="4" name="">
            <a:extLst>
              <a:ext uri="{FF2B5EF4-FFF2-40B4-BE49-F238E27FC236}">
                <ns2:creationId id="{C66BD14F-AC3C-42FA-ACC3-CA870F417022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Agent</a:t>
            </a:r>
          </a:p>
        </p:txBody>
      </p:sp>
      <p:sp>
        <p:nvSpPr>
          <p:cNvPr id="5" name="">
            <a:extLst>
              <a:ext uri="{FF2B5EF4-FFF2-40B4-BE49-F238E27FC236}">
                <ns2:creationId id="{C9A31433-BB2D-4D64-9BBF-9CC60FE0F7C1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拟给生产表新增索引，现在执行。附变更内容与回滚步骤。</a:t>
            </a:r>
          </a:p>
        </p:txBody>
      </p:sp>
      <p:sp>
        <p:nvSpPr>
          <p:cNvPr id="6" name="">
            <a:extLst>
              <a:ext uri="{FF2B5EF4-FFF2-40B4-BE49-F238E27FC236}">
                <ns2:creationId id="{7E20FC38-A515-4E09-B319-B92007908FA5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704EF4DF-F6ED-42C1-B400-3EC08F1EDC92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独立读取负载、锁表风险和备份状态，发现仍处于业务高峰。</a:t>
            </a:r>
          </a:p>
        </p:txBody>
      </p:sp>
      <p:sp>
        <p:nvSpPr>
          <p:cNvPr id="8" name="">
            <a:extLst>
              <a:ext uri="{FF2B5EF4-FFF2-40B4-BE49-F238E27FC236}">
                <ns2:creationId id="{9E44DBEB-24E8-4EB4-9E4F-46E867BEAF90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值班负责人</a:t>
            </a:r>
          </a:p>
        </p:txBody>
      </p:sp>
      <p:sp>
        <p:nvSpPr>
          <p:cNvPr id="9" name="">
            <a:extLst>
              <a:ext uri="{FF2B5EF4-FFF2-40B4-BE49-F238E27FC236}">
                <ns2:creationId id="{26A1F6DC-9BB2-4629-AC97-E9F3091C4158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改用在线建索引，安排到维护窗口，先补一次演练证据。</a:t>
            </a:r>
          </a:p>
        </p:txBody>
      </p:sp>
      <p:sp>
        <p:nvSpPr>
          <p:cNvPr id="10" name="">
            <a:extLst>
              <a:ext uri="{FF2B5EF4-FFF2-40B4-BE49-F238E27FC236}">
                <ns2:creationId id="{1EE92ABF-9F4F-458A-BB9E-60326C6299A1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受控执行</a:t>
            </a:r>
          </a:p>
        </p:txBody>
      </p:sp>
      <p:sp>
        <p:nvSpPr>
          <p:cNvPr id="11" name="">
            <a:extLst>
              <a:ext uri="{FF2B5EF4-FFF2-40B4-BE49-F238E27FC236}">
                <ns2:creationId id="{DDE63520-DFB7-45E4-AFD5-E5AC5ED1A668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对新计划重新授权，只允许指定集群、操作和时间窗。</a:t>
            </a:r>
          </a:p>
        </p:txBody>
      </p:sp>
      <p:sp>
        <p:nvSpPr>
          <p:cNvPr id="12" name="">
            <a:extLst>
              <a:ext uri="{FF2B5EF4-FFF2-40B4-BE49-F238E27FC236}">
                <ns2:creationId id="{DC7F7507-59DA-4A5B-8D03-81723782CAE5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预期价值：减少误操作与补材料往返。前提：执行凭据只能通过受控入口使用。</a:t>
            </a:r>
          </a:p>
        </p:txBody>
      </p:sp>
      <p:sp>
        <p:nvSpPr>
          <p:cNvPr id="13" name="">
            <a:extLst>
              <a:ext uri="{FF2B5EF4-FFF2-40B4-BE49-F238E27FC236}">
                <ns2:creationId id="{53D8B28B-17DD-42AF-9A9D-CD7D1AB64A6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a4faf2dcd2a4adf"/>
              </a:rPr>
              <a:t>MYA 代码与实测</a:t>
            </a:r>
          </a:p>
        </p:txBody>
      </p:sp>
    </p:spTree>
    <p:extLst>
      <p:ext uri="{BB962C8B-B14F-4D97-AF65-F5344CB8AC3E}">
        <ns4:creationId val="2016036749"/>
      </p:ext>
    </p:extLst>
  </p:cSld>
</p:sld>
</file>

<file path=ppt/slides/slide6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19AF0DA6-1CD2-48A4-AB95-9C17946AB07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场景模拟：银行运营人员</a:t>
            </a:r>
          </a:p>
        </p:txBody>
      </p:sp>
      <p:sp>
        <p:nvSpPr>
          <p:cNvPr id="2" name="">
            <a:extLst>
              <a:ext uri="{FF2B5EF4-FFF2-40B4-BE49-F238E27FC236}">
                <ns2:creationId id="{21DB644C-D277-485F-9D3D-3892162C2980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示例：企业客户手续费退费，金额与规则仅作业务示意</a:t>
            </a:r>
          </a:p>
        </p:txBody>
      </p:sp>
      <p:sp>
        <p:nvSpPr>
          <p:cNvPr id="3" name="">
            <a:extLst>
              <a:ext uri="{FF2B5EF4-FFF2-40B4-BE49-F238E27FC236}">
                <ns2:creationId id="{28B600A1-2760-4ECA-8446-1B4EFE580AA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60</a:t>
            </a:r>
          </a:p>
        </p:txBody>
      </p:sp>
      <p:sp>
        <p:nvSpPr>
          <p:cNvPr id="4" name="">
            <a:extLst>
              <a:ext uri="{FF2B5EF4-FFF2-40B4-BE49-F238E27FC236}">
                <ns2:creationId id="{5961751D-9135-4A57-B1D2-8E85C5C03536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业务 Agent</a:t>
            </a:r>
          </a:p>
        </p:txBody>
      </p:sp>
      <p:sp>
        <p:nvSpPr>
          <p:cNvPr id="5" name="">
            <a:extLst>
              <a:ext uri="{FF2B5EF4-FFF2-40B4-BE49-F238E27FC236}">
                <ns2:creationId id="{1F277F5B-C10E-49D3-8329-566615A4A4C7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发起一笔异常退费，提供客户信息、计算依据和相关流水。</a:t>
            </a:r>
          </a:p>
        </p:txBody>
      </p:sp>
      <p:sp>
        <p:nvSpPr>
          <p:cNvPr id="6" name="">
            <a:extLst>
              <a:ext uri="{FF2B5EF4-FFF2-40B4-BE49-F238E27FC236}">
                <ns2:creationId id="{95427D1D-2897-4D3E-B28A-9D4B6EC6AC4C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378CC8B4-99F8-458B-9165-1B68224AE792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从受权账务与条款库核对，发现另一渠道已有退费记录。</a:t>
            </a:r>
          </a:p>
        </p:txBody>
      </p:sp>
      <p:sp>
        <p:nvSpPr>
          <p:cNvPr id="8" name="">
            <a:extLst>
              <a:ext uri="{FF2B5EF4-FFF2-40B4-BE49-F238E27FC236}">
                <ns2:creationId id="{52B03F0D-5A50-447F-8E67-9AE7D5375F35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运营复核人</a:t>
            </a:r>
          </a:p>
        </p:txBody>
      </p:sp>
      <p:sp>
        <p:nvSpPr>
          <p:cNvPr id="9" name="">
            <a:extLst>
              <a:ext uri="{FF2B5EF4-FFF2-40B4-BE49-F238E27FC236}">
                <ns2:creationId id="{65236E9A-AFEC-404C-B684-AD6E4C9A6999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暂停当前退费，先合并重复工单，并补充客户适用条款。</a:t>
            </a:r>
          </a:p>
        </p:txBody>
      </p:sp>
      <p:sp>
        <p:nvSpPr>
          <p:cNvPr id="10" name="">
            <a:extLst>
              <a:ext uri="{FF2B5EF4-FFF2-40B4-BE49-F238E27FC236}">
                <ns2:creationId id="{6DE44B50-A904-47B0-BEDB-E71FD9DD269A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审批与执行</a:t>
            </a:r>
          </a:p>
        </p:txBody>
      </p:sp>
      <p:sp>
        <p:nvSpPr>
          <p:cNvPr id="11" name="">
            <a:extLst>
              <a:ext uri="{FF2B5EF4-FFF2-40B4-BE49-F238E27FC236}">
                <ns2:creationId id="{2A5D3268-279C-42A1-A244-832937DD7410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修订后按岗位权限分级审批，账务端校验唯一业务号和授权。</a:t>
            </a:r>
          </a:p>
        </p:txBody>
      </p:sp>
      <p:sp>
        <p:nvSpPr>
          <p:cNvPr id="12" name="">
            <a:extLst>
              <a:ext uri="{FF2B5EF4-FFF2-40B4-BE49-F238E27FC236}">
                <ns2:creationId id="{A2FD8D77-59F5-4579-93C1-BAEEAB094EF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预期价值：辅助识别重复处理和依据缺失。接入需满足银行既有内控与数据要求。</a:t>
            </a:r>
          </a:p>
        </p:txBody>
      </p:sp>
      <p:sp>
        <p:nvSpPr>
          <p:cNvPr id="13" name="">
            <a:extLst>
              <a:ext uri="{FF2B5EF4-FFF2-40B4-BE49-F238E27FC236}">
                <ns2:creationId id="{2AC996BB-0A27-4A8B-BA6F-A122E160223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e415f4d09d546a6"/>
              </a:rPr>
              <a:t>MYA 代码与实测</a:t>
            </a:r>
          </a:p>
        </p:txBody>
      </p:sp>
    </p:spTree>
    <p:extLst>
      <p:ext uri="{BB962C8B-B14F-4D97-AF65-F5344CB8AC3E}">
        <ns4:creationId val="1639115579"/>
      </p:ext>
    </p:extLst>
  </p:cSld>
</p:sld>
</file>

<file path=ppt/slides/slide6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84085C96-8DBE-44D4-A279-77EF9F1A791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场景模拟：企业客户多级审批</a:t>
            </a:r>
          </a:p>
        </p:txBody>
      </p:sp>
      <p:sp>
        <p:nvSpPr>
          <p:cNvPr id="2" name="">
            <a:extLst>
              <a:ext uri="{FF2B5EF4-FFF2-40B4-BE49-F238E27FC236}">
                <ns2:creationId id="{4ABBDAF9-26E6-48E8-97B5-2B97200CA28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示例：企业采购 Agent 提交付款申请，跨越业务、财务与银行</a:t>
            </a:r>
          </a:p>
        </p:txBody>
      </p:sp>
      <p:sp>
        <p:nvSpPr>
          <p:cNvPr id="3" name="">
            <a:extLst>
              <a:ext uri="{FF2B5EF4-FFF2-40B4-BE49-F238E27FC236}">
                <ns2:creationId id="{3E175F2C-647D-421B-BC8E-CB990F1B4E0F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61</a:t>
            </a:r>
          </a:p>
        </p:txBody>
      </p:sp>
      <p:sp>
        <p:nvSpPr>
          <p:cNvPr id="4" name="">
            <a:extLst>
              <a:ext uri="{FF2B5EF4-FFF2-40B4-BE49-F238E27FC236}">
                <ns2:creationId id="{C92664E2-2880-402F-B03B-CACBE5C10165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采购 Agent</a:t>
            </a:r>
          </a:p>
        </p:txBody>
      </p:sp>
      <p:sp>
        <p:nvSpPr>
          <p:cNvPr id="5" name="">
            <a:extLst>
              <a:ext uri="{FF2B5EF4-FFF2-40B4-BE49-F238E27FC236}">
                <ns2:creationId id="{315CF2B7-504D-431C-874D-41B805C4C37C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提交供应商付款申请，附合同、验收记录和付款明细。</a:t>
            </a:r>
          </a:p>
        </p:txBody>
      </p:sp>
      <p:sp>
        <p:nvSpPr>
          <p:cNvPr id="6" name="">
            <a:extLst>
              <a:ext uri="{FF2B5EF4-FFF2-40B4-BE49-F238E27FC236}">
                <ns2:creationId id="{23111918-8EFA-4B86-8077-6EEE021DF5AD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业务负责人</a:t>
            </a:r>
          </a:p>
        </p:txBody>
      </p:sp>
      <p:sp>
        <p:nvSpPr>
          <p:cNvPr id="7" name="">
            <a:extLst>
              <a:ext uri="{FF2B5EF4-FFF2-40B4-BE49-F238E27FC236}">
                <ns2:creationId id="{9589F6ED-959F-4493-8EE6-EC5984C6DFBF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审批伙伴发现验收范围不一致，要求只支付已验收部分。</a:t>
            </a:r>
          </a:p>
        </p:txBody>
      </p:sp>
      <p:sp>
        <p:nvSpPr>
          <p:cNvPr id="8" name="">
            <a:extLst>
              <a:ext uri="{FF2B5EF4-FFF2-40B4-BE49-F238E27FC236}">
                <ns2:creationId id="{E62344BE-6FCF-44DC-87FC-C29B0654F712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财务与授权人</a:t>
            </a:r>
          </a:p>
        </p:txBody>
      </p:sp>
      <p:sp>
        <p:nvSpPr>
          <p:cNvPr id="9" name="">
            <a:extLst>
              <a:ext uri="{FF2B5EF4-FFF2-40B4-BE49-F238E27FC236}">
                <ns2:creationId id="{4854D193-D16E-48FA-A8C3-94E534454D5A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财务核对税票及预算，授权人核对账户变更与付款权限。</a:t>
            </a:r>
          </a:p>
        </p:txBody>
      </p:sp>
      <p:sp>
        <p:nvSpPr>
          <p:cNvPr id="10" name="">
            <a:extLst>
              <a:ext uri="{FF2B5EF4-FFF2-40B4-BE49-F238E27FC236}">
                <ns2:creationId id="{1BED3E1F-AEF3-45A7-B0D3-FF625946A168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银行执行端</a:t>
            </a:r>
          </a:p>
        </p:txBody>
      </p:sp>
      <p:sp>
        <p:nvSpPr>
          <p:cNvPr id="11" name="">
            <a:extLst>
              <a:ext uri="{FF2B5EF4-FFF2-40B4-BE49-F238E27FC236}">
                <ns2:creationId id="{14F085B8-8EE5-42FB-9DC5-AE328B873FF0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接受完整审批链和最终支付对象，变更金额或账户则重审。</a:t>
            </a:r>
          </a:p>
        </p:txBody>
      </p:sp>
      <p:sp>
        <p:nvSpPr>
          <p:cNvPr id="12" name="">
            <a:extLst>
              <a:ext uri="{FF2B5EF4-FFF2-40B4-BE49-F238E27FC236}">
                <ns2:creationId id="{F767F620-2C07-4051-B14B-4E316908740C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多 Agent 绑定可统一入口。多级签署、审批矩阵与跨组织身份仍属于扩展。</a:t>
            </a:r>
          </a:p>
        </p:txBody>
      </p:sp>
      <p:sp>
        <p:nvSpPr>
          <p:cNvPr id="13" name="">
            <a:extLst>
              <a:ext uri="{FF2B5EF4-FFF2-40B4-BE49-F238E27FC236}">
                <ns2:creationId id="{5F44439B-1611-4DFC-BC4E-05F7D3AFDEC9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7fd715e201248ce"/>
              </a:rPr>
              <a:t>MYA 代码与实测</a:t>
            </a:r>
          </a:p>
        </p:txBody>
      </p:sp>
    </p:spTree>
    <p:extLst>
      <p:ext uri="{BB962C8B-B14F-4D97-AF65-F5344CB8AC3E}">
        <ns4:creationId val="1117247413"/>
      </p:ext>
    </p:extLst>
  </p:cSld>
</p:sld>
</file>

<file path=ppt/slides/slide6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92BC1E22-6C9C-4D63-9E91-B447156DB16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场景模拟：个人用户与反诈辅助</a:t>
            </a:r>
          </a:p>
        </p:txBody>
      </p:sp>
      <p:sp>
        <p:nvSpPr>
          <p:cNvPr id="2" name="">
            <a:extLst>
              <a:ext uri="{FF2B5EF4-FFF2-40B4-BE49-F238E27FC236}">
                <ns2:creationId id="{AFEF1239-9FD2-41C4-9C10-980D42A9ED26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示例：生活服务 Agent 请求支付，审批侧发现异常收款对象</a:t>
            </a:r>
          </a:p>
        </p:txBody>
      </p:sp>
      <p:sp>
        <p:nvSpPr>
          <p:cNvPr id="3" name="">
            <a:extLst>
              <a:ext uri="{FF2B5EF4-FFF2-40B4-BE49-F238E27FC236}">
                <ns2:creationId id="{F7E9021C-B96D-40D2-9833-3CBAF2082A4D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62</a:t>
            </a:r>
          </a:p>
        </p:txBody>
      </p:sp>
      <p:sp>
        <p:nvSpPr>
          <p:cNvPr id="4" name="">
            <a:extLst>
              <a:ext uri="{FF2B5EF4-FFF2-40B4-BE49-F238E27FC236}">
                <ns2:creationId id="{A250AFDF-FD9A-44B6-9956-A8C427CA1A12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服务 Agent</a:t>
            </a:r>
          </a:p>
        </p:txBody>
      </p:sp>
      <p:sp>
        <p:nvSpPr>
          <p:cNvPr id="5" name="">
            <a:extLst>
              <a:ext uri="{FF2B5EF4-FFF2-40B4-BE49-F238E27FC236}">
                <ns2:creationId id="{0B3F4163-0931-4948-A015-9137B1E34E35}"/>
              </a:ext>
            </a:extLst>
          </p:cNvPr>
          <p:cNvSpPr>
            <a:spLocks noGrp="1"/>
          </p:cNvSpPr>
          <p:nvPr/>
        </p:nvSpPr>
        <p:spPr>
          <a:xfrm>
            <a:off x="2724150" y="18288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请求支付一笔服务费用，收款方与历史订单不同。</a:t>
            </a:r>
          </a:p>
        </p:txBody>
      </p:sp>
      <p:sp>
        <p:nvSpPr>
          <p:cNvPr id="6" name="">
            <a:extLst>
              <a:ext uri="{FF2B5EF4-FFF2-40B4-BE49-F238E27FC236}">
                <ns2:creationId id="{2753EDDF-59BE-46A1-9C28-4189E4F364A3}"/>
              </a:ext>
            </a:extLst>
          </p:cNvPr>
          <p:cNvSpPr>
            <a:spLocks noGrp="1"/>
          </p:cNvSpPr>
          <p:nvPr/>
        </p:nvSpPr>
        <p:spPr>
          <a:xfrm>
            <a:off x="628650" y="27908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用户侧伙伴</a:t>
            </a:r>
          </a:p>
        </p:txBody>
      </p:sp>
      <p:sp>
        <p:nvSpPr>
          <p:cNvPr id="7" name="">
            <a:extLst>
              <a:ext uri="{FF2B5EF4-FFF2-40B4-BE49-F238E27FC236}">
                <ns2:creationId id="{DDB22E8A-939A-47C4-AFCA-7C3A850C1AC5}"/>
              </a:ext>
            </a:extLst>
          </p:cNvPr>
          <p:cNvSpPr>
            <a:spLocks noGrp="1"/>
          </p:cNvSpPr>
          <p:nvPr/>
        </p:nvSpPr>
        <p:spPr>
          <a:xfrm>
            <a:off x="2724150" y="27908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对照订单、可信联系人与官方渠道，提示账户变更和催促迹象。</a:t>
            </a:r>
          </a:p>
        </p:txBody>
      </p:sp>
      <p:sp>
        <p:nvSpPr>
          <p:cNvPr id="8" name="">
            <a:extLst>
              <a:ext uri="{FF2B5EF4-FFF2-40B4-BE49-F238E27FC236}">
                <ns2:creationId id="{DACA9231-4E90-4D16-ADED-87F07756DB9D}"/>
              </a:ext>
            </a:extLst>
          </p:cNvPr>
          <p:cNvSpPr>
            <a:spLocks noGrp="1"/>
          </p:cNvSpPr>
          <p:nvPr/>
        </p:nvSpPr>
        <p:spPr>
          <a:xfrm>
            <a:off x="628650" y="3752850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</a:t>
            </a:r>
          </a:p>
        </p:txBody>
      </p:sp>
      <p:sp>
        <p:nvSpPr>
          <p:cNvPr id="9" name="">
            <a:extLst>
              <a:ext uri="{FF2B5EF4-FFF2-40B4-BE49-F238E27FC236}">
                <ns2:creationId id="{3FD606D7-F91B-4036-B40C-998462E6EC88}"/>
              </a:ext>
            </a:extLst>
          </p:cNvPr>
          <p:cNvSpPr>
            <a:spLocks noGrp="1"/>
          </p:cNvSpPr>
          <p:nvPr/>
        </p:nvSpPr>
        <p:spPr>
          <a:xfrm>
            <a:off x="2724150" y="37528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暂不付款，先通过已知官方联系方式核实，再比较替代方案。</a:t>
            </a:r>
          </a:p>
        </p:txBody>
      </p:sp>
      <p:sp>
        <p:nvSpPr>
          <p:cNvPr id="10" name="">
            <a:extLst>
              <a:ext uri="{FF2B5EF4-FFF2-40B4-BE49-F238E27FC236}">
                <ns2:creationId id="{57507D52-49C3-48F3-A923-5B0E49B0FDF4}"/>
              </a:ext>
            </a:extLst>
          </p:cNvPr>
          <p:cNvSpPr>
            <a:spLocks noGrp="1"/>
          </p:cNvSpPr>
          <p:nvPr/>
        </p:nvSpPr>
        <p:spPr>
          <a:xfrm>
            <a:off x="628650" y="471487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后续处置</a:t>
            </a:r>
          </a:p>
        </p:txBody>
      </p:sp>
      <p:sp>
        <p:nvSpPr>
          <p:cNvPr id="11" name="">
            <a:extLst>
              <a:ext uri="{FF2B5EF4-FFF2-40B4-BE49-F238E27FC236}">
                <ns2:creationId id="{690773D3-82D5-4890-A934-7912BE264A59}"/>
              </a:ext>
            </a:extLst>
          </p:cNvPr>
          <p:cNvSpPr>
            <a:spLocks noGrp="1"/>
          </p:cNvSpPr>
          <p:nvPr/>
        </p:nvSpPr>
        <p:spPr>
          <a:xfrm>
            <a:off x="2724150" y="47148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高风险申请进入冷静期或人工协助，核实后生成新授权。</a:t>
            </a:r>
          </a:p>
        </p:txBody>
      </p:sp>
      <p:sp>
        <p:nvSpPr>
          <p:cNvPr id="12" name="">
            <a:extLst>
              <a:ext uri="{FF2B5EF4-FFF2-40B4-BE49-F238E27FC236}">
                <ns2:creationId id="{2D22ED9B-CB23-4067-B39D-1978E067B79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可增加核验与犹豫的空间。不能保证识别所有诈骗，也不能防止用户主动误批。</a:t>
            </a:r>
          </a:p>
        </p:txBody>
      </p:sp>
      <p:sp>
        <p:nvSpPr>
          <p:cNvPr id="13" name="">
            <a:extLst>
              <a:ext uri="{FF2B5EF4-FFF2-40B4-BE49-F238E27FC236}">
                <ns2:creationId id="{07334DC0-559B-47EA-AA04-544B2BFCB38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dd3fd2d6259433a"/>
              </a:rPr>
              <a:t>MYA 代码与实测</a:t>
            </a:r>
          </a:p>
        </p:txBody>
      </p:sp>
    </p:spTree>
    <p:extLst>
      <p:ext uri="{BB962C8B-B14F-4D97-AF65-F5344CB8AC3E}">
        <ns4:creationId val="120192328"/>
      </p:ext>
    </p:extLst>
  </p:cSld>
</p:sld>
</file>

<file path=ppt/slides/slide6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0837BD7B-32EF-4B4F-8B71-EECE3E3D088F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双 Agent 也会引入新的失效方式</a:t>
            </a:r>
          </a:p>
        </p:txBody>
      </p:sp>
      <p:sp>
        <p:nvSpPr>
          <p:cNvPr id="2" name="">
            <a:extLst>
              <a:ext uri="{FF2B5EF4-FFF2-40B4-BE49-F238E27FC236}">
                <ns2:creationId id="{DDF0FD4C-273E-4BAF-98BE-BD2715DCDCEB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决策辅助需要明确“知道什么、不能决定什么”</a:t>
            </a:r>
          </a:p>
        </p:txBody>
      </p:sp>
      <p:sp>
        <p:nvSpPr>
          <p:cNvPr id="3" name="">
            <a:extLst>
              <a:ext uri="{FF2B5EF4-FFF2-40B4-BE49-F238E27FC236}">
                <ns2:creationId id="{CDD7367E-488C-488C-B74F-7A5A436E7C5E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63</a:t>
            </a:r>
          </a:p>
        </p:txBody>
      </p:sp>
      <p:sp>
        <p:nvSpPr>
          <p:cNvPr id="4" name="">
            <a:extLst>
              <a:ext uri="{FF2B5EF4-FFF2-40B4-BE49-F238E27FC236}">
                <ns2:creationId id="{EA49D3E1-3CC3-4B9C-A50D-62E572AEE8C6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共同误导</a:t>
            </a:r>
          </a:p>
        </p:txBody>
      </p:sp>
      <p:sp>
        <p:nvSpPr>
          <p:cNvPr id="5" name="">
            <a:extLst>
              <a:ext uri="{FF2B5EF4-FFF2-40B4-BE49-F238E27FC236}">
                <ns2:creationId id="{88AF28F7-3E4C-4E72-8F58-1DCEB704512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共享同一错误来源，两个 Agent 可能得出相同错误结论。</a:t>
            </a:r>
          </a:p>
        </p:txBody>
      </p:sp>
      <p:sp>
        <p:nvSpPr>
          <p:cNvPr id="6" name="">
            <a:extLst>
              <a:ext uri="{FF2B5EF4-FFF2-40B4-BE49-F238E27FC236}">
                <ns2:creationId id="{A3821097-769B-4B9E-879E-36D6E8B498D8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审批疲劳</a:t>
            </a:r>
          </a:p>
        </p:txBody>
      </p:sp>
      <p:sp>
        <p:nvSpPr>
          <p:cNvPr id="7" name="">
            <a:extLst>
              <a:ext uri="{FF2B5EF4-FFF2-40B4-BE49-F238E27FC236}">
                <ns2:creationId id="{BD0B95CC-23BE-459C-BCBD-ACB5DE3B3776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通知过多、建议总是“可以”，用户可能习惯性点同意。</a:t>
            </a:r>
          </a:p>
        </p:txBody>
      </p:sp>
      <p:sp>
        <p:nvSpPr>
          <p:cNvPr id="8" name="">
            <a:extLst>
              <a:ext uri="{FF2B5EF4-FFF2-40B4-BE49-F238E27FC236}">
                <ns2:creationId id="{63CF192D-317C-4B40-A59F-7B89805504CD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权限混淆</a:t>
            </a:r>
          </a:p>
        </p:txBody>
      </p:sp>
      <p:sp>
        <p:nvSpPr>
          <p:cNvPr id="9" name="">
            <a:extLst>
              <a:ext uri="{FF2B5EF4-FFF2-40B4-BE49-F238E27FC236}">
                <ns2:creationId id="{27F2C87A-2B38-4B29-8071-797B85F73AC4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审批侧若同时可改收件人、扩大范围并执行，会削弱职责分离。</a:t>
            </a:r>
          </a:p>
        </p:txBody>
      </p:sp>
      <p:sp>
        <p:nvSpPr>
          <p:cNvPr id="10" name="">
            <a:extLst>
              <a:ext uri="{FF2B5EF4-FFF2-40B4-BE49-F238E27FC236}">
                <ns2:creationId id="{0D8BE9A7-E8E6-4B2F-811E-86C85D5650DA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记录与隐私</a:t>
            </a:r>
          </a:p>
        </p:txBody>
      </p:sp>
      <p:sp>
        <p:nvSpPr>
          <p:cNvPr id="11" name="">
            <a:extLst>
              <a:ext uri="{FF2B5EF4-FFF2-40B4-BE49-F238E27FC236}">
                <ns2:creationId id="{5CFFBA7B-B79D-42E5-A682-A43D83AC52A2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独立分支也会积累敏感材料，需要保留期限、导出与访问控制。</a:t>
            </a:r>
          </a:p>
        </p:txBody>
      </p:sp>
      <p:sp>
        <p:nvSpPr>
          <p:cNvPr id="12" name="">
            <a:extLst>
              <a:ext uri="{FF2B5EF4-FFF2-40B4-BE49-F238E27FC236}">
                <ns2:creationId id="{C9F87CA5-CC1B-4F33-8573-6B887EFAD54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缓解方式：独立证据、风险分级、最小权限、明确未知项，持续测量错误批准。</a:t>
            </a:r>
          </a:p>
        </p:txBody>
      </p:sp>
      <p:sp>
        <p:nvSpPr>
          <p:cNvPr id="13" name="">
            <a:extLst>
              <a:ext uri="{FF2B5EF4-FFF2-40B4-BE49-F238E27FC236}">
                <ns2:creationId id="{62F36567-442A-4533-B615-4F753720EC1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d9b27d5eec24be0"/>
              </a:rPr>
              <a:t>NIST AI 600-1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122812374264ef4"/>
              </a:rPr>
              <a:t>NIST 63B-4</a:t>
            </a:r>
          </a:p>
        </p:txBody>
      </p:sp>
    </p:spTree>
    <p:extLst>
      <p:ext uri="{BB962C8B-B14F-4D97-AF65-F5344CB8AC3E}">
        <ns4:creationId val="1348663339"/>
      </p:ext>
    </p:extLst>
  </p:cSld>
</p:sld>
</file>

<file path=ppt/slides/slide6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2B7613CF-B5D1-4EFF-8949-ED4167A08CD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差异化调研结论</a:t>
            </a:r>
          </a:p>
        </p:txBody>
      </p:sp>
      <p:sp>
        <p:nvSpPr>
          <p:cNvPr id="2" name="">
            <a:extLst>
              <a:ext uri="{FF2B5EF4-FFF2-40B4-BE49-F238E27FC236}">
                <ns2:creationId id="{C6A6A937-454D-448D-BFA9-D6548B6454E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核心能力成立，排他性需要按比较对象判断</a:t>
            </a:r>
          </a:p>
        </p:txBody>
      </p:sp>
      <p:sp>
        <p:nvSpPr>
          <p:cNvPr id="3" name="">
            <a:extLst>
              <a:ext uri="{FF2B5EF4-FFF2-40B4-BE49-F238E27FC236}">
                <ns2:creationId id="{12F51CF8-9C7A-400A-8022-ED7DDD497CA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64</a:t>
            </a:r>
          </a:p>
        </p:txBody>
      </p:sp>
      <p:sp>
        <p:nvSpPr>
          <p:cNvPr id="4" name="">
            <a:extLst>
              <a:ext uri="{FF2B5EF4-FFF2-40B4-BE49-F238E27FC236}">
                <ns2:creationId id="{1A0295BC-4B9A-4F4C-A18B-81E037854B39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流程工具</a:t>
            </a:r>
          </a:p>
        </p:txBody>
      </p:sp>
      <p:sp>
        <p:nvSpPr>
          <p:cNvPr id="5" name="">
            <a:extLst>
              <a:ext uri="{FF2B5EF4-FFF2-40B4-BE49-F238E27FC236}">
                <ns2:creationId id="{8BA1367E-7DF5-4359-BF99-1FFBF84ABE9F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LangChain、n8n、Power Automate 的所查功能文档未规定用户与 Agent 的加密配对。</a:t>
            </a:r>
          </a:p>
        </p:txBody>
      </p:sp>
      <p:sp>
        <p:nvSpPr>
          <p:cNvPr id="6" name="">
            <a:extLst>
              <a:ext uri="{FF2B5EF4-FFF2-40B4-BE49-F238E27FC236}">
                <ns2:creationId id="{447837C6-D63F-493C-8A1C-43DBFB9EB8EE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认证与交易</a:t>
            </a:r>
          </a:p>
        </p:txBody>
      </p:sp>
      <p:sp>
        <p:nvSpPr>
          <p:cNvPr id="7" name="">
            <a:extLst>
              <a:ext uri="{FF2B5EF4-FFF2-40B4-BE49-F238E27FC236}">
                <ns2:creationId id="{0C5EF3BB-667B-4E8D-81E2-223EA012B73B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Auth0、OneSpan、FIDO 和 SPC 已覆盖远程确认、设备持钥或交易绑定中的多项能力。</a:t>
            </a:r>
          </a:p>
        </p:txBody>
      </p:sp>
      <p:sp>
        <p:nvSpPr>
          <p:cNvPr id="8" name="">
            <a:extLst>
              <a:ext uri="{FF2B5EF4-FFF2-40B4-BE49-F238E27FC236}">
                <ns2:creationId id="{EFD36A72-1CA9-4B3C-BA87-5FF571DC6705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直接相邻产品</a:t>
            </a:r>
          </a:p>
        </p:txBody>
      </p:sp>
      <p:sp>
        <p:nvSpPr>
          <p:cNvPr id="9" name="">
            <a:extLst>
              <a:ext uri="{FF2B5EF4-FFF2-40B4-BE49-F238E27FC236}">
                <ns2:creationId id="{89FE2530-DB7C-4535-A03F-D517D6D45E1B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已使用 AI Agent Authenticator 定位，宣称手机签名与执行门控。</a:t>
            </a:r>
          </a:p>
        </p:txBody>
      </p:sp>
      <p:sp>
        <p:nvSpPr>
          <p:cNvPr id="10" name="">
            <a:extLst>
              <a:ext uri="{FF2B5EF4-FFF2-40B4-BE49-F238E27FC236}">
                <ns2:creationId id="{040AD8C6-8508-42B7-85E3-0A51A2B7F86C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MYA 的机会</a:t>
            </a:r>
          </a:p>
        </p:txBody>
      </p:sp>
      <p:sp>
        <p:nvSpPr>
          <p:cNvPr id="11" name="">
            <a:extLst>
              <a:ext uri="{FF2B5EF4-FFF2-40B4-BE49-F238E27FC236}">
                <ns2:creationId id="{F81CB03D-A0CC-4B58-8357-8749B0959907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具体关系、双向审批消息、行动凭证与用户侧决策伙伴形成组合价值。</a:t>
            </a:r>
          </a:p>
        </p:txBody>
      </p:sp>
      <p:sp>
        <p:nvSpPr>
          <p:cNvPr id="12" name="">
            <a:extLst>
              <a:ext uri="{FF2B5EF4-FFF2-40B4-BE49-F238E27FC236}">
                <ns2:creationId id="{641EEADF-8905-4B4C-9A92-5C1F5AF56DE9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基于官方资料与公开代码。未测试竞品，也无法从文档缺失推断产品绝对不支持。</a:t>
            </a:r>
          </a:p>
        </p:txBody>
      </p:sp>
      <p:sp>
        <p:nvSpPr>
          <p:cNvPr id="13" name="">
            <a:extLst>
              <a:ext uri="{FF2B5EF4-FFF2-40B4-BE49-F238E27FC236}">
                <ns2:creationId id="{BDED906E-53E2-4D3A-BAD3-937EBABBA994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c76b084ba0e4fab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a5dc4fb6f234c8d"/>
              </a:rPr>
              <a:t>OneSpan Secure Channel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08060dae45c4efe"/>
              </a:rPr>
              <a:t>AgentPass 官网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3de241765c747ee"/>
              </a:rPr>
              <a:t>LangChain HITL</a:t>
            </a:r>
          </a:p>
        </p:txBody>
      </p:sp>
    </p:spTree>
    <p:extLst>
      <p:ext uri="{BB962C8B-B14F-4D97-AF65-F5344CB8AC3E}">
        <ns4:creationId val="1558439190"/>
      </p:ext>
    </p:extLst>
  </p:cSld>
</p:sld>
</file>

<file path=ppt/slides/slide6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E2949B8B-A024-4970-AB3A-8F543B76519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流程型方案的比较</a:t>
            </a:r>
          </a:p>
        </p:txBody>
      </p:sp>
      <p:sp>
        <p:nvSpPr>
          <p:cNvPr id="2" name="">
            <a:extLst>
              <a:ext uri="{FF2B5EF4-FFF2-40B4-BE49-F238E27FC236}">
                <ns2:creationId id="{1DCE5776-7AF3-4528-B637-4EDE3A02A897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此表比较所列功能文档的默认职责，平台可通过扩展增加能力</a:t>
            </a:r>
          </a:p>
        </p:txBody>
      </p:sp>
      <p:sp>
        <p:nvSpPr>
          <p:cNvPr id="3" name="">
            <a:extLst>
              <a:ext uri="{FF2B5EF4-FFF2-40B4-BE49-F238E27FC236}">
                <ns2:creationId id="{E9600A2B-60D5-4019-9EB3-9DB70CD4C3E6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590800"/>
                <a:gridCol w="3838575"/>
                <a:gridCol w="45434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公开已有能力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 MYA 关系通道的差别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LangChain HITL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工具暂停、修改、拒绝与恢复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该中间件未规定手机与 Agent 密钥配对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n8n 人工审批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工具执行前审核，多种远程渠道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该审批功能未规定关系级端到端消息加密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Power Automate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组织身份与顺序审批流程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该流程文档未规定每个 Agent 的独立密钥关系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Demo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关系配对、消息签名加密、行动授权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资源端已核验，组织编排与持久恢复待补齐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4541B564-9AE2-46EB-83CD-E25611896FC1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可以主张：MYA 显式提供关系与消息层能力。不能由此推导现有平台弱认证或不能接入。</a:t>
            </a:r>
          </a:p>
        </p:txBody>
      </p:sp>
      <p:sp>
        <p:nvSpPr>
          <p:cNvPr id="6" name="">
            <a:extLst>
              <a:ext uri="{FF2B5EF4-FFF2-40B4-BE49-F238E27FC236}">
                <ns2:creationId id="{9B9D5E9E-1670-4680-BC56-FEF4B90D3402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bff94549f7e4932"/>
              </a:rPr>
              <a:t>LangChain HITL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f4d91417bf2f4a69"/>
              </a:rPr>
              <a:t>n8n 人工审批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f2e509324f5404b"/>
              </a:rPr>
              <a:t>Power Automate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0b3f0355e5b4072"/>
              </a:rPr>
              <a:t>MYA 代码与实测</a:t>
            </a:r>
          </a:p>
        </p:txBody>
      </p:sp>
    </p:spTree>
    <p:extLst>
      <p:ext uri="{BB962C8B-B14F-4D97-AF65-F5344CB8AC3E}">
        <ns4:creationId val="1694140112"/>
      </p:ext>
    </p:extLst>
  </p:cSld>
</p:sld>
</file>

<file path=ppt/slides/slide6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EE9EB90C-D02E-40FA-A068-1617F498F01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Auth0：远程审批与持钥确认已经存在</a:t>
            </a:r>
          </a:p>
        </p:txBody>
      </p:sp>
      <p:sp>
        <p:nvSpPr>
          <p:cNvPr id="2" name="">
            <a:extLst>
              <a:ext uri="{FF2B5EF4-FFF2-40B4-BE49-F238E27FC236}">
                <ns2:creationId id="{4A626D55-7A80-494F-8365-5DFFA83E326C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CIBA、Guardian 与 RAR 是需要正面比较的组合</a:t>
            </a:r>
          </a:p>
        </p:txBody>
      </p:sp>
      <p:sp>
        <p:nvSpPr>
          <p:cNvPr id="3" name="">
            <a:extLst>
              <a:ext uri="{FF2B5EF4-FFF2-40B4-BE49-F238E27FC236}">
                <ns2:creationId id="{2EB27EF5-63FA-47F0-80BC-9B2FDF74150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200275"/>
                <a:gridCol w="4429125"/>
                <a:gridCol w="43434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官方可核验的能力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CIBA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AI Agent 发起，另一设备授权，异步返回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身份提供方协调授权流程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Guardian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二维码登记设备密钥，签署批准或拒绝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绑定对象主要是设备与账户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向用户呈现结构化授权详情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资源系统需落实字段与权限约束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关系通道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用户与具体 Agent 的密钥关系，消息签名加密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可区别信任关系与消息模型，不能称密码学独有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56F7F1E5-1035-4EDF-AE4E-7922959F460B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CIBA 的 binding_message 是给人核对的关联信息，其名称本身不表示长期密钥绑定。</a:t>
            </a:r>
          </a:p>
        </p:txBody>
      </p:sp>
      <p:sp>
        <p:nvSpPr>
          <p:cNvPr id="6" name="">
            <a:extLst>
              <a:ext uri="{FF2B5EF4-FFF2-40B4-BE49-F238E27FC236}">
                <ns2:creationId id="{27F123E2-0B6B-44E8-8BB7-942D4345A36D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227e819d1e94a23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6909bc067ff8427c"/>
              </a:rPr>
              <a:t>Guardian SDK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c405481659854c6a"/>
              </a:rPr>
              <a:t>Guardian 签名代码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bf57639f7264de8"/>
              </a:rPr>
              <a:t>Auth0 RAR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9ee7827b0c14082"/>
              </a:rPr>
              <a:t>OpenID CIBA Core</a:t>
            </a:r>
          </a:p>
        </p:txBody>
      </p:sp>
    </p:spTree>
    <p:extLst>
      <p:ext uri="{BB962C8B-B14F-4D97-AF65-F5344CB8AC3E}">
        <ns4:creationId val="1200844286"/>
      </p:ext>
    </p:extLst>
  </p:cSld>
</p:sld>
</file>

<file path=ppt/slides/slide6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F6E3CDA2-983B-465B-9CE0-E7B238B2653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交易签名与跨设备认证的已有基础</a:t>
            </a:r>
          </a:p>
        </p:txBody>
      </p:sp>
      <p:sp>
        <p:nvSpPr>
          <p:cNvPr id="2" name="">
            <a:extLst>
              <a:ext uri="{FF2B5EF4-FFF2-40B4-BE49-F238E27FC236}">
                <ns2:creationId id="{5CD7D1FF-86B7-4683-B24F-8F50EEBBD7E4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这些机制覆盖不同绑定对象，不能归为“都没有加密绑定”</a:t>
            </a:r>
          </a:p>
        </p:txBody>
      </p:sp>
      <p:sp>
        <p:nvSpPr>
          <p:cNvPr id="3" name="">
            <a:extLst>
              <a:ext uri="{FF2B5EF4-FFF2-40B4-BE49-F238E27FC236}">
                <ns2:creationId id="{80139A16-846D-4EAB-9D14-1D2C1C0827C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286000"/>
                <a:gridCol w="4457700"/>
                <a:gridCol w="42291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已公开的相关能力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OneSpan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扫码查看交易，安全通道签署单笔请求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账户与交易审批，已有银行场景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FIDO Passkeys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账户凭据公钥绑定，跨设备安全通道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跨设备登录要求物理接近，非任意距离审批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W3C SPC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形成用户确认交易详情的密码学证据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支付专用，2026-07 版仍为候选推荐草案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Google AP2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用签署的授权材料记录购买意图与购物车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Agent 支付授权，未规定通用审批会话通道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3956B7F2-9A1E-48E3-AFAF-29DBD5C9D756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可复用成熟认证与交易机制，将产品重心放在用户与 Agent 的持续审批关系。</a:t>
            </a:r>
          </a:p>
        </p:txBody>
      </p:sp>
      <p:sp>
        <p:nvSpPr>
          <p:cNvPr id="6" name="">
            <a:extLst>
              <a:ext uri="{FF2B5EF4-FFF2-40B4-BE49-F238E27FC236}">
                <ns2:creationId id="{EC0269DE-B5F5-4743-8A3B-E8609C314536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0d139a4f26e94a09"/>
              </a:rPr>
              <a:t>OneSpan Secure Channel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88c6b7c7da44a4"/>
              </a:rPr>
              <a:t>FIDO Passkeys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4baec6dd95f84f87"/>
              </a:rPr>
              <a:t>W3C SPC 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9b5ec102aa494789"/>
              </a:rPr>
              <a:t>Google AP2</a:t>
            </a:r>
          </a:p>
        </p:txBody>
      </p:sp>
    </p:spTree>
    <p:extLst>
      <p:ext uri="{BB962C8B-B14F-4D97-AF65-F5344CB8AC3E}">
        <ns4:creationId val="771308060"/>
      </p:ext>
    </p:extLst>
  </p:cSld>
</p:sld>
</file>

<file path=ppt/slides/slide6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34687E-429E-474F-AC20-DA92FFD20E3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AgentPair 与 AgentPass 的直接启示</a:t>
            </a:r>
          </a:p>
        </p:txBody>
      </p:sp>
      <p:sp>
        <p:nvSpPr>
          <p:cNvPr id="2" name="">
            <a:extLst>
              <a:ext uri="{FF2B5EF4-FFF2-40B4-BE49-F238E27FC236}">
                <ns2:creationId id="{63A8F868-86E2-4F63-993E-6722914F9D39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已有协议与产品覆盖配对、加密或 AI 手机授权的相邻部分</a:t>
            </a:r>
          </a:p>
        </p:txBody>
      </p:sp>
      <p:sp>
        <p:nvSpPr>
          <p:cNvPr id="3" name="">
            <a:extLst>
              <a:ext uri="{FF2B5EF4-FFF2-40B4-BE49-F238E27FC236}">
                <ns2:creationId id="{9DD3586D-C353-411E-B21D-EDF95B3A6397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68</a:t>
            </a:r>
          </a:p>
        </p:txBody>
      </p:sp>
      <p:sp>
        <p:nvSpPr>
          <p:cNvPr id="4" name="">
            <a:extLst>
              <a:ext uri="{FF2B5EF4-FFF2-40B4-BE49-F238E27FC236}">
                <ns2:creationId id="{ABECDDBE-7750-497D-A18A-911A924A15C6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AgentPair</a:t>
            </a:r>
          </a:p>
        </p:txBody>
      </p:sp>
      <p:sp>
        <p:nvSpPr>
          <p:cNvPr id="5" name="">
            <a:extLst>
              <a:ext uri="{FF2B5EF4-FFF2-40B4-BE49-F238E27FC236}">
                <ns2:creationId id="{89FDD793-B62F-4DD1-80CE-BFA4898C1EEB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公开草案包含 SPAKE2 配对、端到端加密、持久对等关系和人工门控。</a:t>
            </a:r>
          </a:p>
        </p:txBody>
      </p:sp>
      <p:sp>
        <p:nvSpPr>
          <p:cNvPr id="6" name="">
            <a:extLst>
              <a:ext uri="{FF2B5EF4-FFF2-40B4-BE49-F238E27FC236}">
                <ns2:creationId id="{6635A708-EA81-44BE-B156-05C4519ECADD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范围区别</a:t>
            </a:r>
          </a:p>
        </p:txBody>
      </p:sp>
      <p:sp>
        <p:nvSpPr>
          <p:cNvPr id="7" name="">
            <a:extLst>
              <a:ext uri="{FF2B5EF4-FFF2-40B4-BE49-F238E27FC236}">
                <ns2:creationId id="{4AF91FFE-9693-42FB-B10E-F314C0629A8D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其主体是代表不同人的 Agent 互联。MYA 聚焦用户审批端与执行 Agent 的关系。</a:t>
            </a:r>
          </a:p>
        </p:txBody>
      </p:sp>
      <p:sp>
        <p:nvSpPr>
          <p:cNvPr id="8" name="">
            <a:extLst>
              <a:ext uri="{FF2B5EF4-FFF2-40B4-BE49-F238E27FC236}">
                <ns2:creationId id="{9CFB6130-1163-4AC1-B53F-9408B0DFC424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AgentPass</a:t>
            </a:r>
          </a:p>
        </p:txBody>
      </p:sp>
      <p:sp>
        <p:nvSpPr>
          <p:cNvPr id="9" name="">
            <a:extLst>
              <a:ext uri="{FF2B5EF4-FFF2-40B4-BE49-F238E27FC236}">
                <ns2:creationId id="{7F4826AB-F7BD-411F-82CE-B7484D0F017F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官网宣称二维码登记、手机硬件密钥签名、分级门控及审计。</a:t>
            </a:r>
          </a:p>
        </p:txBody>
      </p:sp>
      <p:sp>
        <p:nvSpPr>
          <p:cNvPr id="10" name="">
            <a:extLst>
              <a:ext uri="{FF2B5EF4-FFF2-40B4-BE49-F238E27FC236}">
                <ns2:creationId id="{85EF523C-6BA3-434F-B6C0-CEB45A30B53A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证据边界</a:t>
            </a:r>
          </a:p>
        </p:txBody>
      </p:sp>
      <p:sp>
        <p:nvSpPr>
          <p:cNvPr id="11" name="">
            <a:extLst>
              <a:ext uri="{FF2B5EF4-FFF2-40B4-BE49-F238E27FC236}">
                <ns2:creationId id="{FE7B261E-57C5-4A31-BC67-ABA3EB1D0179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的交付成熟度、通道协议与实际防绕过效果尚未独立验证。</a:t>
            </a:r>
          </a:p>
        </p:txBody>
      </p:sp>
      <p:sp>
        <p:nvSpPr>
          <p:cNvPr id="12" name="">
            <a:extLst>
              <a:ext uri="{FF2B5EF4-FFF2-40B4-BE49-F238E27FC236}">
                <ns2:creationId id="{BF9485E2-8EEE-4CAB-A7D5-11444F67A9F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“AI Authenticator”已有同类命名。MYA 应保留品牌，并用实际能力定义产品。</a:t>
            </a:r>
          </a:p>
        </p:txBody>
      </p:sp>
      <p:sp>
        <p:nvSpPr>
          <p:cNvPr id="13" name="">
            <a:extLst>
              <a:ext uri="{FF2B5EF4-FFF2-40B4-BE49-F238E27FC236}">
                <ns2:creationId id="{BD909AB0-DA2E-4189-8646-2B93341CBDAF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5c87b3fccb94b59"/>
              </a:rPr>
              <a:t>AgentPair 协议草案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c8a1d14ab8804568"/>
              </a:rPr>
              <a:t>AgentPass 官网</a:t>
            </a:r>
          </a:p>
        </p:txBody>
      </p:sp>
    </p:spTree>
    <p:extLst>
      <p:ext uri="{BB962C8B-B14F-4D97-AF65-F5344CB8AC3E}">
        <ns4:creationId val="2007097402"/>
      </p:ext>
    </p:extLst>
  </p:cSld>
</p:sld>
</file>

<file path=ppt/slides/slide6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7B9BB0E-5AB3-433A-9F38-F2C42680FC6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可主张的组合差异</a:t>
            </a:r>
          </a:p>
        </p:txBody>
      </p:sp>
      <p:sp>
        <p:nvSpPr>
          <p:cNvPr id="2" name="">
            <a:extLst>
              <a:ext uri="{FF2B5EF4-FFF2-40B4-BE49-F238E27FC236}">
                <ns2:creationId id="{D2C544C6-C67D-4E66-8628-DB6653FAAEA5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产品判断：围绕用户持续掌控 Agent 行动，形成可验证的业务体验</a:t>
            </a:r>
          </a:p>
        </p:txBody>
      </p:sp>
      <p:sp>
        <p:nvSpPr>
          <p:cNvPr id="3" name="">
            <a:extLst>
              <a:ext uri="{FF2B5EF4-FFF2-40B4-BE49-F238E27FC236}">
                <ns2:creationId id="{E799DD79-F133-4127-B227-FBF6EBBEBFA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69</a:t>
            </a:r>
          </a:p>
        </p:txBody>
      </p:sp>
      <p:sp>
        <p:nvSpPr>
          <p:cNvPr id="4" name="">
            <a:extLst>
              <a:ext uri="{FF2B5EF4-FFF2-40B4-BE49-F238E27FC236}">
                <ns2:creationId id="{AAA5430B-3049-43D7-8A64-4435F354A860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关系归属</a:t>
            </a:r>
          </a:p>
        </p:txBody>
      </p:sp>
      <p:sp>
        <p:nvSpPr>
          <p:cNvPr id="5" name="">
            <a:extLst>
              <a:ext uri="{FF2B5EF4-FFF2-40B4-BE49-F238E27FC236}">
                <ns2:creationId id="{0ECAD807-1DD1-416F-A0BE-F74A3146BC1F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用户明确认领某个 Agent，独立管理用途与撤销。</a:t>
            </a:r>
          </a:p>
        </p:txBody>
      </p:sp>
      <p:sp>
        <p:nvSpPr>
          <p:cNvPr id="6" name="">
            <a:extLst>
              <a:ext uri="{FF2B5EF4-FFF2-40B4-BE49-F238E27FC236}">
                <ns2:creationId id="{D17FFF79-EE74-4E4D-B9AF-0E98CF1D19F4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可信交互</a:t>
            </a:r>
          </a:p>
        </p:txBody>
      </p:sp>
      <p:sp>
        <p:nvSpPr>
          <p:cNvPr id="7" name="">
            <a:extLst>
              <a:ext uri="{FF2B5EF4-FFF2-40B4-BE49-F238E27FC236}">
                <ns2:creationId id="{1010FD97-821A-484C-B53C-552A2E8D06E7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审批消息关联这段关系，并为批准的行动提供可核验证据。</a:t>
            </a:r>
          </a:p>
        </p:txBody>
      </p:sp>
      <p:sp>
        <p:nvSpPr>
          <p:cNvPr id="8" name="">
            <a:extLst>
              <a:ext uri="{FF2B5EF4-FFF2-40B4-BE49-F238E27FC236}">
                <ns2:creationId id="{27099E5D-D881-40F9-BEE8-A5E49BC15749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决策分支</a:t>
            </a:r>
          </a:p>
        </p:txBody>
      </p:sp>
      <p:sp>
        <p:nvSpPr>
          <p:cNvPr id="9" name="">
            <a:extLst>
              <a:ext uri="{FF2B5EF4-FFF2-40B4-BE49-F238E27FC236}">
                <ns2:creationId id="{D652E7B2-66D0-400A-BF21-36AB619E9252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用户侧伙伴读取独立信息，提出反建议，保留修订依据。</a:t>
            </a:r>
          </a:p>
        </p:txBody>
      </p:sp>
      <p:sp>
        <p:nvSpPr>
          <p:cNvPr id="10" name="">
            <a:extLst>
              <a:ext uri="{FF2B5EF4-FFF2-40B4-BE49-F238E27FC236}">
                <ns2:creationId id="{34843A9B-FCF7-491A-9CDA-CD81BC79ADB2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跨场景接入</a:t>
            </a:r>
          </a:p>
        </p:txBody>
      </p:sp>
      <p:sp>
        <p:nvSpPr>
          <p:cNvPr id="11" name="">
            <a:extLst>
              <a:ext uri="{FF2B5EF4-FFF2-40B4-BE49-F238E27FC236}">
                <ns2:creationId id="{10E7D72A-A830-45E9-AADE-9527751D4254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统一手机入口，多种 Agent 适配器，复用企业已有审批规则。</a:t>
            </a:r>
          </a:p>
        </p:txBody>
      </p:sp>
      <p:sp>
        <p:nvSpPr>
          <p:cNvPr id="12" name="">
            <a:extLst>
              <a:ext uri="{FF2B5EF4-FFF2-40B4-BE49-F238E27FC236}">
                <ns2:creationId id="{B3C05B7B-98FE-4540-B7AD-98D97B9E1DE5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现有代码验证了前两项的 Demo。后两项应通过产品实现、集成与对照试点证明。</a:t>
            </a:r>
          </a:p>
        </p:txBody>
      </p:sp>
      <p:sp>
        <p:nvSpPr>
          <p:cNvPr id="13" name="">
            <a:extLst>
              <a:ext uri="{FF2B5EF4-FFF2-40B4-BE49-F238E27FC236}">
                <ns2:creationId id="{3DC747FF-A02A-4819-A3E4-BC2F08E1C70A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a8da7c0513a04ca6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f546c860f5b4c44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8125396de121466b"/>
              </a:rPr>
              <a:t>AgentPair 协议草案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5ef61a7cf5884175"/>
              </a:rPr>
              <a:t>AgentPass 官网</a:t>
            </a:r>
          </a:p>
        </p:txBody>
      </p:sp>
    </p:spTree>
    <p:extLst>
      <p:ext uri="{BB962C8B-B14F-4D97-AF65-F5344CB8AC3E}">
        <ns4:creationId val="247893161"/>
      </p:ext>
    </p:extLst>
  </p:cSld>
</p:sld>
</file>

<file path=ppt/slides/slide7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F4569533-8C61-46CC-BB4B-CACCD4B74D5D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场景价值与进入顺序</a:t>
            </a:r>
          </a:p>
        </p:txBody>
      </p:sp>
      <p:sp>
        <p:nvSpPr>
          <p:cNvPr id="2" name="">
            <a:extLst>
              <a:ext uri="{FF2B5EF4-FFF2-40B4-BE49-F238E27FC236}">
                <ns2:creationId id="{BBFDB12A-B168-4B19-8284-A06C38665AF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定性判断，尚无用户规模、收入或 ROI 验证</a:t>
            </a:r>
          </a:p>
        </p:txBody>
      </p:sp>
      <p:sp>
        <p:nvSpPr>
          <p:cNvPr id="3" name="">
            <a:extLst>
              <a:ext uri="{FF2B5EF4-FFF2-40B4-BE49-F238E27FC236}">
                <ns2:creationId id="{7A4FB92D-A7F6-45A1-95DD-7A47C2DD41B3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952750"/>
                <a:gridCol w="3095625"/>
                <a:gridCol w="3114675"/>
                <a:gridCol w="18097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价值假设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主要门槛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研发外发 / 运维变更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后果明确，易比较错批与往返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资源入口和凭据隔离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优先试点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企业客户业务审批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跨角色材料核验与版本一致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组织角色、审批矩阵、外部身份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第二阶段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银行运营辅助复核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重复处理、依据缺失的识别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受权数据、模型治理、内控集成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联合试点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个人生活与反诈辅助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理解复杂请求并增加核验机会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可靠信息源、误报、分发成本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限定场景探索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4334A5D5-FFEE-4A5D-8B0B-30B185FC236A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选择标准：能控制执行入口，能获取独立证据，能观察到决策质量变化。</a:t>
            </a:r>
          </a:p>
        </p:txBody>
      </p:sp>
      <p:sp>
        <p:nvSpPr>
          <p:cNvPr id="6" name="">
            <a:extLst>
              <a:ext uri="{FF2B5EF4-FFF2-40B4-BE49-F238E27FC236}">
                <ns2:creationId id="{96FB4B00-3A39-4717-8B4D-BEF42857997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96cf37c5e624395"/>
              </a:rPr>
              <a:t>MYA 代码与实测</a:t>
            </a:r>
          </a:p>
        </p:txBody>
      </p:sp>
    </p:spTree>
    <p:extLst>
      <p:ext uri="{BB962C8B-B14F-4D97-AF65-F5344CB8AC3E}">
        <ns4:creationId val="1478471746"/>
      </p:ext>
    </p:extLst>
  </p:cSld>
</p:sld>
</file>

<file path=ppt/slides/slide7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B521B69F-9C02-45AF-B096-FB0049E7A35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试点验证：比较审批质量与完成成本</a:t>
            </a:r>
          </a:p>
        </p:txBody>
      </p:sp>
      <p:sp>
        <p:nvSpPr>
          <p:cNvPr id="2" name="">
            <a:extLst>
              <a:ext uri="{FF2B5EF4-FFF2-40B4-BE49-F238E27FC236}">
                <ns2:creationId id="{903643F9-8B11-45D5-8840-142ACCD21C1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同一组业务案例，比较现有流程、MYA 确认、MYA 独立辅助三种方式</a:t>
            </a:r>
          </a:p>
        </p:txBody>
      </p:sp>
      <p:sp>
        <p:nvSpPr>
          <p:cNvPr id="3" name="">
            <a:extLst>
              <a:ext uri="{FF2B5EF4-FFF2-40B4-BE49-F238E27FC236}">
                <ns2:creationId id="{681E6FE6-AD5F-4602-AEFC-073CC66114D0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71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609600" y="1857375"/>
          <a:ext cx="10972800" cy="3638550"/>
        </p:xfrm>
        <a:graphic>
          <a:graphicData uri="http://schemas.openxmlformats.org/drawingml/2006/table">
            <a:tbl>
              <a:tblPr/>
              <a:tblGrid>
                <a:gridCol w="2847975"/>
                <a:gridCol w="3429000"/>
                <a:gridCol w="46958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观测指标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验收要求或判定方式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能否强制执行授权？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无授权、篡改、过期、撤销、重放测试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定义测试集内全部阻断，不能证明零未知漏洞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是否减少错误决定？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预置风险检出率、误报率、错误批准率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与基线盲测比较，由业务专家复核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是否减少用户负担？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主动操作时间、补材料次数、审批周期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同时报告效率收益与新增等待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能否持续完成任务？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恢复成功率、重复执行、回执覆盖率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手机确认后自动续接，无需再回主会话催促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BD872D0-8F45-4A97-B233-8AC8A16B4FC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先用合成案例与受控测试，再进入真实业务。所有收益必须测量，当前不承诺比例。</a:t>
            </a:r>
          </a:p>
        </p:txBody>
      </p:sp>
      <p:sp>
        <p:nvSpPr>
          <p:cNvPr id="6" name="">
            <a:extLst>
              <a:ext uri="{FF2B5EF4-FFF2-40B4-BE49-F238E27FC236}">
                <ns2:creationId id="{991642A6-2413-4EA1-8BAE-466BA63C9D2B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15befb3b67ca48d5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3ba17cd3406f4eab"/>
              </a:rPr>
              <a:t>LangChain HITL</a:t>
            </a:r>
          </a:p>
        </p:txBody>
      </p:sp>
    </p:spTree>
    <p:extLst>
      <p:ext uri="{BB962C8B-B14F-4D97-AF65-F5344CB8AC3E}">
        <ns4:creationId val="1566178838"/>
      </p:ext>
    </p:extLst>
  </p:cSld>
</p:sld>
</file>

<file path=ppt/slides/slide7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F12CF0BC-7676-474B-BF5E-EDC2AEC75FDC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产品路线：先稳定闭环，再验证独立决策</a:t>
            </a:r>
          </a:p>
        </p:txBody>
      </p:sp>
      <p:sp>
        <p:nvSpPr>
          <p:cNvPr id="2" name="">
            <a:extLst>
              <a:ext uri="{FF2B5EF4-FFF2-40B4-BE49-F238E27FC236}">
                <ns2:creationId id="{FA083F46-4482-4C99-B9EC-2C76BECE0008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每一阶段都需要可验收的边界</a:t>
            </a:r>
          </a:p>
        </p:txBody>
      </p:sp>
      <p:sp>
        <p:nvSpPr>
          <p:cNvPr id="3" name="">
            <a:extLst>
              <a:ext uri="{FF2B5EF4-FFF2-40B4-BE49-F238E27FC236}">
                <ns2:creationId id="{AF894C6A-966A-4505-8409-4E053B027ABB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72</a:t>
            </a:r>
          </a:p>
        </p:txBody>
      </p:sp>
      <p:sp>
        <p:nvSpPr>
          <p:cNvPr id="4" name="">
            <a:extLst>
              <a:ext uri="{FF2B5EF4-FFF2-40B4-BE49-F238E27FC236}">
                <ns2:creationId id="{DDCA8BED-4C37-424A-A3C6-D91317C5453F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当前基础</a:t>
            </a:r>
          </a:p>
        </p:txBody>
      </p:sp>
      <p:sp>
        <p:nvSpPr>
          <p:cNvPr id="5" name="">
            <a:extLst>
              <a:ext uri="{FF2B5EF4-FFF2-40B4-BE49-F238E27FC236}">
                <ns2:creationId id="{0E2EBDC7-A47E-4243-898C-565C14BB4414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保留已验证的配对、修订、精确授权、执行回执和有限规则。</a:t>
            </a:r>
          </a:p>
        </p:txBody>
      </p:sp>
      <p:sp>
        <p:nvSpPr>
          <p:cNvPr id="6" name="">
            <a:extLst>
              <a:ext uri="{FF2B5EF4-FFF2-40B4-BE49-F238E27FC236}">
                <ns2:creationId id="{CF46F8B7-7BB5-4321-A7FD-DCA5FAE91B9F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下一阶段</a:t>
            </a:r>
          </a:p>
        </p:txBody>
      </p:sp>
      <p:sp>
        <p:nvSpPr>
          <p:cNvPr id="7" name="">
            <a:extLst>
              <a:ext uri="{FF2B5EF4-FFF2-40B4-BE49-F238E27FC236}">
                <ns2:creationId id="{54359B6C-994E-4405-BDD4-A61B9EA0962D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持久等待与恢复，版本差异展示，多轮审批分支，独立只读取证。</a:t>
            </a:r>
          </a:p>
        </p:txBody>
      </p:sp>
      <p:sp>
        <p:nvSpPr>
          <p:cNvPr id="8" name="">
            <a:extLst>
              <a:ext uri="{FF2B5EF4-FFF2-40B4-BE49-F238E27FC236}">
                <ns2:creationId id="{87FCD985-7ACC-4777-BEF1-6220A1B0999A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组织接入</a:t>
            </a:r>
          </a:p>
        </p:txBody>
      </p:sp>
      <p:sp>
        <p:nvSpPr>
          <p:cNvPr id="9" name="">
            <a:extLst>
              <a:ext uri="{FF2B5EF4-FFF2-40B4-BE49-F238E27FC236}">
                <ns2:creationId id="{EFF5E051-4078-4847-A3C1-8EDB6583A8CF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SSO 与角色映射，多级审批适配，受控执行入口，企业审计策略。</a:t>
            </a:r>
          </a:p>
        </p:txBody>
      </p:sp>
      <p:sp>
        <p:nvSpPr>
          <p:cNvPr id="10" name="">
            <a:extLst>
              <a:ext uri="{FF2B5EF4-FFF2-40B4-BE49-F238E27FC236}">
                <ns2:creationId id="{F8FC81CB-80FB-4913-98CB-5D75809653EC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扩展验证</a:t>
            </a:r>
          </a:p>
        </p:txBody>
      </p:sp>
      <p:sp>
        <p:nvSpPr>
          <p:cNvPr id="11" name="">
            <a:extLst>
              <a:ext uri="{FF2B5EF4-FFF2-40B4-BE49-F238E27FC236}">
                <ns2:creationId id="{6FEFA22B-819E-4E5C-A351-1867FDEAF1E5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按需求加入 DID/VC、设备恢复和强认证，试点客户或个人场景。</a:t>
            </a:r>
          </a:p>
        </p:txBody>
      </p:sp>
      <p:sp>
        <p:nvSpPr>
          <p:cNvPr id="12" name="">
            <a:extLst>
              <a:ext uri="{FF2B5EF4-FFF2-40B4-BE49-F238E27FC236}">
                <ns2:creationId id="{CBA1EFDF-4DB9-4EA4-8B9D-6163942172C8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下一次演示重点：审批侧查到新证据、提出更好方案，执行侧无需用户催促即可完成。</a:t>
            </a:r>
          </a:p>
        </p:txBody>
      </p:sp>
      <p:sp>
        <p:nvSpPr>
          <p:cNvPr id="13" name="">
            <a:extLst>
              <a:ext uri="{FF2B5EF4-FFF2-40B4-BE49-F238E27FC236}">
                <ns2:creationId id="{66620AC0-B54D-493C-8F12-34AF28FAB1A3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e2c8f0a387d64793"/>
              </a:rPr>
              <a:t>MYA 代码与实测</a:t>
            </a:r>
          </a:p>
        </p:txBody>
      </p:sp>
    </p:spTree>
    <p:extLst>
      <p:ext uri="{BB962C8B-B14F-4D97-AF65-F5344CB8AC3E}">
        <ns4:creationId val="1475633828"/>
      </p:ext>
    </p:extLst>
  </p:cSld>
</p:sld>
</file>

<file path=ppt/slides/slide7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C66837EA-8BEC-4CA2-956A-9483F9E0C5E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 for Any Agent 的含义</a:t>
            </a:r>
          </a:p>
        </p:txBody>
      </p:sp>
      <p:sp>
        <p:nvSpPr>
          <p:cNvPr id="2" name="">
            <a:extLst>
              <a:ext uri="{FF2B5EF4-FFF2-40B4-BE49-F238E27FC236}">
                <ns2:creationId id="{6EDB20AA-EDE9-4DA6-81D4-57E16C075030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建议保留 MYA 品牌，把英文总标题作为产品愿景</a:t>
            </a:r>
          </a:p>
        </p:txBody>
      </p:sp>
      <p:sp>
        <p:nvSpPr>
          <p:cNvPr id="3" name="">
            <a:extLst>
              <a:ext uri="{FF2B5EF4-FFF2-40B4-BE49-F238E27FC236}">
                <ns2:creationId id="{FD4B462D-5A0D-450C-B6BB-3513B933FE09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73</a:t>
            </a:r>
          </a:p>
        </p:txBody>
      </p:sp>
      <p:sp>
        <p:nvSpPr>
          <p:cNvPr id="4" name="">
            <a:extLst>
              <a:ext uri="{FF2B5EF4-FFF2-40B4-BE49-F238E27FC236}">
                <ns2:creationId id="{83303DE1-AF88-4B99-8D10-760C35B15514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Authenticator</a:t>
            </a:r>
          </a:p>
        </p:txBody>
      </p:sp>
      <p:sp>
        <p:nvSpPr>
          <p:cNvPr id="5" name="">
            <a:extLst>
              <a:ext uri="{FF2B5EF4-FFF2-40B4-BE49-F238E27FC236}">
                <ns2:creationId id="{817171C7-C224-4691-A151-5C92F4FF59D6}"/>
              </a:ext>
            </a:extLst>
          </p:cNvPr>
          <p:cNvSpPr>
            <a:spLocks noGrp="1"/>
          </p:cNvSpPr>
          <p:nvPr/>
        </p:nvSpPr>
        <p:spPr>
          <a:xfrm>
            <a:off x="2705100" y="185737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强调持钥验证与用户确认，同时用中文说明具体行动授权。</a:t>
            </a:r>
          </a:p>
        </p:txBody>
      </p:sp>
      <p:sp>
        <p:nvSpPr>
          <p:cNvPr id="6" name="">
            <a:extLst>
              <a:ext uri="{FF2B5EF4-FFF2-40B4-BE49-F238E27FC236}">
                <ns2:creationId id="{87D3E506-C01A-49FD-8349-803525D60235}"/>
              </a:ext>
            </a:extLst>
          </p:cNvPr>
          <p:cNvSpPr>
            <a:spLocks noGrp="1"/>
          </p:cNvSpPr>
          <p:nvPr/>
        </p:nvSpPr>
        <p:spPr>
          <a:xfrm>
            <a:off x="628650" y="281940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AI</a:t>
            </a:r>
          </a:p>
        </p:txBody>
      </p:sp>
      <p:sp>
        <p:nvSpPr>
          <p:cNvPr id="7" name="">
            <a:extLst>
              <a:ext uri="{FF2B5EF4-FFF2-40B4-BE49-F238E27FC236}">
                <ns2:creationId id="{32B5432A-E5C8-42FA-AAEB-F30C607FC9CE}"/>
              </a:ext>
            </a:extLst>
          </p:cNvPr>
          <p:cNvSpPr>
            <a:spLocks noGrp="1"/>
          </p:cNvSpPr>
          <p:nvPr/>
        </p:nvSpPr>
        <p:spPr>
          <a:xfrm>
            <a:off x="2705100" y="281940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面向 AI Agent，也规划用户侧智能辅助。当前调查建议仍为模拟。</a:t>
            </a:r>
          </a:p>
        </p:txBody>
      </p:sp>
      <p:sp>
        <p:nvSpPr>
          <p:cNvPr id="8" name="">
            <a:extLst>
              <a:ext uri="{FF2B5EF4-FFF2-40B4-BE49-F238E27FC236}">
                <ns2:creationId id="{00595359-6AE3-41EF-8E34-56F33302A773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Any Agent</a:t>
            </a:r>
          </a:p>
        </p:txBody>
      </p:sp>
      <p:sp>
        <p:nvSpPr>
          <p:cNvPr id="9" name="">
            <a:extLst>
              <a:ext uri="{FF2B5EF4-FFF2-40B4-BE49-F238E27FC236}">
                <ns2:creationId id="{60FCFC42-FDC0-46E2-84F2-3882597A8DAB}"/>
              </a:ext>
            </a:extLst>
          </p:cNvPr>
          <p:cNvSpPr>
            <a:spLocks noGrp="1"/>
          </p:cNvSpPr>
          <p:nvPr/>
        </p:nvSpPr>
        <p:spPr>
          <a:xfrm>
            <a:off x="2705100" y="3781425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表达协议和适配器方向。目前完成 Codex 验证，新增 Agent 需要接入。</a:t>
            </a:r>
          </a:p>
        </p:txBody>
      </p:sp>
      <p:sp>
        <p:nvSpPr>
          <p:cNvPr id="10" name="">
            <a:extLst>
              <a:ext uri="{FF2B5EF4-FFF2-40B4-BE49-F238E27FC236}">
                <ns2:creationId id="{D6FC3C50-2FE1-471C-8446-404D92DB6E07}"/>
              </a:ext>
            </a:extLst>
          </p:cNvPr>
          <p:cNvSpPr>
            <a:spLocks noGrp="1"/>
          </p:cNvSpPr>
          <p:nvPr/>
        </p:nvSpPr>
        <p:spPr>
          <a:xfrm>
            <a:off x="628650" y="4743450"/>
            <a:ext cx="1885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中文解释</a:t>
            </a:r>
          </a:p>
        </p:txBody>
      </p:sp>
      <p:sp>
        <p:nvSpPr>
          <p:cNvPr id="11" name="">
            <a:extLst>
              <a:ext uri="{FF2B5EF4-FFF2-40B4-BE49-F238E27FC236}">
                <ns2:creationId id="{7B458E8E-EFEC-4ED0-AF4C-601EE7AFC08B}"/>
              </a:ext>
            </a:extLst>
          </p:cNvPr>
          <p:cNvSpPr>
            <a:spLocks noGrp="1"/>
          </p:cNvSpPr>
          <p:nvPr/>
        </p:nvSpPr>
        <p:spPr>
          <a:xfrm>
            <a:off x="2705100" y="4743450"/>
            <a:ext cx="845820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用户侧的 Agent 认证与授权伙伴，提供远程可信审批和决策辅助。</a:t>
            </a:r>
          </a:p>
        </p:txBody>
      </p:sp>
      <p:sp>
        <p:nvSpPr>
          <p:cNvPr id="12" name="">
            <a:extLst>
              <a:ext uri="{FF2B5EF4-FFF2-40B4-BE49-F238E27FC236}">
                <ns2:creationId id="{08A27957-5E6E-4D89-9226-2ECBEF92F830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推荐对外标题：MYA    AI Authenticator for Any Agent</a:t>
            </a:r>
          </a:p>
        </p:txBody>
      </p:sp>
      <p:sp>
        <p:nvSpPr>
          <p:cNvPr id="13" name="">
            <a:extLst>
              <a:ext uri="{FF2B5EF4-FFF2-40B4-BE49-F238E27FC236}">
                <ns2:creationId id="{70496291-D36F-4AB4-B81A-781767151AC1}"/>
              </a:ext>
            </a:extLst>
          </p:cNvPr>
          <p:cNvSpPr>
            <a:spLocks noGrp="1"/>
          </p:cNvSpPr>
          <p:nvPr/>
        </p:nvSpPr>
        <p:spPr>
          <a:xfrm>
            <a:off x="628650" y="642937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b3036198ef740b5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r:id="Rb23a64b4825c478a"/>
              </a:rPr>
              <a:t>AgentPass 官网</a:t>
            </a:r>
          </a:p>
        </p:txBody>
      </p:sp>
    </p:spTree>
    <p:extLst>
      <p:ext uri="{BB962C8B-B14F-4D97-AF65-F5344CB8AC3E}">
        <ns4:creationId val="328093234"/>
      </p:ext>
    </p:extLst>
  </p:cSld>
</p:sld>
</file>

<file path=ppt/slides/slide7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8D0137A0-ED82-42EC-8588-804E022891F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来源索引</a:t>
            </a:r>
          </a:p>
        </p:txBody>
      </p:sp>
      <p:sp>
        <p:nvSpPr>
          <p:cNvPr id="2" name="">
            <a:extLst>
              <a:ext uri="{FF2B5EF4-FFF2-40B4-BE49-F238E27FC236}">
                <ns2:creationId id="{0C7F499B-1D3E-43A3-9D12-14B4532C3A8F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公开材料与项目证据，可沿备注中的链接追溯</a:t>
            </a:r>
          </a:p>
        </p:txBody>
      </p:sp>
      <p:sp>
        <p:nvSpPr>
          <p:cNvPr id="3" name="">
            <a:extLst>
              <a:ext uri="{FF2B5EF4-FFF2-40B4-BE49-F238E27FC236}">
                <ns2:creationId id="{1DC042CB-9C14-4C95-8E27-DA124A2D6A11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74</a:t>
            </a:r>
          </a:p>
        </p:txBody>
      </p:sp>
      <p:sp>
        <p:nvSpPr>
          <p:cNvPr id="4" name="">
            <a:extLst>
              <a:ext uri="{FF2B5EF4-FFF2-40B4-BE49-F238E27FC236}">
                <ns2:creationId id="{AC8D81B1-B0FD-40D7-8533-17F5A9DDB1C1}"/>
              </a:ext>
            </a:extLst>
          </p:cNvPr>
          <p:cNvSpPr>
            <a:spLocks noGrp="1"/>
          </p:cNvSpPr>
          <p:nvPr/>
        </p:nvSpPr>
        <p:spPr>
          <a:xfrm>
            <a:off x="638175" y="187642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1" action="ppaction://hlinksldjump"/>
              </a:rPr>
              <a:t>75</a:t>
            </a:r>
          </a:p>
        </p:txBody>
      </p:sp>
      <p:sp>
        <p:nvSpPr>
          <p:cNvPr id="5" name="">
            <a:extLst>
              <a:ext uri="{FF2B5EF4-FFF2-40B4-BE49-F238E27FC236}">
                <ns2:creationId id="{697F6436-83BB-4F9D-9EC5-111FC79387D7}"/>
              </a:ext>
            </a:extLst>
          </p:cNvPr>
          <p:cNvSpPr>
            <a:spLocks noGrp="1"/>
          </p:cNvSpPr>
          <p:nvPr/>
        </p:nvSpPr>
        <p:spPr>
          <a:xfrm>
            <a:off x="2400300" y="187642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实现、流程审批与身份标准</a:t>
            </a:r>
          </a:p>
        </p:txBody>
      </p:sp>
      <p:sp>
        <p:nvSpPr>
          <p:cNvPr id="6" name="">
            <a:extLst>
              <a:ext uri="{FF2B5EF4-FFF2-40B4-BE49-F238E27FC236}">
                <ns2:creationId id="{B9FA94E6-3EEF-4DDB-83C2-AE3ADD54B6C9}"/>
              </a:ext>
            </a:extLst>
          </p:cNvPr>
          <p:cNvSpPr>
            <a:spLocks noGrp="1"/>
          </p:cNvSpPr>
          <p:nvPr/>
        </p:nvSpPr>
        <p:spPr>
          <a:xfrm>
            <a:off x="2400300" y="224790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MYA、LangChain、n8n、Auth0、Microsoft、W3C、NIST</a:t>
            </a:r>
          </a:p>
        </p:txBody>
      </p:sp>
      <p:sp>
        <p:nvSpPr>
          <p:cNvPr id="7" name="">
            <a:extLst>
              <a:ext uri="{FF2B5EF4-FFF2-40B4-BE49-F238E27FC236}">
                <ns2:creationId id="{E6E8CD30-4EFD-4390-AD73-5232A0269B84}"/>
              </a:ext>
            </a:extLst>
          </p:cNvPr>
          <p:cNvSpPr>
            <a:spLocks noGrp="1"/>
          </p:cNvSpPr>
          <p:nvPr/>
        </p:nvSpPr>
        <p:spPr>
          <a:xfrm>
            <a:off x="638175" y="2724150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2" action="ppaction://hlinksldjump"/>
              </a:rPr>
              <a:t>76</a:t>
            </a:r>
          </a:p>
        </p:txBody>
      </p:sp>
      <p:sp>
        <p:nvSpPr>
          <p:cNvPr id="8" name="">
            <a:extLst>
              <a:ext uri="{FF2B5EF4-FFF2-40B4-BE49-F238E27FC236}">
                <ns2:creationId id="{B99CFC33-EC4B-41DF-97D8-EDC46FEA7C0A}"/>
              </a:ext>
            </a:extLst>
          </p:cNvPr>
          <p:cNvSpPr>
            <a:spLocks noGrp="1"/>
          </p:cNvSpPr>
          <p:nvPr/>
        </p:nvSpPr>
        <p:spPr>
          <a:xfrm>
            <a:off x="2400300" y="27241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交易授权与远程认证</a:t>
            </a:r>
          </a:p>
        </p:txBody>
      </p:sp>
      <p:sp>
        <p:nvSpPr>
          <p:cNvPr id="9" name="">
            <a:extLst>
              <a:ext uri="{FF2B5EF4-FFF2-40B4-BE49-F238E27FC236}">
                <ns2:creationId id="{EA2BCCFE-F495-4341-BC12-1CB14FBA7402}"/>
              </a:ext>
            </a:extLst>
          </p:cNvPr>
          <p:cNvSpPr>
            <a:spLocks noGrp="1"/>
          </p:cNvSpPr>
          <p:nvPr/>
        </p:nvSpPr>
        <p:spPr>
          <a:xfrm>
            <a:off x="2400300" y="3095625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AP2、CIBA、Guardian 与 OneSpan</a:t>
            </a:r>
          </a:p>
        </p:txBody>
      </p:sp>
      <p:sp>
        <p:nvSpPr>
          <p:cNvPr id="10" name="">
            <a:extLst>
              <a:ext uri="{FF2B5EF4-FFF2-40B4-BE49-F238E27FC236}">
                <ns2:creationId id="{A1255E27-7D05-4612-A4EC-598336C3405B}"/>
              </a:ext>
            </a:extLst>
          </p:cNvPr>
          <p:cNvSpPr>
            <a:spLocks noGrp="1"/>
          </p:cNvSpPr>
          <p:nvPr/>
        </p:nvSpPr>
        <p:spPr>
          <a:xfrm>
            <a:off x="638175" y="3571875"/>
            <a:ext cx="171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  <a:hlinkClick r:id="rIdNav3" action="ppaction://hlinksldjump"/>
              </a:rPr>
              <a:t>77</a:t>
            </a:r>
          </a:p>
        </p:txBody>
      </p:sp>
      <p:sp>
        <p:nvSpPr>
          <p:cNvPr id="11" name="">
            <a:extLst>
              <a:ext uri="{FF2B5EF4-FFF2-40B4-BE49-F238E27FC236}">
                <ns2:creationId id="{2B3C68B7-7DC9-47D6-A807-53C4AB408556}"/>
              </a:ext>
            </a:extLst>
          </p:cNvPr>
          <p:cNvSpPr>
            <a:spLocks noGrp="1"/>
          </p:cNvSpPr>
          <p:nvPr/>
        </p:nvSpPr>
        <p:spPr>
          <a:xfrm>
            <a:off x="2400300" y="3571875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跨设备认证与 Agent 协议</a:t>
            </a:r>
          </a:p>
        </p:txBody>
      </p:sp>
      <p:sp>
        <p:nvSpPr>
          <p:cNvPr id="12" name="">
            <a:extLst>
              <a:ext uri="{FF2B5EF4-FFF2-40B4-BE49-F238E27FC236}">
                <ns2:creationId id="{4273C573-B10D-4438-9580-A2CFCE31FDA2}"/>
              </a:ext>
            </a:extLst>
          </p:cNvPr>
          <p:cNvSpPr>
            <a:spLocks noGrp="1"/>
          </p:cNvSpPr>
          <p:nvPr/>
        </p:nvSpPr>
        <p:spPr>
          <a:xfrm>
            <a:off x="2400300" y="3943350"/>
            <a:ext cx="914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FIDO、SPC、AgentPair 与 AgentPass</a:t>
            </a:r>
          </a:p>
        </p:txBody>
      </p:sp>
      <p:sp>
        <p:nvSpPr>
          <p:cNvPr id="13" name="">
            <a:extLst>
              <a:ext uri="{FF2B5EF4-FFF2-40B4-BE49-F238E27FC236}">
                <ns2:creationId id="{8A7B7312-7713-47B8-B462-9F018BB45028}"/>
              </a:ext>
            </a:extLst>
          </p:cNvPr>
          <p:cNvSpPr>
            <a:spLocks noGrp="1"/>
          </p:cNvSpPr>
          <p:nvPr/>
        </p:nvSpPr>
        <p:spPr>
          <a:xfrm>
            <a:off x="628650" y="5981700"/>
            <a:ext cx="10572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新增公司与产品研究的直接来源见第 34—39 页演讲者备注。</a:t>
            </a:r>
          </a:p>
        </p:txBody>
      </p:sp>
    </p:spTree>
    <p:extLst>
      <p:ext uri="{BB962C8B-B14F-4D97-AF65-F5344CB8AC3E}">
        <ns4:creationId val="292373041"/>
      </p:ext>
    </p:extLst>
  </p:cSld>
</p:sld>
</file>

<file path=ppt/slides/slide7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4A46137A-4033-4CB0-8228-A801E7AC0B75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1</a:t>
            </a:r>
          </a:p>
        </p:txBody>
      </p:sp>
      <p:sp>
        <p:nvSpPr>
          <p:cNvPr id="2" name="">
            <a:extLst>
              <a:ext uri="{FF2B5EF4-FFF2-40B4-BE49-F238E27FC236}">
                <ns2:creationId id="{7DFFCF3E-A5BC-44F7-AEE7-6C86B16CBEA2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>
              <a:ext uri="{FF2B5EF4-FFF2-40B4-BE49-F238E27FC236}">
                <ns2:creationId id="{22FE890D-06E8-439C-9929-DD40D0BE985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75</a:t>
            </a:r>
          </a:p>
        </p:txBody>
      </p:sp>
      <p:sp>
        <p:nvSpPr>
          <p:cNvPr id="4" name="">
            <a:extLst>
              <a:ext uri="{FF2B5EF4-FFF2-40B4-BE49-F238E27FC236}">
                <ns2:creationId id="{A631EC17-1395-4047-9886-0233AF3936BA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42–73 页（实现部分）</a:t>
            </a:r>
          </a:p>
        </p:txBody>
      </p:sp>
      <p:sp>
        <p:nvSpPr>
          <p:cNvPr id="5" name="">
            <a:extLst>
              <a:ext uri="{FF2B5EF4-FFF2-40B4-BE49-F238E27FC236}">
                <ns2:creationId id="{5EC20E96-A039-465F-8E5B-BB5C7127E075}"/>
              </a:ext>
            </a:extLst>
          </p:cNvPr>
          <p:cNvSpPr>
            <a:spLocks noGrp="1"/>
          </p:cNvSpPr>
          <p:nvPr/>
        </p:nvSpPr>
        <p:spPr>
          <a:xfrm>
            <a:off x="2971800" y="17526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27c9892e57594c00"/>
              </a:rPr>
              <a:t>mya_demo，实现与部署验收（提交 9471309）</a:t>
            </a:r>
          </a:p>
        </p:txBody>
      </p:sp>
      <p:sp>
        <p:nvSpPr>
          <p:cNvPr id="6" name="">
            <a:extLst>
              <a:ext uri="{FF2B5EF4-FFF2-40B4-BE49-F238E27FC236}">
                <ns2:creationId id="{79A1A1C6-E114-4464-8BAD-851E3ECEEE16}"/>
              </a:ext>
            </a:extLst>
          </p:cNvPr>
          <p:cNvSpPr>
            <a:spLocks noGrp="1"/>
          </p:cNvSpPr>
          <p:nvPr/>
        </p:nvSpPr>
        <p:spPr>
          <a:xfrm>
            <a:off x="2971800" y="20383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2026-09-15 本次部署与隔离测试</a:t>
            </a:r>
          </a:p>
        </p:txBody>
      </p:sp>
      <p:sp>
        <p:nvSpPr>
          <p:cNvPr id="7" name="">
            <a:extLst>
              <a:ext uri="{FF2B5EF4-FFF2-40B4-BE49-F238E27FC236}">
                <ns2:creationId id="{56F2FCAA-9B9F-41B6-836C-F8D405A7292A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64–65、71 页</a:t>
            </a:r>
          </a:p>
        </p:txBody>
      </p:sp>
      <p:sp>
        <p:nvSpPr>
          <p:cNvPr id="8" name="">
            <a:extLst>
              <a:ext uri="{FF2B5EF4-FFF2-40B4-BE49-F238E27FC236}">
                <ns2:creationId id="{D11BFDDE-889B-4BCE-9A88-A1FEBFF8938E}"/>
              </a:ext>
            </a:extLst>
          </p:cNvPr>
          <p:cNvSpPr>
            <a:spLocks noGrp="1"/>
          </p:cNvSpPr>
          <p:nvPr/>
        </p:nvSpPr>
        <p:spPr>
          <a:xfrm>
            <a:off x="2971800" y="23336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14e3d26afa674a3b"/>
              </a:rPr>
              <a:t>LangChain，Human-in-the-loop</a:t>
            </a:r>
          </a:p>
        </p:txBody>
      </p:sp>
      <p:sp>
        <p:nvSpPr>
          <p:cNvPr id="9" name="">
            <a:extLst>
              <a:ext uri="{FF2B5EF4-FFF2-40B4-BE49-F238E27FC236}">
                <ns2:creationId id="{BE9E34B7-ECFC-42AE-8E5A-A59C1A2B28B9}"/>
              </a:ext>
            </a:extLst>
          </p:cNvPr>
          <p:cNvSpPr>
            <a:spLocks noGrp="1"/>
          </p:cNvSpPr>
          <p:nvPr/>
        </p:nvSpPr>
        <p:spPr>
          <a:xfrm>
            <a:off x="2971800" y="26193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0" name="">
            <a:extLst>
              <a:ext uri="{FF2B5EF4-FFF2-40B4-BE49-F238E27FC236}">
                <ns2:creationId id="{773D849B-4FAE-4356-BC1C-CE091CDE5EB5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65 页</a:t>
            </a:r>
          </a:p>
        </p:txBody>
      </p:sp>
      <p:sp>
        <p:nvSpPr>
          <p:cNvPr id="11" name="">
            <a:extLst>
              <a:ext uri="{FF2B5EF4-FFF2-40B4-BE49-F238E27FC236}">
                <ns2:creationId id="{69CEA19E-FF13-4DC4-B650-D2A63270BD2C}"/>
              </a:ext>
            </a:extLst>
          </p:cNvPr>
          <p:cNvSpPr>
            <a:spLocks noGrp="1"/>
          </p:cNvSpPr>
          <p:nvPr/>
        </p:nvSpPr>
        <p:spPr>
          <a:xfrm>
            <a:off x="2971800" y="29146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cdf9566b88a04dbc"/>
              </a:rPr>
              <a:t>n8n，Production AI Playbook: Human Oversight</a:t>
            </a:r>
          </a:p>
        </p:txBody>
      </p:sp>
      <p:sp>
        <p:nvSpPr>
          <p:cNvPr id="12" name="">
            <a:extLst>
              <a:ext uri="{FF2B5EF4-FFF2-40B4-BE49-F238E27FC236}">
                <ns2:creationId id="{B2EFAC3E-9C8F-4855-B807-F3DE4C5DE877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动态页面，2026-09-15 查阅</a:t>
            </a:r>
          </a:p>
        </p:txBody>
      </p:sp>
      <p:sp>
        <p:nvSpPr>
          <p:cNvPr id="13" name="">
            <a:extLst>
              <a:ext uri="{FF2B5EF4-FFF2-40B4-BE49-F238E27FC236}">
                <ns2:creationId id="{C7DC167F-0FB3-4B69-886D-391B788A3B7F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66 页</a:t>
            </a:r>
          </a:p>
        </p:txBody>
      </p:sp>
      <p:sp>
        <p:nvSpPr>
          <p:cNvPr id="14" name="">
            <a:extLst>
              <a:ext uri="{FF2B5EF4-FFF2-40B4-BE49-F238E27FC236}">
                <ns2:creationId id="{BCFA2234-F576-4D6B-8CB1-183E2F19D265}"/>
              </a:ext>
            </a:extLst>
          </p:cNvPr>
          <p:cNvSpPr>
            <a:spLocks noGrp="1"/>
          </p:cNvSpPr>
          <p:nvPr/>
        </p:nvSpPr>
        <p:spPr>
          <a:xfrm>
            <a:off x="2971800" y="349567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4b25cc454d564dac"/>
              </a:rPr>
              <a:t>Auth0，Configure Rich Authorization Requests (RAR)</a:t>
            </a:r>
          </a:p>
        </p:txBody>
      </p:sp>
      <p:sp>
        <p:nvSpPr>
          <p:cNvPr id="15" name="">
            <a:extLst>
              <a:ext uri="{FF2B5EF4-FFF2-40B4-BE49-F238E27FC236}">
                <ns2:creationId id="{22004E90-064A-4C77-B50C-A530DE2A763B}"/>
              </a:ext>
            </a:extLst>
          </p:cNvPr>
          <p:cNvSpPr>
            <a:spLocks noGrp="1"/>
          </p:cNvSpPr>
          <p:nvPr/>
        </p:nvSpPr>
        <p:spPr>
          <a:xfrm>
            <a:off x="2971800" y="378142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6" name="">
            <a:extLst>
              <a:ext uri="{FF2B5EF4-FFF2-40B4-BE49-F238E27FC236}">
                <ns2:creationId id="{08DA44B1-0D30-4ACF-A25A-0F35182BD4A0}"/>
              </a:ext>
            </a:extLst>
          </p:cNvPr>
          <p:cNvSpPr>
            <a:spLocks noGrp="1"/>
          </p:cNvSpPr>
          <p:nvPr/>
        </p:nvSpPr>
        <p:spPr>
          <a:xfrm>
            <a:off x="628650" y="40767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57、65 页</a:t>
            </a:r>
          </a:p>
        </p:txBody>
      </p:sp>
      <p:sp>
        <p:nvSpPr>
          <p:cNvPr id="17" name="">
            <a:extLst>
              <a:ext uri="{FF2B5EF4-FFF2-40B4-BE49-F238E27FC236}">
                <ns2:creationId id="{6044C4FF-0DBF-4153-AD63-781CBBC73666}"/>
              </a:ext>
            </a:extLst>
          </p:cNvPr>
          <p:cNvSpPr>
            <a:spLocks noGrp="1"/>
          </p:cNvSpPr>
          <p:nvPr/>
        </p:nvSpPr>
        <p:spPr>
          <a:xfrm>
            <a:off x="2971800" y="40767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fbf41c792974402b"/>
              </a:rPr>
              <a:t>Microsoft，Set up sequential approvals</a:t>
            </a:r>
          </a:p>
        </p:txBody>
      </p:sp>
      <p:sp>
        <p:nvSpPr>
          <p:cNvPr id="18" name="">
            <a:extLst>
              <a:ext uri="{FF2B5EF4-FFF2-40B4-BE49-F238E27FC236}">
                <ns2:creationId id="{5ECEEB7F-5B38-4DED-ACC8-7F71A7CE790A}"/>
              </a:ext>
            </a:extLst>
          </p:cNvPr>
          <p:cNvSpPr>
            <a:spLocks noGrp="1"/>
          </p:cNvSpPr>
          <p:nvPr/>
        </p:nvSpPr>
        <p:spPr>
          <a:xfrm>
            <a:off x="2971800" y="43624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9" name="">
            <a:extLst>
              <a:ext uri="{FF2B5EF4-FFF2-40B4-BE49-F238E27FC236}">
                <ns2:creationId id="{A57E6C5D-8A4E-4ED1-8BDD-FF3EAC894844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56 页</a:t>
            </a:r>
          </a:p>
        </p:txBody>
      </p:sp>
      <p:sp>
        <p:nvSpPr>
          <p:cNvPr id="20" name="">
            <a:extLst>
              <a:ext uri="{FF2B5EF4-FFF2-40B4-BE49-F238E27FC236}">
                <ns2:creationId id="{3C8CC8C0-AD70-4499-AAF4-2EAC2B8E7C61}"/>
              </a:ext>
            </a:extLst>
          </p:cNvPr>
          <p:cNvSpPr>
            <a:spLocks noGrp="1"/>
          </p:cNvSpPr>
          <p:nvPr/>
        </p:nvSpPr>
        <p:spPr>
          <a:xfrm>
            <a:off x="2971800" y="46577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224b4c75d16146bc"/>
              </a:rPr>
              <a:t>W3C，Verifiable Credentials Data Model v2.0</a:t>
            </a:r>
          </a:p>
        </p:txBody>
      </p:sp>
      <p:sp>
        <p:nvSpPr>
          <p:cNvPr id="21" name="">
            <a:extLst>
              <a:ext uri="{FF2B5EF4-FFF2-40B4-BE49-F238E27FC236}">
                <ns2:creationId id="{F9FBDCBE-83AB-441E-8D47-501634A87839}"/>
              </a:ext>
            </a:extLst>
          </p:cNvPr>
          <p:cNvSpPr>
            <a:spLocks noGrp="1"/>
          </p:cNvSpPr>
          <p:nvPr/>
        </p:nvSpPr>
        <p:spPr>
          <a:xfrm>
            <a:off x="2971800" y="49434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Recommendation，2025-05-15</a:t>
            </a:r>
          </a:p>
        </p:txBody>
      </p:sp>
      <p:sp>
        <p:nvSpPr>
          <p:cNvPr id="22" name="">
            <a:extLst>
              <a:ext uri="{FF2B5EF4-FFF2-40B4-BE49-F238E27FC236}">
                <ns2:creationId id="{C4E77D39-B183-4DE7-BB98-6BECC99A1B3E}"/>
              </a:ext>
            </a:extLst>
          </p:cNvPr>
          <p:cNvSpPr>
            <a:spLocks noGrp="1"/>
          </p:cNvSpPr>
          <p:nvPr/>
        </p:nvSpPr>
        <p:spPr>
          <a:xfrm>
            <a:off x="628650" y="52387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52、63 页</a:t>
            </a:r>
          </a:p>
        </p:txBody>
      </p:sp>
      <p:sp>
        <p:nvSpPr>
          <p:cNvPr id="23" name="">
            <a:extLst>
              <a:ext uri="{FF2B5EF4-FFF2-40B4-BE49-F238E27FC236}">
                <ns2:creationId id="{965B9CE0-CA26-4447-B4C7-FF739795ABC7}"/>
              </a:ext>
            </a:extLst>
          </p:cNvPr>
          <p:cNvSpPr>
            <a:spLocks noGrp="1"/>
          </p:cNvSpPr>
          <p:nvPr/>
        </p:nvSpPr>
        <p:spPr>
          <a:xfrm>
            <a:off x="2971800" y="52387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01eaba032cff420a"/>
              </a:rPr>
              <a:t>NIST，SP 800-63B-4: Authentication and Authenticator Management</a:t>
            </a:r>
          </a:p>
        </p:txBody>
      </p:sp>
      <p:sp>
        <p:nvSpPr>
          <p:cNvPr id="24" name="">
            <a:extLst>
              <a:ext uri="{FF2B5EF4-FFF2-40B4-BE49-F238E27FC236}">
                <ns2:creationId id="{19FF424F-F5CD-48EC-8990-2303CEE7EB25}"/>
              </a:ext>
            </a:extLst>
          </p:cNvPr>
          <p:cNvSpPr>
            <a:spLocks noGrp="1"/>
          </p:cNvSpPr>
          <p:nvPr/>
        </p:nvSpPr>
        <p:spPr>
          <a:xfrm>
            <a:off x="2971800" y="55245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2025 年版，2026-09-15 查阅</a:t>
            </a:r>
          </a:p>
        </p:txBody>
      </p:sp>
    </p:spTree>
    <p:extLst>
      <p:ext uri="{BB962C8B-B14F-4D97-AF65-F5344CB8AC3E}">
        <ns4:creationId val="1797313885"/>
      </p:ext>
    </p:extLst>
  </p:cSld>
</p:sld>
</file>

<file path=ppt/slides/slide7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5" name="">
            <a:extLst>
              <a:ext uri="{FF2B5EF4-FFF2-40B4-BE49-F238E27FC236}">
                <ns2:creationId id="{D68A18F5-0236-436E-A3CF-F1FFDB3ED4A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2</a:t>
            </a:r>
          </a:p>
        </p:txBody>
      </p:sp>
      <p:sp>
        <p:nvSpPr>
          <p:cNvPr id="2" name="">
            <a:extLst>
              <a:ext uri="{FF2B5EF4-FFF2-40B4-BE49-F238E27FC236}">
                <ns2:creationId id="{AF3DB85C-B16A-482F-9552-EC56BAEFD933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>
              <a:ext uri="{FF2B5EF4-FFF2-40B4-BE49-F238E27FC236}">
                <ns2:creationId id="{953710F9-6469-48B6-8212-30F23DC50F12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76</a:t>
            </a:r>
          </a:p>
        </p:txBody>
      </p:sp>
      <p:sp>
        <p:nvSpPr>
          <p:cNvPr id="4" name="">
            <a:extLst>
              <a:ext uri="{FF2B5EF4-FFF2-40B4-BE49-F238E27FC236}">
                <ns2:creationId id="{04045B6A-2D0F-4582-BFB2-219FA8023B79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67 页</a:t>
            </a:r>
          </a:p>
        </p:txBody>
      </p:sp>
      <p:sp>
        <p:nvSpPr>
          <p:cNvPr id="5" name="">
            <a:extLst>
              <a:ext uri="{FF2B5EF4-FFF2-40B4-BE49-F238E27FC236}">
                <ns2:creationId id="{BF84F160-D69A-4793-A57D-0F9458D7C820}"/>
              </a:ext>
            </a:extLst>
          </p:cNvPr>
          <p:cNvSpPr>
            <a:spLocks noGrp="1"/>
          </p:cNvSpPr>
          <p:nvPr/>
        </p:nvSpPr>
        <p:spPr>
          <a:xfrm>
            <a:off x="2971800" y="17526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708f9c8a03fe4e64"/>
              </a:rPr>
              <a:t>Google Cloud，Powering AI commerce with the new Agent Payments Protocol (AP2)</a:t>
            </a:r>
          </a:p>
        </p:txBody>
      </p:sp>
      <p:sp>
        <p:nvSpPr>
          <p:cNvPr id="6" name="">
            <a:extLst>
              <a:ext uri="{FF2B5EF4-FFF2-40B4-BE49-F238E27FC236}">
                <ns2:creationId id="{4D97B4EF-7FD1-4AA6-B284-91D77DAB1F14}"/>
              </a:ext>
            </a:extLst>
          </p:cNvPr>
          <p:cNvSpPr>
            <a:spLocks noGrp="1"/>
          </p:cNvSpPr>
          <p:nvPr/>
        </p:nvSpPr>
        <p:spPr>
          <a:xfrm>
            <a:off x="2971800" y="20383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2025-09-16</a:t>
            </a:r>
          </a:p>
        </p:txBody>
      </p:sp>
      <p:sp>
        <p:nvSpPr>
          <p:cNvPr id="7" name="">
            <a:extLst>
              <a:ext uri="{FF2B5EF4-FFF2-40B4-BE49-F238E27FC236}">
                <ns2:creationId id="{2E8FA6ED-4BB8-4EE7-9860-9694B403FA96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54、63 页</a:t>
            </a:r>
          </a:p>
        </p:txBody>
      </p:sp>
      <p:sp>
        <p:nvSpPr>
          <p:cNvPr id="8" name="">
            <a:extLst>
              <a:ext uri="{FF2B5EF4-FFF2-40B4-BE49-F238E27FC236}">
                <ns2:creationId id="{62FBD63D-CE95-4F40-864B-CD09B5A0A751}"/>
              </a:ext>
            </a:extLst>
          </p:cNvPr>
          <p:cNvSpPr>
            <a:spLocks noGrp="1"/>
          </p:cNvSpPr>
          <p:nvPr/>
        </p:nvSpPr>
        <p:spPr>
          <a:xfrm>
            <a:off x="2971800" y="23336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c489c739bebf4b04"/>
              </a:rPr>
              <a:t>NIST，AI Risk Management Framework: Generative AI Profile</a:t>
            </a:r>
          </a:p>
        </p:txBody>
      </p:sp>
      <p:sp>
        <p:nvSpPr>
          <p:cNvPr id="9" name="">
            <a:extLst>
              <a:ext uri="{FF2B5EF4-FFF2-40B4-BE49-F238E27FC236}">
                <ns2:creationId id="{B477517A-5C7A-4110-A60D-D2092715F327}"/>
              </a:ext>
            </a:extLst>
          </p:cNvPr>
          <p:cNvSpPr>
            <a:spLocks noGrp="1"/>
          </p:cNvSpPr>
          <p:nvPr/>
        </p:nvSpPr>
        <p:spPr>
          <a:xfrm>
            <a:off x="2971800" y="26193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2024-07</a:t>
            </a:r>
          </a:p>
        </p:txBody>
      </p:sp>
      <p:sp>
        <p:nvSpPr>
          <p:cNvPr id="10" name="">
            <a:extLst>
              <a:ext uri="{FF2B5EF4-FFF2-40B4-BE49-F238E27FC236}">
                <ns2:creationId id="{1B8CEAA1-F029-4C5E-B2FE-6353559081CF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64、66、69 页</a:t>
            </a:r>
          </a:p>
        </p:txBody>
      </p:sp>
      <p:sp>
        <p:nvSpPr>
          <p:cNvPr id="11" name="">
            <a:extLst>
              <a:ext uri="{FF2B5EF4-FFF2-40B4-BE49-F238E27FC236}">
                <ns2:creationId id="{90DAEE82-0A9A-4790-9BDC-5D1040D9FB4B}"/>
              </a:ext>
            </a:extLst>
          </p:cNvPr>
          <p:cNvSpPr>
            <a:spLocks noGrp="1"/>
          </p:cNvSpPr>
          <p:nvPr/>
        </p:nvSpPr>
        <p:spPr>
          <a:xfrm>
            <a:off x="2971800" y="29146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45fa3c2a70c44da7"/>
              </a:rPr>
              <a:t>Auth0，Client-Initiated Backchannel Authentication Flow</a:t>
            </a:r>
          </a:p>
        </p:txBody>
      </p:sp>
      <p:sp>
        <p:nvSpPr>
          <p:cNvPr id="12" name="">
            <a:extLst>
              <a:ext uri="{FF2B5EF4-FFF2-40B4-BE49-F238E27FC236}">
                <ns2:creationId id="{AE7187BE-1447-4AAF-93B0-CB3D8205540D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3" name="">
            <a:extLst>
              <a:ext uri="{FF2B5EF4-FFF2-40B4-BE49-F238E27FC236}">
                <ns2:creationId id="{1C0B5846-303C-4207-845D-D6E5CCB3BF55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66 页</a:t>
            </a:r>
          </a:p>
        </p:txBody>
      </p:sp>
      <p:sp>
        <p:nvSpPr>
          <p:cNvPr id="14" name="">
            <a:extLst>
              <a:ext uri="{FF2B5EF4-FFF2-40B4-BE49-F238E27FC236}">
                <ns2:creationId id="{0AF7D869-0F49-49B4-BF1E-E76F693DA998}"/>
              </a:ext>
            </a:extLst>
          </p:cNvPr>
          <p:cNvSpPr>
            <a:spLocks noGrp="1"/>
          </p:cNvSpPr>
          <p:nvPr/>
        </p:nvSpPr>
        <p:spPr>
          <a:xfrm>
            <a:off x="2971800" y="349567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b1e74e7201ca4216"/>
              </a:rPr>
              <a:t>OpenID Foundation，CIBA Core 1.0</a:t>
            </a:r>
          </a:p>
        </p:txBody>
      </p:sp>
      <p:sp>
        <p:nvSpPr>
          <p:cNvPr id="15" name="">
            <a:extLst>
              <a:ext uri="{FF2B5EF4-FFF2-40B4-BE49-F238E27FC236}">
                <ns2:creationId id="{73F7C2CE-62AE-49B8-B22D-27C5339C2A42}"/>
              </a:ext>
            </a:extLst>
          </p:cNvPr>
          <p:cNvSpPr>
            <a:spLocks noGrp="1"/>
          </p:cNvSpPr>
          <p:nvPr/>
        </p:nvSpPr>
        <p:spPr>
          <a:xfrm>
            <a:off x="2971800" y="378142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Final，2021-09-01</a:t>
            </a:r>
          </a:p>
        </p:txBody>
      </p:sp>
      <p:sp>
        <p:nvSpPr>
          <p:cNvPr id="16" name="">
            <a:extLst>
              <a:ext uri="{FF2B5EF4-FFF2-40B4-BE49-F238E27FC236}">
                <ns2:creationId id="{B9F764B0-9184-4DB5-BA31-D5272FF6CF5A}"/>
              </a:ext>
            </a:extLst>
          </p:cNvPr>
          <p:cNvSpPr>
            <a:spLocks noGrp="1"/>
          </p:cNvSpPr>
          <p:nvPr/>
        </p:nvSpPr>
        <p:spPr>
          <a:xfrm>
            <a:off x="628650" y="40767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66 页</a:t>
            </a:r>
          </a:p>
        </p:txBody>
      </p:sp>
      <p:sp>
        <p:nvSpPr>
          <p:cNvPr id="17" name="">
            <a:extLst>
              <a:ext uri="{FF2B5EF4-FFF2-40B4-BE49-F238E27FC236}">
                <ns2:creationId id="{021AE3BB-0ADB-4827-94A4-5C7E6EF9C462}"/>
              </a:ext>
            </a:extLst>
          </p:cNvPr>
          <p:cNvSpPr>
            <a:spLocks noGrp="1"/>
          </p:cNvSpPr>
          <p:nvPr/>
        </p:nvSpPr>
        <p:spPr>
          <a:xfrm>
            <a:off x="2971800" y="40767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39351d3f75214ce6"/>
              </a:rPr>
              <a:t>Auth0，Guardian.swift README</a:t>
            </a:r>
          </a:p>
        </p:txBody>
      </p:sp>
      <p:sp>
        <p:nvSpPr>
          <p:cNvPr id="18" name="">
            <a:extLst>
              <a:ext uri="{FF2B5EF4-FFF2-40B4-BE49-F238E27FC236}">
                <ns2:creationId id="{25557BED-4946-408B-8DB6-F5AE8D0772AD}"/>
              </a:ext>
            </a:extLst>
          </p:cNvPr>
          <p:cNvSpPr>
            <a:spLocks noGrp="1"/>
          </p:cNvSpPr>
          <p:nvPr/>
        </p:nvSpPr>
        <p:spPr>
          <a:xfrm>
            <a:off x="2971800" y="43624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SDK 文档，2026-09-15 查阅</a:t>
            </a:r>
          </a:p>
        </p:txBody>
      </p:sp>
      <p:sp>
        <p:nvSpPr>
          <p:cNvPr id="19" name="">
            <a:extLst>
              <a:ext uri="{FF2B5EF4-FFF2-40B4-BE49-F238E27FC236}">
                <ns2:creationId id="{FB9827C2-7734-4B9D-8722-C93F8750DA48}"/>
              </a:ext>
            </a:extLst>
          </p:cNvPr>
          <p:cNvSpPr>
            <a:spLocks noGrp="1"/>
          </p:cNvSpPr>
          <p:nvPr/>
        </p:nvSpPr>
        <p:spPr>
          <a:xfrm>
            <a:off x="628650" y="46577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66 页</a:t>
            </a:r>
          </a:p>
        </p:txBody>
      </p:sp>
      <p:sp>
        <p:nvSpPr>
          <p:cNvPr id="20" name="">
            <a:extLst>
              <a:ext uri="{FF2B5EF4-FFF2-40B4-BE49-F238E27FC236}">
                <ns2:creationId id="{BCB3C9E8-720C-4C16-B4A4-A23303C85A86}"/>
              </a:ext>
            </a:extLst>
          </p:cNvPr>
          <p:cNvSpPr>
            <a:spLocks noGrp="1"/>
          </p:cNvSpPr>
          <p:nvPr/>
        </p:nvSpPr>
        <p:spPr>
          <a:xfrm>
            <a:off x="2971800" y="46577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906d23d9045045cc"/>
              </a:rPr>
              <a:t>Auth0，Guardian/Authentication/Authentication.swift</a:t>
            </a:r>
          </a:p>
        </p:txBody>
      </p:sp>
      <p:sp>
        <p:nvSpPr>
          <p:cNvPr id="21" name="">
            <a:extLst>
              <a:ext uri="{FF2B5EF4-FFF2-40B4-BE49-F238E27FC236}">
                <ns2:creationId id="{03B1D4AA-0B80-4761-A83D-A2ED14E35FE8}"/>
              </a:ext>
            </a:extLst>
          </p:cNvPr>
          <p:cNvSpPr>
            <a:spLocks noGrp="1"/>
          </p:cNvSpPr>
          <p:nvPr/>
        </p:nvSpPr>
        <p:spPr>
          <a:xfrm>
            <a:off x="2971800" y="49434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固定提交 5e073dce，2026-09-15 核验</a:t>
            </a:r>
          </a:p>
        </p:txBody>
      </p:sp>
      <p:sp>
        <p:nvSpPr>
          <p:cNvPr id="22" name="">
            <a:extLst>
              <a:ext uri="{FF2B5EF4-FFF2-40B4-BE49-F238E27FC236}">
                <ns2:creationId id="{E9502670-EF30-407E-A946-9B2FD4DF5CCB}"/>
              </a:ext>
            </a:extLst>
          </p:cNvPr>
          <p:cNvSpPr>
            <a:spLocks noGrp="1"/>
          </p:cNvSpPr>
          <p:nvPr/>
        </p:nvSpPr>
        <p:spPr>
          <a:xfrm>
            <a:off x="628650" y="52387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64、67 页</a:t>
            </a:r>
          </a:p>
        </p:txBody>
      </p:sp>
      <p:sp>
        <p:nvSpPr>
          <p:cNvPr id="23" name="">
            <a:extLst>
              <a:ext uri="{FF2B5EF4-FFF2-40B4-BE49-F238E27FC236}">
                <ns2:creationId id="{CC34CF89-7237-496E-8C3D-89D683D21E25}"/>
              </a:ext>
            </a:extLst>
          </p:cNvPr>
          <p:cNvSpPr>
            <a:spLocks noGrp="1"/>
          </p:cNvSpPr>
          <p:nvPr/>
        </p:nvSpPr>
        <p:spPr>
          <a:xfrm>
            <a:off x="2971800" y="52387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9fc82b27697c4928"/>
              </a:rPr>
              <a:t>OneSpan，Scan and Sign via Secure Channel</a:t>
            </a:r>
          </a:p>
        </p:txBody>
      </p:sp>
      <p:sp>
        <p:nvSpPr>
          <p:cNvPr id="24" name="">
            <a:extLst>
              <a:ext uri="{FF2B5EF4-FFF2-40B4-BE49-F238E27FC236}">
                <ns2:creationId id="{E2008271-90DC-4D3F-8F17-860CAA55FB3E}"/>
              </a:ext>
            </a:extLst>
          </p:cNvPr>
          <p:cNvSpPr>
            <a:spLocks noGrp="1"/>
          </p:cNvSpPr>
          <p:nvPr/>
        </p:nvSpPr>
        <p:spPr>
          <a:xfrm>
            <a:off x="2971800" y="55245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MAS 5.5.0，更新于 2025-11-25</a:t>
            </a:r>
          </a:p>
        </p:txBody>
      </p:sp>
    </p:spTree>
    <p:extLst>
      <p:ext uri="{BB962C8B-B14F-4D97-AF65-F5344CB8AC3E}">
        <ns4:creationId val="158743011"/>
      </p:ext>
    </p:extLst>
  </p:cSld>
</p:sld>
</file>

<file path=ppt/slides/slide7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4F3ED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0A9BEDC8-27AA-4483-AF4F-4853C7990B72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3</a:t>
            </a:r>
          </a:p>
        </p:txBody>
      </p:sp>
      <p:sp>
        <p:nvSpPr>
          <p:cNvPr id="2" name="">
            <a:extLst>
              <a:ext uri="{FF2B5EF4-FFF2-40B4-BE49-F238E27FC236}">
                <ns2:creationId id="{8C59C260-69A4-40DA-BAB8-6D83496B031D}"/>
              </a:ext>
            </a:extLst>
          </p:cNvPr>
          <p:cNvSpPr>
            <a:spLocks noGrp="1"/>
          </p:cNvSpPr>
          <p:nvPr/>
        </p:nvSpPr>
        <p:spPr>
          <a:xfrm>
            <a:off x="628650" y="1133475"/>
            <a:ext cx="10934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>
              <a:ext uri="{FF2B5EF4-FFF2-40B4-BE49-F238E27FC236}">
                <ns2:creationId id="{60FE2315-C5E8-40CD-812F-4853862E62A5}"/>
              </a:ext>
            </a:extLst>
          </p:cNvPr>
          <p:cNvSpPr>
            <a:spLocks noGrp="1"/>
          </p:cNvSpPr>
          <p:nvPr/>
        </p:nvSpPr>
        <p:spPr>
          <a:xfrm>
            <a:off x="11191875" y="635317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77</a:t>
            </a:r>
          </a:p>
        </p:txBody>
      </p:sp>
      <p:sp>
        <p:nvSpPr>
          <p:cNvPr id="4" name="">
            <a:extLst>
              <a:ext uri="{FF2B5EF4-FFF2-40B4-BE49-F238E27FC236}">
                <ns2:creationId id="{96A7EB2A-C3E3-4794-8227-D16621E7F9CE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67 页</a:t>
            </a:r>
          </a:p>
        </p:txBody>
      </p:sp>
      <p:sp>
        <p:nvSpPr>
          <p:cNvPr id="5" name="">
            <a:extLst>
              <a:ext uri="{FF2B5EF4-FFF2-40B4-BE49-F238E27FC236}">
                <ns2:creationId id="{DCEE86B6-E53E-4EF9-8589-455F7BE0156D}"/>
              </a:ext>
            </a:extLst>
          </p:cNvPr>
          <p:cNvSpPr>
            <a:spLocks noGrp="1"/>
          </p:cNvSpPr>
          <p:nvPr/>
        </p:nvSpPr>
        <p:spPr>
          <a:xfrm>
            <a:off x="2971800" y="175260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ed201a0eae784bcd"/>
              </a:rPr>
              <a:t>FIDO Alliance，Passkeys FAQ</a:t>
            </a:r>
          </a:p>
        </p:txBody>
      </p:sp>
      <p:sp>
        <p:nvSpPr>
          <p:cNvPr id="6" name="">
            <a:extLst>
              <a:ext uri="{FF2B5EF4-FFF2-40B4-BE49-F238E27FC236}">
                <ns2:creationId id="{30B44606-40D1-4BF5-A3C6-6E86CD602361}"/>
              </a:ext>
            </a:extLst>
          </p:cNvPr>
          <p:cNvSpPr>
            <a:spLocks noGrp="1"/>
          </p:cNvSpPr>
          <p:nvPr/>
        </p:nvSpPr>
        <p:spPr>
          <a:xfrm>
            <a:off x="2971800" y="203835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CTAP 2.2 跨设备说明，2026-09-15 查阅</a:t>
            </a:r>
          </a:p>
        </p:txBody>
      </p:sp>
      <p:sp>
        <p:nvSpPr>
          <p:cNvPr id="7" name="">
            <a:extLst>
              <a:ext uri="{FF2B5EF4-FFF2-40B4-BE49-F238E27FC236}">
                <ns2:creationId id="{FF86F63F-B82F-441D-89EC-CF07ED5F1138}"/>
              </a:ext>
            </a:extLst>
          </p:cNvPr>
          <p:cNvSpPr>
            <a:spLocks noGrp="1"/>
          </p:cNvSpPr>
          <p:nvPr/>
        </p:nvSpPr>
        <p:spPr>
          <a:xfrm>
            <a:off x="628650" y="233362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67 页</a:t>
            </a:r>
          </a:p>
        </p:txBody>
      </p:sp>
      <p:sp>
        <p:nvSpPr>
          <p:cNvPr id="8" name="">
            <a:extLst>
              <a:ext uri="{FF2B5EF4-FFF2-40B4-BE49-F238E27FC236}">
                <ns2:creationId id="{5AC382E7-B510-4763-8365-B1BBCA36BB61}"/>
              </a:ext>
            </a:extLst>
          </p:cNvPr>
          <p:cNvSpPr>
            <a:spLocks noGrp="1"/>
          </p:cNvSpPr>
          <p:nvPr/>
        </p:nvSpPr>
        <p:spPr>
          <a:xfrm>
            <a:off x="2971800" y="233362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48c7ad25488f43d8"/>
              </a:rPr>
              <a:t>W3C，Secure Payment Confirmation</a:t>
            </a:r>
          </a:p>
        </p:txBody>
      </p:sp>
      <p:sp>
        <p:nvSpPr>
          <p:cNvPr id="9" name="">
            <a:extLst>
              <a:ext uri="{FF2B5EF4-FFF2-40B4-BE49-F238E27FC236}">
                <ns2:creationId id="{9AE7C227-FE6C-480F-8F49-8BF93CD4876E}"/>
              </a:ext>
            </a:extLst>
          </p:cNvPr>
          <p:cNvSpPr>
            <a:spLocks noGrp="1"/>
          </p:cNvSpPr>
          <p:nvPr/>
        </p:nvSpPr>
        <p:spPr>
          <a:xfrm>
            <a:off x="2971800" y="261937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Candidate Recommendation Draft，2026-07-02</a:t>
            </a:r>
          </a:p>
        </p:txBody>
      </p:sp>
      <p:sp>
        <p:nvSpPr>
          <p:cNvPr id="10" name="">
            <a:extLst>
              <a:ext uri="{FF2B5EF4-FFF2-40B4-BE49-F238E27FC236}">
                <ns2:creationId id="{8E8F592F-1AA9-42F5-9D15-D8FAC9CA3AEE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68–69 页</a:t>
            </a:r>
          </a:p>
        </p:txBody>
      </p:sp>
      <p:sp>
        <p:nvSpPr>
          <p:cNvPr id="11" name="">
            <a:extLst>
              <a:ext uri="{FF2B5EF4-FFF2-40B4-BE49-F238E27FC236}">
                <ns2:creationId id="{CCC7904D-1087-456F-9865-7438EEFD0E21}"/>
              </a:ext>
            </a:extLst>
          </p:cNvPr>
          <p:cNvSpPr>
            <a:spLocks noGrp="1"/>
          </p:cNvSpPr>
          <p:nvPr/>
        </p:nvSpPr>
        <p:spPr>
          <a:xfrm>
            <a:off x="2971800" y="2914650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73ca68ca284c4af7"/>
              </a:rPr>
              <a:t>rfxlamia，AgentPair SPEC.md</a:t>
            </a:r>
          </a:p>
        </p:txBody>
      </p:sp>
      <p:sp>
        <p:nvSpPr>
          <p:cNvPr id="12" name="">
            <a:extLst>
              <a:ext uri="{FF2B5EF4-FFF2-40B4-BE49-F238E27FC236}">
                <ns2:creationId id="{BA0BB06D-F828-4352-A827-4B459CAE0D0D}"/>
              </a:ext>
            </a:extLst>
          </p:cNvPr>
          <p:cNvSpPr>
            <a:spLocks noGrp="1"/>
          </p:cNvSpPr>
          <p:nvPr/>
        </p:nvSpPr>
        <p:spPr>
          <a:xfrm>
            <a:off x="2971800" y="3200400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Version 1.0-draft，2026-09-15 查阅</a:t>
            </a:r>
          </a:p>
        </p:txBody>
      </p:sp>
      <p:sp>
        <p:nvSpPr>
          <p:cNvPr id="13" name="">
            <a:extLst>
              <a:ext uri="{FF2B5EF4-FFF2-40B4-BE49-F238E27FC236}">
                <ns2:creationId id="{6441F077-AD30-4245-8147-46FED591F514}"/>
              </a:ext>
            </a:extLst>
          </p:cNvPr>
          <p:cNvSpPr>
            <a:spLocks noGrp="1"/>
          </p:cNvSpPr>
          <p:nvPr/>
        </p:nvSpPr>
        <p:spPr>
          <a:xfrm>
            <a:off x="628650" y="3495675"/>
            <a:ext cx="2247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64、68–69、73 页</a:t>
            </a:r>
          </a:p>
        </p:txBody>
      </p:sp>
      <p:sp>
        <p:nvSpPr>
          <p:cNvPr id="14" name="">
            <a:extLst>
              <a:ext uri="{FF2B5EF4-FFF2-40B4-BE49-F238E27FC236}">
                <ns2:creationId id="{ABC855E0-753A-46EE-80F9-7F9DF06203DA}"/>
              </a:ext>
            </a:extLst>
          </p:cNvPr>
          <p:cNvSpPr>
            <a:spLocks noGrp="1"/>
          </p:cNvSpPr>
          <p:nvPr/>
        </p:nvSpPr>
        <p:spPr>
          <a:xfrm>
            <a:off x="2971800" y="3495675"/>
            <a:ext cx="85915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r:id="Refd2dd6234a3487a"/>
              </a:rPr>
              <a:t>CyberSecAI，AgentPass Authenticator</a:t>
            </a:r>
          </a:p>
        </p:txBody>
      </p:sp>
      <p:sp>
        <p:nvSpPr>
          <p:cNvPr id="15" name="">
            <a:extLst>
              <a:ext uri="{FF2B5EF4-FFF2-40B4-BE49-F238E27FC236}">
                <ns2:creationId id="{373960D8-6C13-4DA3-9085-89376B7C32AB}"/>
              </a:ext>
            </a:extLst>
          </p:cNvPr>
          <p:cNvSpPr>
            <a:spLocks noGrp="1"/>
          </p:cNvSpPr>
          <p:nvPr/>
        </p:nvSpPr>
        <p:spPr>
          <a:xfrm>
            <a:off x="2971800" y="3781425"/>
            <a:ext cx="8591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供应商公开声明，2026-09-15 查阅</a:t>
            </a:r>
          </a:p>
        </p:txBody>
      </p:sp>
    </p:spTree>
    <p:extLst>
      <p:ext uri="{BB962C8B-B14F-4D97-AF65-F5344CB8AC3E}">
        <ns4:creationId val="702216854"/>
      </p:ext>
    </p:extLst>
  </p:cSld>
</p:sld>
</file>

<file path=ppt/theme/d0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d1_d0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d1_d1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d1_d2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d0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0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2026-09-15T14:25:52.4540000Z</dcterms:created>
  <dcterms:modified xsi:type="dcterms:W3CDTF">2026-09-15T14:25:52.4540000Z</dcterms:modified>
</coreProperties>
</file>

<file path=docProps/d1_d0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1_d0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2026-09-15T14:16:13.0830000Z</dcterms:created>
  <dcterms:modified xsi:type="dcterms:W3CDTF">2026-09-15T14:16:13.0830000Z</dcterms:modified>
</coreProperties>
</file>

<file path=docProps/d1_d1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1_d1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2026-09-15T12:59:51.5930000Z</dcterms:created>
  <dcterms:modified xsi:type="dcterms:W3CDTF">2026-09-15T12:59:51.5930000Z</dcterms:modified>
</coreProperties>
</file>

<file path=docProps/d1_d2_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d1_d2_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2026-09-15T08:07:12.5710000Z</dcterms:created>
  <dcterms:modified xsi:type="dcterms:W3CDTF">2026-09-15T08:07:12.5710000Z</dcterms:modified>
</coreProperties>
</file>